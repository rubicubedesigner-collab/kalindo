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A NEW ADDRESS FOR LIFE IN BATAM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KALINDO PROJECT</a:t>
            </a:r>
          </a:p>
          <a:p>
            <a:r>
              <a:t>A NEW ADDRESS FOR LIFE IN BATAM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THE MARKET THROUGH SIX DESTINATIONS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THE MARKET THROUGH SIX DESTINATIONS</a:t>
            </a:r>
          </a:p>
          <a:p/>
          <a:p>
            <a:r>
              <a:t>The review examines how competing destinations attract visitors, support repeat visits and</a:t>
            </a:r>
          </a:p>
          <a:p>
            <a:r>
              <a:t>extend time spent.</a:t>
            </a:r>
          </a:p>
          <a:p/>
          <a:p>
            <a:r>
              <a:t>Common assessment framework</a:t>
            </a:r>
          </a:p>
          <a:p/>
          <a:p>
            <a:r>
              <a:t>   ●   Development maturity and positioning.</a:t>
            </a:r>
          </a:p>
          <a:p>
            <a:r>
              <a:t>   ●   Traffic generators and access.</a:t>
            </a:r>
          </a:p>
          <a:p>
            <a:r>
              <a:t>   ●   Anchor tenants and category mix.</a:t>
            </a:r>
          </a:p>
          <a:p>
            <a:r>
              <a:t>   ●   Everyday utility and leisure experiences.</a:t>
            </a:r>
          </a:p>
          <a:p>
            <a:r>
              <a:t>   ●   Programming and community participation.</a:t>
            </a:r>
          </a:p>
          <a:p>
            <a:r>
              <a:t>   ●   Occupancy evidence and operational continuity.</a:t>
            </a:r>
          </a:p>
          <a:p>
            <a:r>
              <a:t>   ●   Implications for Kalindo.</a:t>
            </a:r>
          </a:p>
          <a:p/>
          <a:p/>
          <a:p/>
          <a:p>
            <a:r>
              <a:t>Evidence labels</a:t>
            </a:r>
          </a:p>
          <a:p/>
          <a:p>
            <a:r>
              <a:t>Verified public information</a:t>
            </a:r>
          </a:p>
          <a:p>
            <a:r>
              <a:t>Official directories, operator publications and documented activities.</a:t>
            </a:r>
          </a:p>
          <a:p/>
          <a:p>
            <a:r>
              <a:t>Strategic interpretation</a:t>
            </a:r>
          </a:p>
          <a:p>
            <a:r>
              <a:t>Our assessment of the commercial mechanism.</a:t>
            </a:r>
          </a:p>
          <a:p/>
          <a:p>
            <a:r>
              <a:t>Validation required</a:t>
            </a:r>
          </a:p>
          <a:p>
            <a:r>
              <a:t>Actual footfall, occupancy, rent, tenant sales and retention.</a:t>
            </a:r>
          </a:p>
          <a:p/>
          <a:p>
            <a:r>
              <a:t>Visual: Enam competitor cards. Footer mencantumkan tanggal riset dan sumber.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FUNCTIONAL VISITS SUPPORT EVERYDAY RELEVANCE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FUNCTIONAL VISITS SUPPORT EVERYDAY RELEVANCE</a:t>
            </a:r>
          </a:p>
          <a:p/>
          <a:p>
            <a:r>
              <a:t>Public evidence</a:t>
            </a:r>
          </a:p>
          <a:p>
            <a:r>
              <a:t>The official store list includes MAKO, J.CO, fashion brands, optical retailers and electronics.</a:t>
            </a:r>
          </a:p>
          <a:p>
            <a:r>
              <a:t>Immigration Batam also confirms passport and stay-permit services at the Pollux</a:t>
            </a:r>
          </a:p>
          <a:p>
            <a:r>
              <a:t>Immigration Lounge.</a:t>
            </a:r>
          </a:p>
          <a:p/>
          <a:p>
            <a:r>
              <a:t>Source : https://polluxmalls.com/polluxhabibiemall-store-list/?utm_source=</a:t>
            </a:r>
          </a:p>
          <a:p/>
          <a:p>
            <a:r>
              <a:t>Commercial interpretation</a:t>
            </a:r>
          </a:p>
          <a:p/>
          <a:p>
            <a:r>
              <a:t>   ● Services create a specific reason to visit.</a:t>
            </a:r>
          </a:p>
          <a:p>
            <a:r>
              <a:t>   ● Everyday F&amp;B and retail can capture spending around that visit.</a:t>
            </a:r>
          </a:p>
          <a:p>
            <a:r>
              <a:t>   ● The mixed-use setting offers a potential local customer base.</a:t>
            </a:r>
          </a:p>
          <a:p/>
          <a:p>
            <a:r>
              <a:t>Implication for Kalindo Project</a:t>
            </a:r>
          </a:p>
          <a:p>
            <a:r>
              <a:t>Useful services should contribute to the district’s weekday relevance.</a:t>
            </a:r>
          </a:p>
          <a:p/>
          <a:p>
            <a:r>
              <a:t>Further validation</a:t>
            </a:r>
          </a:p>
          <a:p>
            <a:r>
              <a:t>Service-user conversion into tenant spending, weekday footfall and current vacancy.</a:t>
            </a:r>
          </a:p>
          <a:p/>
          <a:p>
            <a:r>
              <a:t>Visual: Diagram sederhana hubungan service visit dengan café/retail. Jangan</a:t>
            </a:r>
          </a:p>
          <a:p>
            <a:r>
              <a:t>mengasumsikan captive residents otomatis menjadi pelanggan aktif.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A BROAD MIX SUPPORTS MULTIPLE VISIT MISSIONS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A BROAD MIX SUPPORTS MULTIPLE VISIT MISSIONS</a:t>
            </a:r>
          </a:p>
          <a:p/>
          <a:p>
            <a:r>
              <a:t>Public evidence</a:t>
            </a:r>
          </a:p>
          <a:p>
            <a:r>
              <a:t>Nagoya Hill’s official website displays Hypermart, Matahari, cinema, F&amp;B, electronics, optical</a:t>
            </a:r>
          </a:p>
          <a:p>
            <a:r>
              <a:t>and service brands. Its official description places the superblock within a surrounding</a:t>
            </a:r>
          </a:p>
          <a:p>
            <a:r>
              <a:t>concentration of hotels and commercial uses.</a:t>
            </a:r>
          </a:p>
          <a:p/>
          <a:p>
            <a:r>
              <a:t>Source : https://nagoyahill.co.id/?utm_source=</a:t>
            </a:r>
          </a:p>
          <a:p/>
          <a:p>
            <a:r>
              <a:t>Commercial interpretation</a:t>
            </a:r>
          </a:p>
          <a:p/>
          <a:p>
            <a:r>
              <a:t>   ●   Grocery supports routine visits.</a:t>
            </a:r>
          </a:p>
          <a:p>
            <a:r>
              <a:t>   ●   Shopping and entertainment create additional occasions.</a:t>
            </a:r>
          </a:p>
          <a:p>
            <a:r>
              <a:t>   ●   Dining and services allow several needs within one trip.</a:t>
            </a:r>
          </a:p>
          <a:p>
            <a:r>
              <a:t>   ●   Surrounding hospitality broadens the potential catchment.</a:t>
            </a:r>
          </a:p>
          <a:p/>
          <a:p>
            <a:r>
              <a:t>Implication for Kalindo Project</a:t>
            </a:r>
          </a:p>
          <a:p>
            <a:r>
              <a:t>Build several dependable reasons to return, supported by distinctive experiences.</a:t>
            </a:r>
          </a:p>
          <a:p/>
          <a:p>
            <a:r>
              <a:t>Further validation</a:t>
            </a:r>
          </a:p>
          <a:p>
            <a:r>
              <a:t>Comparable occupancy, tenant turnover, visitor origin and daypart performance.</a:t>
            </a:r>
          </a:p>
          <a:p/>
          <a:p>
            <a:r>
              <a:t>Visual: Visit missions: groceries, dining, services, entertainment.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CATEGORY BREADTH AND BRAND DISCOVERY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CATEGORY BREADTH AND BRAND DISCOVERY</a:t>
            </a:r>
          </a:p>
          <a:p/>
          <a:p>
            <a:r>
              <a:t>Public evidence</a:t>
            </a:r>
          </a:p>
          <a:p>
            <a:r>
              <a:t>Grand Batam’s official directory covers anchors, F&amp;B, fashion, beauty, electronics, home</a:t>
            </a:r>
          </a:p>
          <a:p>
            <a:r>
              <a:t>living, kids and services. The current directory highlights brands including Sociolla, Huawei,</a:t>
            </a:r>
          </a:p>
          <a:p>
            <a:r>
              <a:t>Smiggle, Skechers and Yakiniku Like. Grand Batam Mall</a:t>
            </a:r>
          </a:p>
          <a:p/>
          <a:p>
            <a:r>
              <a:t>Commercial interpretation</a:t>
            </a:r>
          </a:p>
          <a:p/>
          <a:p>
            <a:r>
              <a:t>   ● Recognisable brands support customer consideration.</a:t>
            </a:r>
          </a:p>
          <a:p>
            <a:r>
              <a:t>   ● Multiple categories enable shopping and leisure within one visit.</a:t>
            </a:r>
          </a:p>
          <a:p>
            <a:r>
              <a:t>   ● Promotions and changing tenant content provide additional discovery.</a:t>
            </a:r>
          </a:p>
          <a:p/>
          <a:p>
            <a:r>
              <a:t>Implication for Kalindo Project</a:t>
            </a:r>
          </a:p>
          <a:p>
            <a:r>
              <a:t>Select anchors that fit the intended customer and support neighbouring experiences.</a:t>
            </a:r>
          </a:p>
          <a:p/>
          <a:p>
            <a:r>
              <a:t>Further validation</a:t>
            </a:r>
          </a:p>
          <a:p>
            <a:r>
              <a:t>Current anchor roster, category area shares, repeat visits and tenant performance.</a:t>
            </a:r>
          </a:p>
          <a:p/>
          <a:p>
            <a:r>
              <a:t>Visual: Category ecosystem.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ACCESS CREATES A COMMERCIAL ADVANTAGE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ACCESS CREATES A COMMERCIAL ADVANTAGE</a:t>
            </a:r>
          </a:p>
          <a:p/>
          <a:p>
            <a:r>
              <a:t>Public evidence</a:t>
            </a:r>
          </a:p>
          <a:p>
            <a:r>
              <a:t>Mega Mall confirms a bridge connection to Batam Centre International Ferry Terminal. Its</a:t>
            </a:r>
          </a:p>
          <a:p>
            <a:r>
              <a:t>website also publishes an October 2026 event calendar and culinary/community</a:t>
            </a:r>
          </a:p>
          <a:p>
            <a:r>
              <a:t>programmes.</a:t>
            </a:r>
          </a:p>
          <a:p/>
          <a:p>
            <a:r>
              <a:t>Source : https://www.megamallbatam.com/?utm_source=</a:t>
            </a:r>
          </a:p>
          <a:p/>
          <a:p>
            <a:r>
              <a:t>Commercial interpretation</a:t>
            </a:r>
          </a:p>
          <a:p/>
          <a:p>
            <a:r>
              <a:t>   ● Convenient access can capture visitors already moving through the area.</a:t>
            </a:r>
          </a:p>
          <a:p>
            <a:r>
              <a:t>   ● Retail and dining provide useful activities around travel.</a:t>
            </a:r>
          </a:p>
          <a:p>
            <a:r>
              <a:t>   ● Programming gives visitors additional reasons to spend time.</a:t>
            </a:r>
          </a:p>
          <a:p/>
          <a:p>
            <a:r>
              <a:t>Implication for Kalindo Project</a:t>
            </a:r>
          </a:p>
          <a:p>
            <a:r>
              <a:t>Regional demand requires a practical route to the destination: transport, booking and partner</a:t>
            </a:r>
          </a:p>
          <a:p>
            <a:r>
              <a:t>distribution.</a:t>
            </a:r>
          </a:p>
          <a:p/>
          <a:p>
            <a:r>
              <a:t>Further validation</a:t>
            </a:r>
          </a:p>
          <a:p>
            <a:r>
              <a:t>Ferry-passenger conversion, visitor origin, transfer friction and package demand.</a:t>
            </a:r>
          </a:p>
          <a:p/>
          <a:p>
            <a:r>
              <a:t>Visual: Ferry arrival, transfer, destination visit.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PROGRAMMING ADDS REASONS TO VISIT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PROGRAMMING ADDS REASONS TO VISIT</a:t>
            </a:r>
          </a:p>
          <a:p/>
          <a:p>
            <a:r>
              <a:t>Public evidence</a:t>
            </a:r>
          </a:p>
          <a:p>
            <a:r>
              <a:t>Disbudpar Batam documents the Wonderfood event at K Square on 9–17 April 2026,</a:t>
            </a:r>
          </a:p>
          <a:p>
            <a:r>
              <a:t>involving 40 businesses with culinary and entertainment activities. It also records a February</a:t>
            </a:r>
          </a:p>
          <a:p>
            <a:r>
              <a:t>2026 film premiere at Cinépolis K Square.</a:t>
            </a:r>
          </a:p>
          <a:p/>
          <a:p>
            <a:r>
              <a:t>Source :</a:t>
            </a:r>
          </a:p>
          <a:p>
            <a:r>
              <a:t>https://disbudpar.batam.go.id/2026/04/28/bazar-kuliner-dan-hiburan-wonderfood-ram</a:t>
            </a:r>
          </a:p>
          <a:p>
            <a:r>
              <a:t>aikan-k-square-mall-batam/?utm_source=</a:t>
            </a:r>
          </a:p>
          <a:p/>
          <a:p>
            <a:r>
              <a:t>Commercial interpretation</a:t>
            </a:r>
          </a:p>
          <a:p/>
          <a:p>
            <a:r>
              <a:t>    ● Events introduce changing content.</a:t>
            </a:r>
          </a:p>
          <a:p>
            <a:r>
              <a:t>    ● Culinary and entertainment can attract different audiences.</a:t>
            </a:r>
          </a:p>
          <a:p>
            <a:r>
              <a:t>    ● Successful activation needs conversion into surrounding tenant activity.</a:t>
            </a:r>
          </a:p>
          <a:p/>
          <a:p>
            <a:r>
              <a:t>Implication for Kalindo Project</a:t>
            </a:r>
          </a:p>
          <a:p>
            <a:r>
              <a:t>The Veranda needs a funded programme and operating team from the outset.</a:t>
            </a:r>
          </a:p>
          <a:p/>
          <a:p>
            <a:r>
              <a:t>Further validation</a:t>
            </a:r>
          </a:p>
          <a:p>
            <a:r>
              <a:t>Event-day uplift, ordinary-day traffic, net event contribution and current permanent tenant</a:t>
            </a:r>
          </a:p>
          <a:p>
            <a:r>
              <a:t>mix.</a:t>
            </a:r>
          </a:p>
          <a:p/>
          <a:p>
            <a:r>
              <a:t>Visual: Permanent tenant activity dibandingkan dengan event-day activation.</a:t>
            </a:r>
          </a:p>
          <a:p/>
          <a:p>
            <a:r>
              <a:t>Catatan: Kehadiran event membuktikan kegiatan berlangsung; belum membuktikan uplift</a:t>
            </a:r>
          </a:p>
          <a:p>
            <a:r>
              <a:t>atau profitabilitas.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COMMUNITIES CREATE RECURRING OCCASIONS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COMMUNITIES CREATE RECURRING OCCASIONS</a:t>
            </a:r>
          </a:p>
          <a:p/>
          <a:p>
            <a:r>
              <a:t>Public evidence</a:t>
            </a:r>
          </a:p>
          <a:p>
            <a:r>
              <a:t>Gattchaa’s own channels identify its One Batam Mall location. Official Pokémon event</a:t>
            </a:r>
          </a:p>
          <a:p>
            <a:r>
              <a:t>listings also document activities at that venue.</a:t>
            </a:r>
          </a:p>
          <a:p/>
          <a:p>
            <a:r>
              <a:t>Source : https://linktr.ee/gattchaa?utm_source=</a:t>
            </a:r>
          </a:p>
          <a:p/>
          <a:p>
            <a:r>
              <a:t>Commercial interpretation</a:t>
            </a:r>
          </a:p>
          <a:p/>
          <a:p>
            <a:r>
              <a:t>   ● Specialist tenants can host recurring participation.</a:t>
            </a:r>
          </a:p>
          <a:p>
            <a:r>
              <a:t>   ● A customer may return because an activity or community meets there.</a:t>
            </a:r>
          </a:p>
          <a:p>
            <a:r>
              <a:t>   ● Community activity can support visits beyond product purchases.</a:t>
            </a:r>
          </a:p>
          <a:p/>
          <a:p>
            <a:r>
              <a:t>Implication for Kalindo Project</a:t>
            </a:r>
          </a:p>
          <a:p>
            <a:r>
              <a:t>Seek tenants that bring customers and a repeatable activity calendar.</a:t>
            </a:r>
          </a:p>
          <a:p/>
          <a:p>
            <a:r>
              <a:t>Further validation</a:t>
            </a:r>
          </a:p>
          <a:p>
            <a:r>
              <a:t>Participation frequency, spending conversion, current mall mix and occupancy.</a:t>
            </a:r>
          </a:p>
          <a:p/>
          <a:p>
            <a:r>
              <a:t>Visual: Community participation, café visit, return occasion.</a:t>
            </a:r>
          </a:p>
          <a:p/>
          <a:p>
            <a:r>
              <a:t>Catatan: Konsep awal alfresco/marketplace merupakan historical positioning. Jangan</a:t>
            </a:r>
          </a:p>
          <a:p>
            <a:r>
              <a:t>menganggap semua ambisi awal sudah berjalan penuh.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SIX COMMERCIAL MECHANISMS TO LEARN FROM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SIX COMMERCIAL MECHANISMS TO LEARN FROM</a:t>
            </a:r>
          </a:p>
          <a:p/>
          <a:p>
            <a:r>
              <a:t>Strategic interpretation based on the preceding evidence.</a:t>
            </a:r>
          </a:p>
          <a:p/>
          <a:p>
            <a:r>
              <a:t> Competitor           Mechanism to study                    Application for Kalindo</a:t>
            </a:r>
          </a:p>
          <a:p/>
          <a:p>
            <a:r>
              <a:t> Pollux        Useful services and everyday         Functional tenants that support local</a:t>
            </a:r>
          </a:p>
          <a:p>
            <a:r>
              <a:t>               visits                               routines</a:t>
            </a:r>
          </a:p>
          <a:p/>
          <a:p>
            <a:r>
              <a:t> Nagoya Hill   Several visit missions               A balanced mix of necessity and leisure</a:t>
            </a:r>
          </a:p>
          <a:p/>
          <a:p>
            <a:r>
              <a:t> Grand         Brand discovery and category         Selective anchors with customer</a:t>
            </a:r>
          </a:p>
          <a:p>
            <a:r>
              <a:t> Batam         breadth                              relevance</a:t>
            </a:r>
          </a:p>
          <a:p/>
          <a:p>
            <a:r>
              <a:t> Mega Mall     Convenient tourism access            Transport and distribution partnerships</a:t>
            </a:r>
          </a:p>
          <a:p/>
          <a:p>
            <a:r>
              <a:t> K Square      Changing event content               A managed calendar for The Veranda</a:t>
            </a:r>
          </a:p>
          <a:p/>
          <a:p>
            <a:r>
              <a:t> One Batam      Specialist community                  Tenants with recurring activities</a:t>
            </a:r>
          </a:p>
          <a:p>
            <a:r>
              <a:t>                participation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A CONNECTED DAY IN BATAM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A CONNECTED DAY IN BATAM</a:t>
            </a:r>
          </a:p>
          <a:p/>
          <a:p>
            <a:r>
              <a:t>Kalindo can bring everyday utility, culinary discovery, family participation and hospitality</a:t>
            </a:r>
          </a:p>
          <a:p>
            <a:r>
              <a:t>together around a recognisable public heart.</a:t>
            </a:r>
          </a:p>
          <a:p/>
          <a:p>
            <a:r>
              <a:t>The opportunity lies in making movement between these activities comfortable and</a:t>
            </a:r>
          </a:p>
          <a:p>
            <a:r>
              <a:t>worthwhile.</a:t>
            </a:r>
          </a:p>
          <a:p/>
          <a:p>
            <a:r>
              <a:t>The proposed advantage</a:t>
            </a:r>
          </a:p>
          <a:p/>
          <a:p>
            <a:r>
              <a:t>   ●   Useful enough for regular local visits.</a:t>
            </a:r>
          </a:p>
          <a:p>
            <a:r>
              <a:t>   ●   Distinctive enough for culinary and leisure discovery.</a:t>
            </a:r>
          </a:p>
          <a:p>
            <a:r>
              <a:t>   ●   Comfortable enough to extend time spent.</a:t>
            </a:r>
          </a:p>
          <a:p>
            <a:r>
              <a:t>   ●   Organised enough to support events and regional packages.</a:t>
            </a:r>
          </a:p>
          <a:p/>
          <a:p>
            <a:r>
              <a:t>Visual: Visitor journeys yang bertemu di The Veranda.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PUBLIC RESEARCH ESTABLISHES THE DIRECTION. FIELDWORK TESTS THE ECONOMICS.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PUBLIC RESEARCH ESTABLISHES THE DIRECTION.</a:t>
            </a:r>
          </a:p>
          <a:p>
            <a:r>
              <a:t>FIELDWORK TESTS THE ECONOMICS.</a:t>
            </a:r>
          </a:p>
          <a:p/>
          <a:p>
            <a:r>
              <a:t>                Question                                 Required evidence</a:t>
            </a:r>
          </a:p>
          <a:p/>
          <a:p>
            <a:r>
              <a:t> Which periods need stronger                Comparable weekday/weekend observations</a:t>
            </a:r>
          </a:p>
          <a:p>
            <a:r>
              <a:t> demand?</a:t>
            </a:r>
          </a:p>
          <a:p/>
          <a:p>
            <a:r>
              <a:t> Which categories remain                    Customer interviews and operator feedback</a:t>
            </a:r>
          </a:p>
          <a:p>
            <a:r>
              <a:t> underserved?</a:t>
            </a:r>
          </a:p>
          <a:p/>
          <a:p>
            <a:r>
              <a:t> Which tenants can perform here?            Catchment assessment and sounding</a:t>
            </a:r>
          </a:p>
          <a:p/>
          <a:p>
            <a:r>
              <a:t> What rents are achievable?                 Comparable terms and operator responses</a:t>
            </a:r>
          </a:p>
          <a:p/>
          <a:p>
            <a:r>
              <a:t> Which regional offers are bookable?        Travel/hotel partner discussions</a:t>
            </a:r>
          </a:p>
          <a:p/>
          <a:p>
            <a:r>
              <a:t> What sustains occupancy?                  Vacancy, turnover and lease-renewal</a:t>
            </a:r>
          </a:p>
          <a:p>
            <a:r>
              <a:t>                                           evidence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BATAM’S TROPICAL LIFESTYLE DISTRICT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BATAM’S TROPICAL LIFESTYLE DISTRICT</a:t>
            </a:r>
          </a:p>
          <a:p/>
          <a:p>
            <a:r>
              <a:t>For Batam residents and regional leisure visitors, this place brings everyday essentials,</a:t>
            </a:r>
          </a:p>
          <a:p>
            <a:r>
              <a:t>culinary discovery, family experiences and hospitality into a comfortable, walkable setting</a:t>
            </a:r>
          </a:p>
          <a:p>
            <a:r>
              <a:t>centred on The Veranda.</a:t>
            </a:r>
          </a:p>
          <a:p/>
          <a:p>
            <a:r>
              <a:t>Working market position</a:t>
            </a:r>
          </a:p>
          <a:p>
            <a:r>
              <a:t>Middle-to-upper lifestyle with welcoming service and a considered range of prices.</a:t>
            </a:r>
          </a:p>
          <a:p/>
          <a:p>
            <a:r>
              <a:t>Brand promise</a:t>
            </a:r>
          </a:p>
          <a:p>
            <a:r>
              <a:t>More to discover. More reasons to stay.</a:t>
            </a:r>
          </a:p>
          <a:p/>
          <a:p>
            <a:r>
              <a:t>Catatan: Bobot sport, wellness, grocery dan entertainment tetap mengikuti hasil sounding.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EVERYDAY RELEVANCE. SHARED EXPERIENCES.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EVERYDAY RELEVANCE. SHARED EXPERIENCES.</a:t>
            </a:r>
          </a:p>
          <a:p/>
          <a:p>
            <a:r>
              <a:t>Everyday tenants create dependable reasons to visit.</a:t>
            </a:r>
          </a:p>
          <a:p/>
          <a:p>
            <a:r>
              <a:t>Culinary and leisure experiences encourage discovery.</a:t>
            </a:r>
          </a:p>
          <a:p/>
          <a:p>
            <a:r>
              <a:t>The Veranda brings people together through a changing calendar.</a:t>
            </a:r>
          </a:p>
          <a:p/>
          <a:p>
            <a:r>
              <a:t>Hospitality allows the experience to extend into a stay.</a:t>
            </a:r>
          </a:p>
          <a:p/>
          <a:p>
            <a:r>
              <a:t>Visual: Empat commercial roles dengan bukti ruang dan layanan.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EVERY TENANT HAS A ROLE IN THE VISIT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EVERY TENANT HAS A ROLE IN THE VISIT</a:t>
            </a:r>
          </a:p>
          <a:p/>
          <a:p>
            <a:r>
              <a:t>        Role                      Commercial contribution</a:t>
            </a:r>
          </a:p>
          <a:p/>
          <a:p>
            <a:r>
              <a:t> Destination          Gives people a specific reason to choose</a:t>
            </a:r>
          </a:p>
          <a:p>
            <a:r>
              <a:t> anchor               Kalindo</a:t>
            </a:r>
          </a:p>
          <a:p/>
          <a:p>
            <a:r>
              <a:t> Frequency anchor       Supports recurring visits</a:t>
            </a:r>
          </a:p>
          <a:p/>
          <a:p>
            <a:r>
              <a:t> Dwell anchor           Extends time spent</a:t>
            </a:r>
          </a:p>
          <a:p/>
          <a:p>
            <a:r>
              <a:t> Spend extender         Encourages an additional purchase</a:t>
            </a:r>
          </a:p>
          <a:p/>
          <a:p>
            <a:r>
              <a:t> Community tenant       Hosts repeat participation</a:t>
            </a:r>
          </a:p>
          <a:p/>
          <a:p>
            <a:r>
              <a:t> Supporting tenant      Serves needs around the main activities</a:t>
            </a:r>
          </a:p>
          <a:p/>
          <a:p>
            <a:r>
              <a:t>A tenant may serve several roles.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A BALANCED MIX FOR LIFE THROUGHOUT THE DAY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A BALANCED MIX FOR LIFE THROUGHOUT THE DAY</a:t>
            </a:r>
          </a:p>
          <a:p/>
          <a:p>
            <a:r>
              <a:t>            Category                         Primary role               Planning priority</a:t>
            </a:r>
          </a:p>
          <a:p/>
          <a:p>
            <a:r>
              <a:t> Destination dining and            Attraction, dwell and spending     Very high</a:t>
            </a:r>
          </a:p>
          <a:p>
            <a:r>
              <a:t> everyday F&amp;B</a:t>
            </a:r>
          </a:p>
          <a:p/>
          <a:p>
            <a:r>
              <a:t> Family activities and learning    Frequency and shared visits        Very high</a:t>
            </a:r>
          </a:p>
          <a:p/>
          <a:p>
            <a:r>
              <a:t> Grocery and everyday              Routine local visits               High</a:t>
            </a:r>
          </a:p>
          <a:p>
            <a:r>
              <a:t> services</a:t>
            </a:r>
          </a:p>
          <a:p/>
          <a:p>
            <a:r>
              <a:t> Sport and active lifestyle        Membership and scheduled           High, subject to</a:t>
            </a:r>
          </a:p>
          <a:p>
            <a:r>
              <a:t>                                   participation                      operator fit</a:t>
            </a:r>
          </a:p>
          <a:p/>
          <a:p>
            <a:r>
              <a:t> Social entertainment              Evening and group visits           High</a:t>
            </a:r>
          </a:p>
          <a:p/>
          <a:p>
            <a:r>
              <a:t> Wellness and recovery             Service visits and complementary   Test demand and</a:t>
            </a:r>
          </a:p>
          <a:p>
            <a:r>
              <a:t>                                   spending                           space needs</a:t>
            </a:r>
          </a:p>
          <a:p/>
          <a:p>
            <a:r>
              <a:t> Curated lifestyle retail          Discovery and supporting           Selective</a:t>
            </a:r>
          </a:p>
          <a:p>
            <a:r>
              <a:t>                                   purchases</a:t>
            </a:r>
          </a:p>
          <a:p/>
          <a:p>
            <a:r>
              <a:t>Visual: Category cards.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A FEW STRONG REASONS TO COME FOR FOOD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A FEW STRONG REASONS TO COME FOR FOOD</a:t>
            </a:r>
          </a:p>
          <a:p/>
          <a:p>
            <a:r>
              <a:t>Initial sounding should test a small group of complementary concepts:</a:t>
            </a:r>
          </a:p>
          <a:p/>
          <a:p>
            <a:r>
              <a:t>   ●   Indonesian destination restaurant.</a:t>
            </a:r>
          </a:p>
          <a:p>
            <a:r>
              <a:t>   ●   Seafood dining experience.</a:t>
            </a:r>
          </a:p>
          <a:p>
            <a:r>
              <a:t>   ●   All-day social dining.</a:t>
            </a:r>
          </a:p>
          <a:p>
            <a:r>
              <a:t>   ●   Café and bakery.</a:t>
            </a:r>
          </a:p>
          <a:p>
            <a:r>
              <a:t>   ●   A rotating chef or culinary collaboration format.</a:t>
            </a:r>
          </a:p>
          <a:p/>
          <a:p>
            <a:r>
              <a:t>Space considerations</a:t>
            </a:r>
          </a:p>
          <a:p>
            <a:r>
              <a:t>Garden frontage, kitchen and exhaust, loading, waste handling, acoustic impact and</a:t>
            </a:r>
          </a:p>
          <a:p>
            <a:r>
              <a:t>practical terrace operation.</a:t>
            </a:r>
          </a:p>
          <a:p/>
          <a:p>
            <a:r>
              <a:t>Commercial test</a:t>
            </a:r>
          </a:p>
          <a:p>
            <a:r>
              <a:t>Can the concept attract its own customers and support neighbouring activity?</a:t>
            </a:r>
          </a:p>
          <a:p/>
          <a:p>
            <a:r>
              <a:t>Visual: Culinary frontage di sekitar The Veranda.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ACTIVITIES THAT FAMILIES CAN BUILD INTO THEIR ROUTINE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ACTIVITIES THAT FAMILIES CAN BUILD INTO THEIR ROUTINE</a:t>
            </a:r>
          </a:p>
          <a:p/>
          <a:p>
            <a:r>
              <a:t>Potential operator profiles:</a:t>
            </a:r>
          </a:p>
          <a:p/>
          <a:p>
            <a:r>
              <a:t>   ●   Indoor discovery/play.</a:t>
            </a:r>
          </a:p>
          <a:p>
            <a:r>
              <a:t>   ●   Creative learning studio.</a:t>
            </a:r>
          </a:p>
          <a:p>
            <a:r>
              <a:t>   ●   Scheduled academy or classes.</a:t>
            </a:r>
          </a:p>
          <a:p>
            <a:r>
              <a:t>   ●   Family activity operator.</a:t>
            </a:r>
          </a:p>
          <a:p/>
          <a:p>
            <a:r>
              <a:t>Experience relationship</a:t>
            </a:r>
          </a:p>
          <a:p>
            <a:r>
              <a:t>Child activity connects with nearby cafés, retail and family dining.</a:t>
            </a:r>
          </a:p>
          <a:p/>
          <a:p>
            <a:r>
              <a:t>Operating requirements</a:t>
            </a:r>
          </a:p>
          <a:p>
            <a:r>
              <a:t>Supervision, age groups, drop-off rules, toilets, stroller access and safe circulation.</a:t>
            </a:r>
          </a:p>
          <a:p/>
          <a:p>
            <a:r>
              <a:t>Visual: Family cluster adjacency. Frekuensi kunjungan berasal dari jadwal operator, bukan</a:t>
            </a:r>
          </a:p>
          <a:p>
            <a:r>
              <a:t>angka asumsi umum.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RECURRING PARTICIPATION WITH COMPLEMENTARY SERVICES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RECURRING PARTICIPATION WITH COMPLEMENTARY SERVICES</a:t>
            </a:r>
          </a:p>
          <a:p/>
          <a:p>
            <a:r>
              <a:t>       Category                 Role to test                       Key requirement</a:t>
            </a:r>
          </a:p>
          <a:p/>
          <a:p>
            <a:r>
              <a:t> Fitness club             Membership                Catchment, equipment and operating</a:t>
            </a:r>
          </a:p>
          <a:p>
            <a:r>
              <a:t>                          frequency                 hours</a:t>
            </a:r>
          </a:p>
          <a:p/>
          <a:p>
            <a:r>
              <a:t> Boutique studio          Scheduled classes         Appropriate room sizes and customer</a:t>
            </a:r>
          </a:p>
          <a:p>
            <a:r>
              <a:t>                                                    pricing</a:t>
            </a:r>
          </a:p>
          <a:p/>
          <a:p>
            <a:r>
              <a:t> Racket/activity          Group participation       Clear height, structure, noise and</a:t>
            </a:r>
          </a:p>
          <a:p>
            <a:r>
              <a:t> operator                                           access</a:t>
            </a:r>
          </a:p>
          <a:p/>
          <a:p>
            <a:r>
              <a:t> Recovery/physiothera     Repeat service visits     Operator capability and customer</a:t>
            </a:r>
          </a:p>
          <a:p>
            <a:r>
              <a:t> py                                                 demand</a:t>
            </a:r>
          </a:p>
          <a:p/>
          <a:p>
            <a:r>
              <a:t> Spa/wellness             Local and hotel           Privacy, acoustics and service</a:t>
            </a:r>
          </a:p>
          <a:p>
            <a:r>
              <a:t>                          spending                  economics</a:t>
            </a:r>
          </a:p>
          <a:p/>
          <a:p>
            <a:r>
              <a:t>Visual: Activity-to-café relationship, dengan quiet buffer menuju hotel/wellness.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REASONS TO RETURN, AND REASONS TO CONTINUE THE EVENING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REASONS TO RETURN, AND REASONS TO CONTINUE THE EVENING</a:t>
            </a:r>
          </a:p>
          <a:p/>
          <a:p>
            <a:r>
              <a:t>Everyday candidates</a:t>
            </a:r>
          </a:p>
          <a:p>
            <a:r>
              <a:t>Specialty grocery, personal services and selected useful retail.</a:t>
            </a:r>
          </a:p>
          <a:p/>
          <a:p>
            <a:r>
              <a:t>Social candidates</a:t>
            </a:r>
          </a:p>
          <a:p>
            <a:r>
              <a:t>Participatory games, hobby concepts, social dining and managed performance formats.</a:t>
            </a:r>
          </a:p>
          <a:p/>
          <a:p>
            <a:r>
              <a:t>Selection principle</a:t>
            </a:r>
          </a:p>
          <a:p>
            <a:r>
              <a:t>Each concept must fit the customer, available space and surrounding uses.</a:t>
            </a:r>
          </a:p>
          <a:p/>
          <a:p>
            <a:r>
              <a:t>Visual: Grocery morning dan social evening.</a:t>
            </a:r>
          </a:p>
          <a:p/>
          <a:p>
            <a:r>
              <a:t>Catatan: Cinema tetap dapat diuji bila ada operator demand. Keberadaan cinema di</a:t>
            </a:r>
          </a:p>
          <a:p>
            <a:r>
              <a:t>kompetitor tidak otomatis membuatnya tidak layak.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THE MIX WORKS THROUGH ITS CONNECTIONS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THE MIX WORKS THROUGH ITS CONNECTIONS</a:t>
            </a:r>
          </a:p>
          <a:p/>
          <a:p>
            <a:r>
              <a:t>       Relationship                Intended outcome                    Design implication</a:t>
            </a:r>
          </a:p>
          <a:p/>
          <a:p>
            <a:r>
              <a:t> Family activity +            Parents spend time nearby          Safe, convenient access</a:t>
            </a:r>
          </a:p>
          <a:p>
            <a:r>
              <a:t> café/dining</a:t>
            </a:r>
          </a:p>
          <a:p/>
          <a:p>
            <a:r>
              <a:t> Sport + café/recovery        Additional visits after activity   Compatible hours and frontage</a:t>
            </a:r>
          </a:p>
          <a:p/>
          <a:p>
            <a:r>
              <a:t> Grocery + useful services Several needs within one trip         Easy access and visible</a:t>
            </a:r>
          </a:p>
          <a:p>
            <a:r>
              <a:t>                                                                 connections</a:t>
            </a:r>
          </a:p>
          <a:p/>
          <a:p>
            <a:r>
              <a:t> Hotel + culinary             Guest spending across the          Clear public/private transition</a:t>
            </a:r>
          </a:p>
          <a:p>
            <a:r>
              <a:t>                              district</a:t>
            </a:r>
          </a:p>
          <a:p/>
          <a:p>
            <a:r>
              <a:t> The Veranda + dining         Event activity supports            Frontage, seating and access</a:t>
            </a:r>
          </a:p>
          <a:p>
            <a:r>
              <a:t>                              tenants</a:t>
            </a:r>
          </a:p>
          <a:p/>
          <a:p>
            <a:r>
              <a:t> Wellness + hotel             Convenient quieter                 Acoustic and privacy buffers</a:t>
            </a:r>
          </a:p>
          <a:p>
            <a:r>
              <a:t>                              experiences</a:t>
            </a:r>
          </a:p>
          <a:p/>
          <a:p>
            <a:r>
              <a:t>Visual: Annotated zoning map.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SPACE ALLOCATION FOLLOWS OPERATOR REQUIREMENTS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SPACE ALLOCATION FOLLOWS OPERATOR REQUIREMENTS</a:t>
            </a:r>
          </a:p>
          <a:p/>
          <a:p>
            <a:r>
              <a:t>Current working figures from the feedback document.</a:t>
            </a:r>
          </a:p>
          <a:p/>
          <a:p>
            <a:r>
              <a:t>             Item                Alternative 1     Alternative 2</a:t>
            </a:r>
          </a:p>
          <a:p/>
          <a:p>
            <a:r>
              <a:t> Anchor area at ground level     1,880 m²         2,185 m²</a:t>
            </a:r>
          </a:p>
          <a:p/>
          <a:p>
            <a:r>
              <a:t> Anchor area at P1               1,880 m²         2,185 m²</a:t>
            </a:r>
          </a:p>
          <a:p/>
          <a:p>
            <a:r>
              <a:t> Combined anchor allocation 3,760 m²              4,370 m²</a:t>
            </a:r>
          </a:p>
          <a:p/>
          <a:p>
            <a:r>
              <a:t>The commercial team must test whether operators require one large unit, several</a:t>
            </a:r>
          </a:p>
          <a:p>
            <a:r>
              <a:t>subdivisions or a connected multi-level format.</a:t>
            </a:r>
          </a:p>
          <a:p/>
          <a:p>
            <a:r>
              <a:t>Validation points</a:t>
            </a:r>
          </a:p>
          <a:p>
            <a:r>
              <a:t>Independent access, loading, visibility, vertical connection and technical fit.</a:t>
            </a:r>
          </a:p>
          <a:p/>
          <a:p>
            <a:r>
              <a:t>Visual: Kedua opsi dengan anchor allocation ditandai. Jangan menganggap dua lantai</a:t>
            </a:r>
          </a:p>
          <a:p>
            <a:r>
              <a:t>otomatis cocok untuk satu operator.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TWENTY FOCUSED OPERATOR CONVERSATIONS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TWENTY FOCUSED OPERATOR CONVERSATIONS</a:t>
            </a:r>
          </a:p>
          <a:p/>
          <a:p>
            <a:r>
              <a:t>Proposed outreach allocation.</a:t>
            </a:r>
          </a:p>
          <a:p/>
          <a:p>
            <a:r>
              <a:t>         Category            Conversation</a:t>
            </a:r>
          </a:p>
          <a:p>
            <a:r>
              <a:t>                                  s</a:t>
            </a:r>
          </a:p>
          <a:p/>
          <a:p>
            <a:r>
              <a:t> Culinary                    5</a:t>
            </a:r>
          </a:p>
          <a:p/>
          <a:p>
            <a:r>
              <a:t> Family and learning         3</a:t>
            </a:r>
          </a:p>
          <a:p/>
          <a:p>
            <a:r>
              <a:t> Sport and fitness           4</a:t>
            </a:r>
          </a:p>
          <a:p/>
          <a:p>
            <a:r>
              <a:t> Wellness and                3</a:t>
            </a:r>
          </a:p>
          <a:p>
            <a:r>
              <a:t> recovery</a:t>
            </a:r>
          </a:p>
          <a:p/>
          <a:p>
            <a:r>
              <a:t> Grocery                     2</a:t>
            </a:r>
          </a:p>
          <a:p/>
          <a:p>
            <a:r>
              <a:t> Social entertainment        3</a:t>
            </a:r>
          </a:p>
          <a:p/>
          <a:p>
            <a:r>
              <a:t> Total                       20</a:t>
            </a:r>
          </a:p>
          <a:p/>
          <a:p>
            <a:r>
              <a:t>The first round tests interest and requirements before formal leasing proposals.</a:t>
            </a:r>
          </a:p>
          <a:p/>
          <a:p>
            <a:r>
              <a:t>Visual: Priority pipeline.</a:t>
            </a:r>
          </a:p>
          <a:p/>
          <a:p>
            <a:r>
              <a:t>Catatan: Ini target conversations, bukan jumlah tenant final atau bukti minat.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INTEREST BECOMES A COMMERCIAL REQUIREMENT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INTEREST BECOMES A COMMERCIAL REQUIREMENT</a:t>
            </a:r>
          </a:p>
          <a:p/>
          <a:p>
            <a:r>
              <a:t>Capture for each operator:</a:t>
            </a:r>
          </a:p>
          <a:p/>
          <a:p>
            <a:r>
              <a:t>   ●    Interest level and target customer.</a:t>
            </a:r>
          </a:p>
          <a:p>
            <a:r>
              <a:t>   ●    Preferred area and location.</a:t>
            </a:r>
          </a:p>
          <a:p>
            <a:r>
              <a:t>   ●    Indicative rent and total occupancy cost.</a:t>
            </a:r>
          </a:p>
          <a:p>
            <a:r>
              <a:t>   ●    Lease structure and duration.</a:t>
            </a:r>
          </a:p>
          <a:p>
            <a:r>
              <a:t>   ●    Technical and opening requirements.</a:t>
            </a:r>
          </a:p>
          <a:p>
            <a:r>
              <a:t>   ●    Fit-out responsibilities.</a:t>
            </a:r>
          </a:p>
          <a:p>
            <a:r>
              <a:t>   ●    Main concerns and decision timeline.</a:t>
            </a:r>
          </a:p>
          <a:p/>
          <a:p>
            <a:r>
              <a:t>Required output</a:t>
            </a:r>
          </a:p>
          <a:p>
            <a:r>
              <a:t>A traceable operator matrix with dates, contact details and supporting records.</a:t>
            </a:r>
          </a:p>
          <a:p/>
          <a:p>
            <a:r>
              <a:t>Visual: Contoh satu baris matrix. Hindari label “Done” tanpa hasil yang dapat ditinjau.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COMMERCIAL TERMS REFLECT THE OPERATOR MODEL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COMMERCIAL TERMS REFLECT THE OPERATOR MODEL</a:t>
            </a:r>
          </a:p>
          <a:p/>
          <a:p>
            <a:r>
              <a:t>           Model                  Potential application                  Validation</a:t>
            </a:r>
          </a:p>
          <a:p/>
          <a:p>
            <a:r>
              <a:t> Fixed rent                   Established retail and          Affordability and comparable</a:t>
            </a:r>
          </a:p>
          <a:p>
            <a:r>
              <a:t>                              service operators               terms</a:t>
            </a:r>
          </a:p>
          <a:p/>
          <a:p>
            <a:r>
              <a:t> Minimum guarantee +          Selected F&amp;B and                Sales reporting and agreed</a:t>
            </a:r>
          </a:p>
          <a:p>
            <a:r>
              <a:t> turnover rent                experience concepts             calculation</a:t>
            </a:r>
          </a:p>
          <a:p/>
          <a:p>
            <a:r>
              <a:t> Revenue share                Selected operating              Risk allocation, costs and audit</a:t>
            </a:r>
          </a:p>
          <a:p>
            <a:r>
              <a:t>                              partnerships                    rights</a:t>
            </a:r>
          </a:p>
          <a:p/>
          <a:p>
            <a:r>
              <a:t> Short-term licence           Pop-ups and activation          Inventory, booked days and</a:t>
            </a:r>
          </a:p>
          <a:p>
            <a:r>
              <a:t>                                                              operating rules</a:t>
            </a:r>
          </a:p>
          <a:p/>
          <a:p>
            <a:r>
              <a:t> Strategic partnership        Tourism and distribution        Acquisition cost and</a:t>
            </a:r>
          </a:p>
          <a:p>
            <a:r>
              <a:t>                                                              contribution</a:t>
            </a:r>
          </a:p>
          <a:p/>
          <a:p>
            <a:r>
              <a:t>Visual: Commercial model table.</a:t>
            </a:r>
          </a:p>
          <a:p/>
          <a:p>
            <a:r>
              <a:t>Catatan: Anchor lease duration harus dibahas bersama investasi fit-out, break clauses,</a:t>
            </a:r>
          </a:p>
          <a:p>
            <a:r>
              <a:t>opening obligations dan operator capability.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25: AN OPENING MIX THAT CAN OPERATE AS A DESTINATION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AN OPENING MIX THAT CAN OPERATE AS A DESTINATION</a:t>
            </a:r>
          </a:p>
          <a:p/>
          <a:p>
            <a:r>
              <a:t>Selection criteria</a:t>
            </a:r>
          </a:p>
          <a:p>
            <a:r>
              <a:t>Customer relevance, operator capability, commercial contribution, technical fit and</a:t>
            </a:r>
          </a:p>
          <a:p>
            <a:r>
              <a:t>willingness to participate.</a:t>
            </a:r>
          </a:p>
          <a:p/>
          <a:p>
            <a:r>
              <a:t>Phase-one priorities</a:t>
            </a:r>
          </a:p>
          <a:p>
            <a:r>
              <a:t>A complete everyday visit, a credible culinary offer, family activity and a functioning The</a:t>
            </a:r>
          </a:p>
          <a:p>
            <a:r>
              <a:t>Veranda.</a:t>
            </a:r>
          </a:p>
          <a:p/>
          <a:p>
            <a:r>
              <a:t>Later additions</a:t>
            </a:r>
          </a:p>
          <a:p>
            <a:r>
              <a:t>Categories that need stronger demand evidence or specialist infrastructure.</a:t>
            </a:r>
          </a:p>
          <a:p/>
          <a:p>
            <a:r>
              <a:t>Visual: Phase-one experience map.</a:t>
            </a:r>
          </a:p>
          <a:p/>
          <a:p>
            <a:r>
              <a:t>Catatan: Jadwal final mengikuti controlled masterplan, QS dan tenant readiness.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26: THREE SCENARIOS, BUILT FROM THE SAME INVENTORY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THREE SCENARIOS, BUILT FROM THE SAME INVENTORY</a:t>
            </a:r>
          </a:p>
          <a:p/>
          <a:p>
            <a:r>
              <a:t>  Scenario                                    Working basis</a:t>
            </a:r>
          </a:p>
          <a:p/>
          <a:p>
            <a:r>
              <a:t> Conservativ     Slower occupancy, lower achieved rents and lower activation utilisation</a:t>
            </a:r>
          </a:p>
          <a:p>
            <a:r>
              <a:t> e</a:t>
            </a:r>
          </a:p>
          <a:p/>
          <a:p>
            <a:r>
              <a:t> Base            Current assumptions, adjusted as evidence becomes available</a:t>
            </a:r>
          </a:p>
          <a:p/>
          <a:p>
            <a:r>
              <a:t> Upside          Supported improvements in occupancy, rent and commercial utilisation</a:t>
            </a:r>
          </a:p>
          <a:p/>
          <a:p>
            <a:r>
              <a:t>Bottom-up additional revenue</a:t>
            </a:r>
          </a:p>
          <a:p/>
          <a:p>
            <a:r>
              <a:t>   ●   Events: available booking slots × booked share × fee.</a:t>
            </a:r>
          </a:p>
          <a:p>
            <a:r>
              <a:t>   ●   Media: assets × rate × sell-through.</a:t>
            </a:r>
          </a:p>
          <a:p>
            <a:r>
              <a:t>   ●   Activations: locations × booked days × rate.</a:t>
            </a:r>
          </a:p>
          <a:p>
            <a:r>
              <a:t>   ●   Sponsorship: contracted packages and recognised period.</a:t>
            </a:r>
          </a:p>
          <a:p>
            <a:r>
              <a:t>   ●   Tourism: fulfilled bookings × net fee or commission.</a:t>
            </a:r>
          </a:p>
          <a:p/>
          <a:p>
            <a:r>
              <a:t>Catatan: Pendapatan event, sponsorship dan activation harus dicek agar tidak menghitung</a:t>
            </a:r>
          </a:p>
          <a:p>
            <a:r>
              <a:t>paket yang sama dua kali. Inventory amphitheatre pada feedback perlu diselaraskan dengan</a:t>
            </a:r>
          </a:p>
          <a:p>
            <a:r>
              <a:t>The Veranda dan layout terbaru.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27: PROGRAMMING NEEDS A NET CONTRIBUTION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PROGRAMMING NEEDS A NET CONTRIBUTION</a:t>
            </a:r>
          </a:p>
          <a:p/>
          <a:p>
            <a:r>
              <a:t>Evaluate each programme through:</a:t>
            </a:r>
          </a:p>
          <a:p/>
          <a:p>
            <a:r>
              <a:t>          Item                               Measure</a:t>
            </a:r>
          </a:p>
          <a:p/>
          <a:p>
            <a:r>
              <a:t> Direct income         Tickets, rental, sponsorship or participation fees</a:t>
            </a:r>
          </a:p>
          <a:p/>
          <a:p>
            <a:r>
              <a:t> Direct cost           Production, staffing, security, cleaning and utilities</a:t>
            </a:r>
          </a:p>
          <a:p/>
          <a:p>
            <a:r>
              <a:t> Tenant contribution   Participation and measurable commercial uplift</a:t>
            </a:r>
          </a:p>
          <a:p/>
          <a:p>
            <a:r>
              <a:t> Destination benefit   Repeat participation and new visitor acquisition</a:t>
            </a:r>
          </a:p>
          <a:p/>
          <a:p>
            <a:r>
              <a:t> Space impact          Access, disruption and displaced activity</a:t>
            </a:r>
          </a:p>
          <a:p/>
          <a:p>
            <a:r>
              <a:t>Free community programmes require a defined budget and purpose.</a:t>
            </a:r>
          </a:p>
          <a:p/>
          <a:p>
            <a:r>
              <a:t>Visual: Event contribution worksheet, tanpa revenue target yang belum tervalidasi.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28: THE INVESTMENT CASE FOLLOWS VERIFIED OPERATING ASSUMPTIONS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THE INVESTMENT CASE FOLLOWS VERIFIED OPERATING ASSUMPTIONS</a:t>
            </a:r>
          </a:p>
          <a:p/>
          <a:p>
            <a:r>
              <a:t>OPEX should reflect manpower, shifts, technical loads, service standards, contracts and the</a:t>
            </a:r>
          </a:p>
          <a:p>
            <a:r>
              <a:t>programming calendar.</a:t>
            </a:r>
          </a:p>
          <a:p/>
          <a:p>
            <a:r>
              <a:t>The feedback’s working NOI and construction investment imply approximately:</a:t>
            </a:r>
          </a:p>
          <a:p/>
          <a:p>
            <a:r>
              <a:t>              Metric             Alternative 1   Alternative 2</a:t>
            </a:r>
          </a:p>
          <a:p/>
          <a:p>
            <a:r>
              <a:t> Annual NOI                      Rp22.835bn      Rp20.929bn</a:t>
            </a:r>
          </a:p>
          <a:p/>
          <a:p>
            <a:r>
              <a:t> Construction investment         Rp278.947bn     Rp259.378bn</a:t>
            </a:r>
          </a:p>
          <a:p/>
          <a:p>
            <a:r>
              <a:t> NOI ÷ construction investment   8.19%           8.07%</a:t>
            </a:r>
          </a:p>
          <a:p/>
          <a:p>
            <a:r>
              <a:t>Catatan: Rasio ini merupakan perhitungan sederhana dari angka feedback, bukan IRR atau</a:t>
            </a:r>
          </a:p>
          <a:p>
            <a:r>
              <a:t>return atas total project cost. Angka “10–11% return” perlu dijelaskan metrik dan basisnya</a:t>
            </a:r>
          </a:p>
          <a:p>
            <a:r>
              <a:t>sebelum dibandingkan.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29: LIFE COMES TOGETHER. THE VERANDA BRINGS IT INTO VIEW.</a:t>
            </a:r>
          </a:p>
          <a:p/>
          <a:p>
            <a:r>
              <a:t>EDITABLE VERSION: all text, photos, tables and backgrounds are native PowerPoint objects. Click to edit, replace or delete them.</a:t>
            </a:r>
          </a:p>
          <a:p/>
          <a:p>
            <a:r>
              <a:t>LIFE COMES TOGETHER.</a:t>
            </a:r>
          </a:p>
          <a:p>
            <a:r>
              <a:t>THE VERANDA BRINGS IT INTO VIEW.</a:t>
            </a:r>
          </a:p>
          <a:p/>
          <a:p>
            <a:r>
              <a:t>The source wording is retained. Only PDF line wraps, zero-width characters and bullet styling are normalised. Supplied concept imagery is not verified as built. Market evidence is reproduced from the supplied brief, not independently re-researched.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eplaceable photo: slide-1-cover-cover.jpg" descr="slide-1-cover-cover.jpg"/>
          <p:cNvPicPr>
            <a:picLocks noChangeAspect="1"/>
          </p:cNvPicPr>
          <p:nvPr/>
        </p:nvPicPr>
        <p:blipFill>
          <a:blip r:embed="rId2"/>
          <a:srcRect l="19359" r="19359"/>
          <a:stretch>
            <a:fillRect/>
          </a:stretch>
        </p:blipFill>
        <p:spPr>
          <a:xfrm>
            <a:off x="5669280" y="0"/>
            <a:ext cx="896112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8229600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text: KALINDO PROJECT"/>
          <p:cNvSpPr txBox="1"/>
          <p:nvPr/>
        </p:nvSpPr>
        <p:spPr>
          <a:xfrm>
            <a:off x="594360" y="1138428"/>
            <a:ext cx="1863375" cy="1988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058" b="0" spc="216">
                <a:solidFill>
                  <a:srgbClr val="DCE4D5"/>
                </a:solidFill>
                <a:latin typeface="Arial"/>
              </a:rPr>
              <a:t>KALINDO PROJECT</a:t>
            </a:r>
          </a:p>
        </p:txBody>
      </p:sp>
      <p:sp>
        <p:nvSpPr>
          <p:cNvPr id="5" name="Editable text: K"/>
          <p:cNvSpPr txBox="1"/>
          <p:nvPr/>
        </p:nvSpPr>
        <p:spPr>
          <a:xfrm>
            <a:off x="594360" y="1549908"/>
            <a:ext cx="4937760" cy="21328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0"/>
              </a:lnSpc>
              <a:spcBef>
                <a:spcPts val="0"/>
              </a:spcBef>
              <a:spcAft>
                <a:spcPts val="0"/>
              </a:spcAft>
            </a:pPr>
            <a:r>
              <a:rPr sz="8460" b="0">
                <a:solidFill>
                  <a:srgbClr val="F4F1E8"/>
                </a:solidFill>
                <a:latin typeface="Georgia"/>
              </a:rPr>
              <a:t>K</a:t>
            </a:r>
          </a:p>
        </p:txBody>
      </p:sp>
      <p:sp>
        <p:nvSpPr>
          <p:cNvPr id="6" name="Editable text: ／"/>
          <p:cNvSpPr txBox="1"/>
          <p:nvPr/>
        </p:nvSpPr>
        <p:spPr>
          <a:xfrm>
            <a:off x="1483614" y="1549908"/>
            <a:ext cx="1325880" cy="21328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0"/>
              </a:lnSpc>
              <a:spcBef>
                <a:spcPts val="0"/>
              </a:spcBef>
              <a:spcAft>
                <a:spcPts val="0"/>
              </a:spcAft>
            </a:pPr>
            <a:r>
              <a:rPr sz="8460" b="0">
                <a:solidFill>
                  <a:srgbClr val="6D8767"/>
                </a:solidFill>
                <a:latin typeface="Georgia"/>
              </a:rPr>
              <a:t>／</a:t>
            </a:r>
          </a:p>
        </p:txBody>
      </p:sp>
      <p:sp>
        <p:nvSpPr>
          <p:cNvPr id="7" name="Editable text: A NEW ADDRESS FOR LIFE IN BATAM"/>
          <p:cNvSpPr txBox="1"/>
          <p:nvPr/>
        </p:nvSpPr>
        <p:spPr>
          <a:xfrm>
            <a:off x="594360" y="3282696"/>
            <a:ext cx="5042630" cy="257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43"/>
              </a:lnSpc>
              <a:spcBef>
                <a:spcPts val="0"/>
              </a:spcBef>
              <a:spcAft>
                <a:spcPts val="0"/>
              </a:spcAft>
            </a:pPr>
            <a:r>
              <a:rPr sz="4737" b="0" spc="-72">
                <a:solidFill>
                  <a:srgbClr val="F4F1E8"/>
                </a:solidFill>
                <a:latin typeface="Georgia"/>
              </a:rPr>
              <a:t>A NEW ADDRESS FOR LIFE IN BATAM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74320"/>
            <a:ext cx="7406640" cy="338328"/>
          </a:xfrm>
          <a:prstGeom prst="rect">
            <a:avLst/>
          </a:prstGeom>
          <a:solidFill>
            <a:srgbClr val="183D32">
              <a:alpha val="867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text: KALINDO / THE COMPLETE BRIEF"/>
          <p:cNvSpPr txBox="1"/>
          <p:nvPr/>
        </p:nvSpPr>
        <p:spPr>
          <a:xfrm>
            <a:off x="6601968" y="383133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F4F1E8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10" name="Editable text: DESTINATION &amp; MARKET"/>
          <p:cNvSpPr txBox="1"/>
          <p:nvPr/>
        </p:nvSpPr>
        <p:spPr>
          <a:xfrm>
            <a:off x="12304395" y="383133"/>
            <a:ext cx="1667637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F4F1E8"/>
                </a:solidFill>
                <a:latin typeface="Arial"/>
              </a:rPr>
              <a:t>DESTINATION &amp; MARKET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7671816"/>
            <a:ext cx="7406640" cy="329184"/>
          </a:xfrm>
          <a:prstGeom prst="rect">
            <a:avLst/>
          </a:prstGeom>
          <a:solidFill>
            <a:srgbClr val="183D32">
              <a:alpha val="867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Editable text: DESTINATION &amp; MARKET"/>
          <p:cNvSpPr txBox="1"/>
          <p:nvPr/>
        </p:nvSpPr>
        <p:spPr>
          <a:xfrm>
            <a:off x="6601968" y="7781544"/>
            <a:ext cx="148618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F4F1E8"/>
                </a:solidFill>
                <a:latin typeface="Arial"/>
              </a:rPr>
              <a:t>DESTINATION &amp; MARKET</a:t>
            </a:r>
          </a:p>
        </p:txBody>
      </p:sp>
      <p:sp>
        <p:nvSpPr>
          <p:cNvPr id="13" name="Editable text: SOURCE: KALINDO PROJECT (1).PDF / 01"/>
          <p:cNvSpPr txBox="1"/>
          <p:nvPr/>
        </p:nvSpPr>
        <p:spPr>
          <a:xfrm>
            <a:off x="11442573" y="7781544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F4F1E8"/>
                </a:solidFill>
                <a:latin typeface="Arial"/>
              </a:rPr>
              <a:t>SOURCE: KALINDO PROJECT (1).PDF /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MARKET RESEARCH BASIS"/>
          <p:cNvSpPr txBox="1"/>
          <p:nvPr/>
        </p:nvSpPr>
        <p:spPr>
          <a:xfrm>
            <a:off x="731520" y="911656"/>
            <a:ext cx="2177843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MARKET RESEARCH BASIS</a:t>
            </a:r>
          </a:p>
        </p:txBody>
      </p:sp>
      <p:sp>
        <p:nvSpPr>
          <p:cNvPr id="3" name="Editable text: THE MARKET THROUGH SIX DESTINATIONS"/>
          <p:cNvSpPr txBox="1"/>
          <p:nvPr/>
        </p:nvSpPr>
        <p:spPr>
          <a:xfrm>
            <a:off x="731520" y="1070762"/>
            <a:ext cx="13167360" cy="1001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THE MARKET THROUGH SIX DESTINATIONS</a:t>
            </a:r>
          </a:p>
        </p:txBody>
      </p:sp>
      <p:sp>
        <p:nvSpPr>
          <p:cNvPr id="4" name="Editable text: The review examines how competing destinations attract visitors, "/>
          <p:cNvSpPr txBox="1"/>
          <p:nvPr/>
        </p:nvSpPr>
        <p:spPr>
          <a:xfrm>
            <a:off x="731520" y="2053742"/>
            <a:ext cx="10515600" cy="625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292D29"/>
                </a:solidFill>
                <a:latin typeface="Arial"/>
              </a:rPr>
              <a:t>The review examines how competing destinations attract visitors, support repeat visits and extend time spent.</a:t>
            </a:r>
          </a:p>
        </p:txBody>
      </p:sp>
      <p:sp>
        <p:nvSpPr>
          <p:cNvPr id="5" name="Editable text: Common assessment framework"/>
          <p:cNvSpPr txBox="1"/>
          <p:nvPr/>
        </p:nvSpPr>
        <p:spPr>
          <a:xfrm>
            <a:off x="731520" y="2876588"/>
            <a:ext cx="2589609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Common assessment framework</a:t>
            </a:r>
          </a:p>
        </p:txBody>
      </p:sp>
      <p:sp>
        <p:nvSpPr>
          <p:cNvPr id="6" name="Editable text: Development maturity and positioning."/>
          <p:cNvSpPr txBox="1"/>
          <p:nvPr/>
        </p:nvSpPr>
        <p:spPr>
          <a:xfrm>
            <a:off x="941832" y="3218573"/>
            <a:ext cx="3591306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Development maturity and positioning.</a:t>
            </a:r>
          </a:p>
        </p:txBody>
      </p:sp>
      <p:sp>
        <p:nvSpPr>
          <p:cNvPr id="7" name="Editable text: Traffic generators and access."/>
          <p:cNvSpPr txBox="1"/>
          <p:nvPr/>
        </p:nvSpPr>
        <p:spPr>
          <a:xfrm>
            <a:off x="941832" y="3600764"/>
            <a:ext cx="2864929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Traffic generators and access.</a:t>
            </a:r>
          </a:p>
        </p:txBody>
      </p:sp>
      <p:sp>
        <p:nvSpPr>
          <p:cNvPr id="8" name="Editable text: Anchor tenants and category mix."/>
          <p:cNvSpPr txBox="1"/>
          <p:nvPr/>
        </p:nvSpPr>
        <p:spPr>
          <a:xfrm>
            <a:off x="941832" y="3982954"/>
            <a:ext cx="3173682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Anchor tenants and category mix.</a:t>
            </a:r>
          </a:p>
        </p:txBody>
      </p:sp>
      <p:sp>
        <p:nvSpPr>
          <p:cNvPr id="9" name="Editable text: Everyday utility and leisure experiences."/>
          <p:cNvSpPr txBox="1"/>
          <p:nvPr/>
        </p:nvSpPr>
        <p:spPr>
          <a:xfrm>
            <a:off x="941832" y="4365145"/>
            <a:ext cx="3753469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Everyday utility and leisure experiences.</a:t>
            </a:r>
          </a:p>
        </p:txBody>
      </p:sp>
      <p:sp>
        <p:nvSpPr>
          <p:cNvPr id="10" name="Editable text: Programming and community participation."/>
          <p:cNvSpPr txBox="1"/>
          <p:nvPr/>
        </p:nvSpPr>
        <p:spPr>
          <a:xfrm>
            <a:off x="941832" y="4747336"/>
            <a:ext cx="4008929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Programming and community participation.</a:t>
            </a:r>
          </a:p>
        </p:txBody>
      </p:sp>
      <p:sp>
        <p:nvSpPr>
          <p:cNvPr id="11" name="Editable text: Occupancy evidence and operational continuity."/>
          <p:cNvSpPr txBox="1"/>
          <p:nvPr/>
        </p:nvSpPr>
        <p:spPr>
          <a:xfrm>
            <a:off x="941832" y="5129526"/>
            <a:ext cx="4439269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Occupancy evidence and operational continuity.</a:t>
            </a:r>
          </a:p>
        </p:txBody>
      </p:sp>
      <p:sp>
        <p:nvSpPr>
          <p:cNvPr id="12" name="Editable text: Implications for Kalindo."/>
          <p:cNvSpPr txBox="1"/>
          <p:nvPr/>
        </p:nvSpPr>
        <p:spPr>
          <a:xfrm>
            <a:off x="941832" y="5511717"/>
            <a:ext cx="2307431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Implications for Kalindo.</a:t>
            </a:r>
          </a:p>
        </p:txBody>
      </p:sp>
      <p:sp>
        <p:nvSpPr>
          <p:cNvPr id="13" name="Editable text: Evidence labels"/>
          <p:cNvSpPr txBox="1"/>
          <p:nvPr/>
        </p:nvSpPr>
        <p:spPr>
          <a:xfrm>
            <a:off x="7658100" y="2876588"/>
            <a:ext cx="135459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Evidence labels</a:t>
            </a:r>
          </a:p>
        </p:txBody>
      </p:sp>
      <p:sp>
        <p:nvSpPr>
          <p:cNvPr id="14" name="Editable text: Verified public information"/>
          <p:cNvSpPr txBox="1"/>
          <p:nvPr/>
        </p:nvSpPr>
        <p:spPr>
          <a:xfrm>
            <a:off x="7658100" y="3196628"/>
            <a:ext cx="2126122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Verified public information</a:t>
            </a:r>
          </a:p>
        </p:txBody>
      </p:sp>
      <p:sp>
        <p:nvSpPr>
          <p:cNvPr id="15" name="Editable text: Official directories, operator publications and documented activi"/>
          <p:cNvSpPr txBox="1"/>
          <p:nvPr/>
        </p:nvSpPr>
        <p:spPr>
          <a:xfrm>
            <a:off x="7658100" y="3457232"/>
            <a:ext cx="5906738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16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Official directories, operator publications and documented activities.</a:t>
            </a:r>
          </a:p>
        </p:txBody>
      </p:sp>
      <p:sp>
        <p:nvSpPr>
          <p:cNvPr id="16" name="Editable text: Strategic interpretation"/>
          <p:cNvSpPr txBox="1"/>
          <p:nvPr/>
        </p:nvSpPr>
        <p:spPr>
          <a:xfrm>
            <a:off x="7658100" y="3849423"/>
            <a:ext cx="1884378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Strategic interpretation</a:t>
            </a:r>
          </a:p>
        </p:txBody>
      </p:sp>
      <p:sp>
        <p:nvSpPr>
          <p:cNvPr id="17" name="Editable text: Our assessment of the commercial mechanism."/>
          <p:cNvSpPr txBox="1"/>
          <p:nvPr/>
        </p:nvSpPr>
        <p:spPr>
          <a:xfrm>
            <a:off x="7658100" y="4110027"/>
            <a:ext cx="4237529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16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Our assessment of the commercial mechanism.</a:t>
            </a:r>
          </a:p>
        </p:txBody>
      </p:sp>
      <p:sp>
        <p:nvSpPr>
          <p:cNvPr id="18" name="Editable text: Validation required"/>
          <p:cNvSpPr txBox="1"/>
          <p:nvPr/>
        </p:nvSpPr>
        <p:spPr>
          <a:xfrm>
            <a:off x="7658100" y="4502219"/>
            <a:ext cx="1579483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Validation required</a:t>
            </a:r>
          </a:p>
        </p:txBody>
      </p:sp>
      <p:sp>
        <p:nvSpPr>
          <p:cNvPr id="19" name="Editable text: Actual footfall, occupancy, rent, tenant sales and retention."/>
          <p:cNvSpPr txBox="1"/>
          <p:nvPr/>
        </p:nvSpPr>
        <p:spPr>
          <a:xfrm>
            <a:off x="7658100" y="4762823"/>
            <a:ext cx="5129641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16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Actual footfall, occupancy, rent, tenant sales and retention.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58100" y="5215366"/>
            <a:ext cx="198882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21" name="Editable text: 01"/>
          <p:cNvSpPr txBox="1"/>
          <p:nvPr/>
        </p:nvSpPr>
        <p:spPr>
          <a:xfrm>
            <a:off x="7658100" y="5343382"/>
            <a:ext cx="28460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22" name="Editable text: Pollux"/>
          <p:cNvSpPr txBox="1"/>
          <p:nvPr/>
        </p:nvSpPr>
        <p:spPr>
          <a:xfrm>
            <a:off x="7658100" y="5487857"/>
            <a:ext cx="744807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292D29"/>
                </a:solidFill>
                <a:latin typeface="Georgia"/>
              </a:rPr>
              <a:t>Pollux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84080" y="5215366"/>
            <a:ext cx="198882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24" name="Editable text: 02"/>
          <p:cNvSpPr txBox="1"/>
          <p:nvPr/>
        </p:nvSpPr>
        <p:spPr>
          <a:xfrm>
            <a:off x="9784080" y="5343382"/>
            <a:ext cx="28460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25" name="Editable text: Nagoya Hill"/>
          <p:cNvSpPr txBox="1"/>
          <p:nvPr/>
        </p:nvSpPr>
        <p:spPr>
          <a:xfrm>
            <a:off x="9784080" y="5487857"/>
            <a:ext cx="1216723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292D29"/>
                </a:solidFill>
                <a:latin typeface="Georgia"/>
              </a:rPr>
              <a:t>Nagoya Hill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910060" y="5215366"/>
            <a:ext cx="198882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27" name="Editable text: 03"/>
          <p:cNvSpPr txBox="1"/>
          <p:nvPr/>
        </p:nvSpPr>
        <p:spPr>
          <a:xfrm>
            <a:off x="11910060" y="5343382"/>
            <a:ext cx="28460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28" name="Editable text: Grand Batam"/>
          <p:cNvSpPr txBox="1"/>
          <p:nvPr/>
        </p:nvSpPr>
        <p:spPr>
          <a:xfrm>
            <a:off x="11910060" y="5487857"/>
            <a:ext cx="1400460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292D29"/>
                </a:solidFill>
                <a:latin typeface="Georgia"/>
              </a:rPr>
              <a:t>Grand Batam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58100" y="6047470"/>
            <a:ext cx="198882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30" name="Editable text: 04"/>
          <p:cNvSpPr txBox="1"/>
          <p:nvPr/>
        </p:nvSpPr>
        <p:spPr>
          <a:xfrm>
            <a:off x="7658100" y="6175486"/>
            <a:ext cx="28460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>
                <a:solidFill>
                  <a:srgbClr val="6D8767"/>
                </a:solidFill>
                <a:latin typeface="Arial"/>
              </a:rPr>
              <a:t>04</a:t>
            </a:r>
          </a:p>
        </p:txBody>
      </p:sp>
      <p:sp>
        <p:nvSpPr>
          <p:cNvPr id="31" name="Editable text: Mega Mall"/>
          <p:cNvSpPr txBox="1"/>
          <p:nvPr/>
        </p:nvSpPr>
        <p:spPr>
          <a:xfrm>
            <a:off x="7658100" y="6319961"/>
            <a:ext cx="1121854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292D29"/>
                </a:solidFill>
                <a:latin typeface="Georgia"/>
              </a:rPr>
              <a:t>Mega Mall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84080" y="6047470"/>
            <a:ext cx="198882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33" name="Editable text: 05"/>
          <p:cNvSpPr txBox="1"/>
          <p:nvPr/>
        </p:nvSpPr>
        <p:spPr>
          <a:xfrm>
            <a:off x="9784080" y="6175486"/>
            <a:ext cx="28460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>
                <a:solidFill>
                  <a:srgbClr val="6D8767"/>
                </a:solidFill>
                <a:latin typeface="Arial"/>
              </a:rPr>
              <a:t>05</a:t>
            </a:r>
          </a:p>
        </p:txBody>
      </p:sp>
      <p:sp>
        <p:nvSpPr>
          <p:cNvPr id="34" name="Editable text: K Square"/>
          <p:cNvSpPr txBox="1"/>
          <p:nvPr/>
        </p:nvSpPr>
        <p:spPr>
          <a:xfrm>
            <a:off x="9784080" y="6319961"/>
            <a:ext cx="1005125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292D29"/>
                </a:solidFill>
                <a:latin typeface="Georgia"/>
              </a:rPr>
              <a:t>K Square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910060" y="6047470"/>
            <a:ext cx="198882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36" name="Editable text: 06"/>
          <p:cNvSpPr txBox="1"/>
          <p:nvPr/>
        </p:nvSpPr>
        <p:spPr>
          <a:xfrm>
            <a:off x="11910060" y="6175486"/>
            <a:ext cx="28460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>
                <a:solidFill>
                  <a:srgbClr val="6D8767"/>
                </a:solidFill>
                <a:latin typeface="Arial"/>
              </a:rPr>
              <a:t>06</a:t>
            </a:r>
          </a:p>
        </p:txBody>
      </p:sp>
      <p:sp>
        <p:nvSpPr>
          <p:cNvPr id="37" name="Editable text: One Batam"/>
          <p:cNvSpPr txBox="1"/>
          <p:nvPr/>
        </p:nvSpPr>
        <p:spPr>
          <a:xfrm>
            <a:off x="11910060" y="6319961"/>
            <a:ext cx="1197006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292D29"/>
                </a:solidFill>
                <a:latin typeface="Georgia"/>
              </a:rPr>
              <a:t>One Batam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9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40" name="Editable text: DESTINATION &amp; MARKET"/>
          <p:cNvSpPr txBox="1"/>
          <p:nvPr/>
        </p:nvSpPr>
        <p:spPr>
          <a:xfrm>
            <a:off x="12414123" y="273405"/>
            <a:ext cx="1667637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43" name="Editable text: Visual: Enam competitor cards. Footer mencantumkan tanggal riset "/>
          <p:cNvSpPr txBox="1"/>
          <p:nvPr/>
        </p:nvSpPr>
        <p:spPr>
          <a:xfrm>
            <a:off x="896112" y="7287853"/>
            <a:ext cx="5378815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Enam competitor cards. Footer mencantumkan tanggal riset dan sumber.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5" name="Editable text: DESTINATION &amp; MARKET"/>
          <p:cNvSpPr txBox="1"/>
          <p:nvPr/>
        </p:nvSpPr>
        <p:spPr>
          <a:xfrm>
            <a:off x="731520" y="7891272"/>
            <a:ext cx="148618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46" name="Editable text: SOURCE: SUPPLIED BRIEF · RESEARCH DATE NOT SPECIFIED / 02"/>
          <p:cNvSpPr txBox="1"/>
          <p:nvPr/>
        </p:nvSpPr>
        <p:spPr>
          <a:xfrm>
            <a:off x="10223563" y="7891272"/>
            <a:ext cx="3858196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SUPPLIED BRIEF · RESEARCH DATE NOT SPECIFIED /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POLLUX MALL BATAM CENTER"/>
          <p:cNvSpPr txBox="1"/>
          <p:nvPr/>
        </p:nvSpPr>
        <p:spPr>
          <a:xfrm>
            <a:off x="731520" y="911656"/>
            <a:ext cx="2426731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POLLUX MALL BATAM CENTER</a:t>
            </a:r>
          </a:p>
        </p:txBody>
      </p:sp>
      <p:sp>
        <p:nvSpPr>
          <p:cNvPr id="3" name="Editable text: FUNCTIONAL VISITS SUPPORT EVERYDAY RELEVANCE"/>
          <p:cNvSpPr txBox="1"/>
          <p:nvPr/>
        </p:nvSpPr>
        <p:spPr>
          <a:xfrm>
            <a:off x="731520" y="1070762"/>
            <a:ext cx="13167360" cy="1562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FUNCTIONAL VISITS SUPPORT EVERYDAY RELEVANCE</a:t>
            </a:r>
          </a:p>
        </p:txBody>
      </p:sp>
      <p:sp>
        <p:nvSpPr>
          <p:cNvPr id="4" name="Editable text: Public evidence"/>
          <p:cNvSpPr txBox="1"/>
          <p:nvPr/>
        </p:nvSpPr>
        <p:spPr>
          <a:xfrm>
            <a:off x="731520" y="2600553"/>
            <a:ext cx="135702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Public evidence</a:t>
            </a:r>
          </a:p>
        </p:txBody>
      </p:sp>
      <p:sp>
        <p:nvSpPr>
          <p:cNvPr id="5" name="Editable text: The official store list includes MAKO, J.CO, fashion brands, opti"/>
          <p:cNvSpPr txBox="1"/>
          <p:nvPr/>
        </p:nvSpPr>
        <p:spPr>
          <a:xfrm>
            <a:off x="731520" y="2905963"/>
            <a:ext cx="6561248" cy="85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The official store list includes MAKO, J.CO, fashion brands, optical retailers and electronics. Immigration Batam also confirms passport and stay-permit services at the Pollux Immigration Lounge.</a:t>
            </a:r>
          </a:p>
        </p:txBody>
      </p:sp>
      <p:sp>
        <p:nvSpPr>
          <p:cNvPr id="6" name="Editable text: Source : https://polluxmalls.com/polluxhabibiemall-store-list/?ut"/>
          <p:cNvSpPr txBox="1"/>
          <p:nvPr/>
        </p:nvSpPr>
        <p:spPr>
          <a:xfrm>
            <a:off x="731520" y="3970239"/>
            <a:ext cx="653796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6D8767"/>
                </a:solidFill>
                <a:latin typeface="Arial"/>
              </a:rPr>
              <a:t>Source : https://polluxmalls.com/polluxhabibiemall-store-list/?utm_source=</a:t>
            </a:r>
          </a:p>
        </p:txBody>
      </p:sp>
      <p:sp>
        <p:nvSpPr>
          <p:cNvPr id="7" name="Editable text: Commercial interpretation"/>
          <p:cNvSpPr txBox="1"/>
          <p:nvPr/>
        </p:nvSpPr>
        <p:spPr>
          <a:xfrm>
            <a:off x="731520" y="4740106"/>
            <a:ext cx="2101834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Commercial interpretation</a:t>
            </a:r>
          </a:p>
        </p:txBody>
      </p:sp>
      <p:sp>
        <p:nvSpPr>
          <p:cNvPr id="8" name="Editable text: Services create a specific reason to visit."/>
          <p:cNvSpPr txBox="1"/>
          <p:nvPr/>
        </p:nvSpPr>
        <p:spPr>
          <a:xfrm>
            <a:off x="941832" y="5155244"/>
            <a:ext cx="3804332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Services create a specific reason to visit.</a:t>
            </a:r>
          </a:p>
        </p:txBody>
      </p:sp>
      <p:sp>
        <p:nvSpPr>
          <p:cNvPr id="9" name="Editable text: Everyday F&amp;B and retail can capture spending around that visit."/>
          <p:cNvSpPr txBox="1"/>
          <p:nvPr/>
        </p:nvSpPr>
        <p:spPr>
          <a:xfrm>
            <a:off x="941832" y="5546578"/>
            <a:ext cx="583915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Everyday F&amp;B and retail can capture spending around that visit.</a:t>
            </a:r>
          </a:p>
        </p:txBody>
      </p:sp>
      <p:sp>
        <p:nvSpPr>
          <p:cNvPr id="10" name="Editable text: The mixed-use setting offers a potential local customer base."/>
          <p:cNvSpPr txBox="1"/>
          <p:nvPr/>
        </p:nvSpPr>
        <p:spPr>
          <a:xfrm>
            <a:off x="941832" y="5937913"/>
            <a:ext cx="5589984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The mixed-use setting offers a potential local customer base.</a:t>
            </a:r>
          </a:p>
        </p:txBody>
      </p:sp>
      <p:sp>
        <p:nvSpPr>
          <p:cNvPr id="11" name="Editable text: Implication for Kalindo Project"/>
          <p:cNvSpPr txBox="1"/>
          <p:nvPr/>
        </p:nvSpPr>
        <p:spPr>
          <a:xfrm>
            <a:off x="7955279" y="2600553"/>
            <a:ext cx="242516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Implication for Kalindo Project</a:t>
            </a:r>
          </a:p>
        </p:txBody>
      </p:sp>
      <p:sp>
        <p:nvSpPr>
          <p:cNvPr id="12" name="Editable text: Useful services should contribute to the district’s weekday relev"/>
          <p:cNvSpPr txBox="1"/>
          <p:nvPr/>
        </p:nvSpPr>
        <p:spPr>
          <a:xfrm>
            <a:off x="7955279" y="2905963"/>
            <a:ext cx="594360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Useful services should contribute to the district’s weekday relevance.</a:t>
            </a:r>
          </a:p>
        </p:txBody>
      </p:sp>
      <p:sp>
        <p:nvSpPr>
          <p:cNvPr id="13" name="Editable text: Further validation"/>
          <p:cNvSpPr txBox="1"/>
          <p:nvPr/>
        </p:nvSpPr>
        <p:spPr>
          <a:xfrm>
            <a:off x="7955279" y="3666686"/>
            <a:ext cx="148690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Further validation</a:t>
            </a:r>
          </a:p>
        </p:txBody>
      </p:sp>
      <p:sp>
        <p:nvSpPr>
          <p:cNvPr id="14" name="Editable text: Service-user conversion into tenant spending, weekday footfall an"/>
          <p:cNvSpPr txBox="1"/>
          <p:nvPr/>
        </p:nvSpPr>
        <p:spPr>
          <a:xfrm>
            <a:off x="7955279" y="3972096"/>
            <a:ext cx="594360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Service-user conversion into tenant spending, weekday footfall and current vacancy.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79" y="4838890"/>
            <a:ext cx="5943601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6" name="Editable text: POLLUX MALL BATAM CENTER"/>
          <p:cNvSpPr txBox="1"/>
          <p:nvPr/>
        </p:nvSpPr>
        <p:spPr>
          <a:xfrm>
            <a:off x="7955279" y="5038229"/>
            <a:ext cx="222713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POLLUX MALL BATAM CENTER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5835586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8" name="Editable text: 01"/>
          <p:cNvSpPr txBox="1"/>
          <p:nvPr/>
        </p:nvSpPr>
        <p:spPr>
          <a:xfrm>
            <a:off x="7955279" y="5440565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19" name="Editable text: Useful services"/>
          <p:cNvSpPr txBox="1"/>
          <p:nvPr/>
        </p:nvSpPr>
        <p:spPr>
          <a:xfrm>
            <a:off x="8306038" y="5307977"/>
            <a:ext cx="1757791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Useful services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55279" y="6484810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1" name="Editable text: 02"/>
          <p:cNvSpPr txBox="1"/>
          <p:nvPr/>
        </p:nvSpPr>
        <p:spPr>
          <a:xfrm>
            <a:off x="7955279" y="6089789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22" name="Editable text: Everyday F&amp;B and retail"/>
          <p:cNvSpPr txBox="1"/>
          <p:nvPr/>
        </p:nvSpPr>
        <p:spPr>
          <a:xfrm>
            <a:off x="8306038" y="5957201"/>
            <a:ext cx="2931366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Everyday F&amp;B and retail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4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25" name="Editable text: DESTINATION &amp; MARKET"/>
          <p:cNvSpPr txBox="1"/>
          <p:nvPr/>
        </p:nvSpPr>
        <p:spPr>
          <a:xfrm>
            <a:off x="12414123" y="273405"/>
            <a:ext cx="1667637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28" name="Editable text: Visual: Diagram sederhana hubungan service visit dengan café/reta"/>
          <p:cNvSpPr txBox="1"/>
          <p:nvPr/>
        </p:nvSpPr>
        <p:spPr>
          <a:xfrm>
            <a:off x="896112" y="7287853"/>
            <a:ext cx="963549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Diagram sederhana hubungan service visit dengan café/retail. Jangan mengasumsikan captive residents otomatis menjadi pelanggan aktif.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0" name="Editable text: DESTINATION &amp; MARKET"/>
          <p:cNvSpPr txBox="1"/>
          <p:nvPr/>
        </p:nvSpPr>
        <p:spPr>
          <a:xfrm>
            <a:off x="731520" y="7891272"/>
            <a:ext cx="148618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31" name="Editable text: SOURCE: SUPPLIED BRIEF · RESEARCH DATE NOT SPECIFIED / 03"/>
          <p:cNvSpPr txBox="1"/>
          <p:nvPr/>
        </p:nvSpPr>
        <p:spPr>
          <a:xfrm>
            <a:off x="10223563" y="7891272"/>
            <a:ext cx="3858196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SUPPLIED BRIEF · RESEARCH DATE NOT SPECIFIED /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NAGOYA HILL"/>
          <p:cNvSpPr txBox="1"/>
          <p:nvPr/>
        </p:nvSpPr>
        <p:spPr>
          <a:xfrm>
            <a:off x="731520" y="911656"/>
            <a:ext cx="1182433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NAGOYA HILL</a:t>
            </a:r>
          </a:p>
        </p:txBody>
      </p:sp>
      <p:sp>
        <p:nvSpPr>
          <p:cNvPr id="3" name="Editable text: A BROAD MIX SUPPORTS MULTIPLE VISIT MISSIONS"/>
          <p:cNvSpPr txBox="1"/>
          <p:nvPr/>
        </p:nvSpPr>
        <p:spPr>
          <a:xfrm>
            <a:off x="731520" y="1070762"/>
            <a:ext cx="13167360" cy="1562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A BROAD MIX SUPPORTS MULTIPLE VISIT MISSIONS</a:t>
            </a:r>
          </a:p>
        </p:txBody>
      </p:sp>
      <p:sp>
        <p:nvSpPr>
          <p:cNvPr id="4" name="Editable text: Public evidence"/>
          <p:cNvSpPr txBox="1"/>
          <p:nvPr/>
        </p:nvSpPr>
        <p:spPr>
          <a:xfrm>
            <a:off x="731520" y="2600553"/>
            <a:ext cx="135702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Public evidence</a:t>
            </a:r>
          </a:p>
        </p:txBody>
      </p:sp>
      <p:sp>
        <p:nvSpPr>
          <p:cNvPr id="5" name="Editable text: Nagoya Hill’s official website displays Hypermart, Matahari, cine"/>
          <p:cNvSpPr txBox="1"/>
          <p:nvPr/>
        </p:nvSpPr>
        <p:spPr>
          <a:xfrm>
            <a:off x="731520" y="2905963"/>
            <a:ext cx="6678549" cy="11365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Nagoya Hill’s official website displays Hypermart, Matahari, cinema, F&amp;B, electronics, optical and service brands. Its official description places the superblock within a surrounding concentration of hotels and commercial uses.</a:t>
            </a:r>
          </a:p>
        </p:txBody>
      </p:sp>
      <p:sp>
        <p:nvSpPr>
          <p:cNvPr id="6" name="Editable text: Source : https://nagoyahill.co.id/?utm_source="/>
          <p:cNvSpPr txBox="1"/>
          <p:nvPr/>
        </p:nvSpPr>
        <p:spPr>
          <a:xfrm>
            <a:off x="731520" y="4251845"/>
            <a:ext cx="4302537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6D8767"/>
                </a:solidFill>
                <a:latin typeface="Arial"/>
              </a:rPr>
              <a:t>Source : https://nagoyahill.co.id/?utm_source=</a:t>
            </a:r>
          </a:p>
        </p:txBody>
      </p:sp>
      <p:sp>
        <p:nvSpPr>
          <p:cNvPr id="7" name="Editable text: Commercial interpretation"/>
          <p:cNvSpPr txBox="1"/>
          <p:nvPr/>
        </p:nvSpPr>
        <p:spPr>
          <a:xfrm>
            <a:off x="731520" y="4740106"/>
            <a:ext cx="2101834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Commercial interpretation</a:t>
            </a:r>
          </a:p>
        </p:txBody>
      </p:sp>
      <p:sp>
        <p:nvSpPr>
          <p:cNvPr id="8" name="Editable text: Grocery supports routine visits."/>
          <p:cNvSpPr txBox="1"/>
          <p:nvPr/>
        </p:nvSpPr>
        <p:spPr>
          <a:xfrm>
            <a:off x="941832" y="5155244"/>
            <a:ext cx="2961227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Grocery supports routine visits.</a:t>
            </a:r>
          </a:p>
        </p:txBody>
      </p:sp>
      <p:sp>
        <p:nvSpPr>
          <p:cNvPr id="9" name="Editable text: Shopping and entertainment create additional occasions."/>
          <p:cNvSpPr txBox="1"/>
          <p:nvPr/>
        </p:nvSpPr>
        <p:spPr>
          <a:xfrm>
            <a:off x="941832" y="5546578"/>
            <a:ext cx="524179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Shopping and entertainment create additional occasions.</a:t>
            </a:r>
          </a:p>
        </p:txBody>
      </p:sp>
      <p:sp>
        <p:nvSpPr>
          <p:cNvPr id="10" name="Editable text: Dining and services allow several needs within one trip."/>
          <p:cNvSpPr txBox="1"/>
          <p:nvPr/>
        </p:nvSpPr>
        <p:spPr>
          <a:xfrm>
            <a:off x="941832" y="5937913"/>
            <a:ext cx="5107209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Dining and services allow several needs within one trip.</a:t>
            </a:r>
          </a:p>
        </p:txBody>
      </p:sp>
      <p:sp>
        <p:nvSpPr>
          <p:cNvPr id="11" name="Editable text: Surrounding hospitality broadens the potential catchment."/>
          <p:cNvSpPr txBox="1"/>
          <p:nvPr/>
        </p:nvSpPr>
        <p:spPr>
          <a:xfrm>
            <a:off x="941832" y="6329248"/>
            <a:ext cx="530294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Surrounding hospitality broadens the potential catchment.</a:t>
            </a:r>
          </a:p>
        </p:txBody>
      </p:sp>
      <p:sp>
        <p:nvSpPr>
          <p:cNvPr id="12" name="Editable text: Implication for Kalindo Project"/>
          <p:cNvSpPr txBox="1"/>
          <p:nvPr/>
        </p:nvSpPr>
        <p:spPr>
          <a:xfrm>
            <a:off x="7955279" y="2600553"/>
            <a:ext cx="242516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Implication for Kalindo Project</a:t>
            </a:r>
          </a:p>
        </p:txBody>
      </p:sp>
      <p:sp>
        <p:nvSpPr>
          <p:cNvPr id="13" name="Editable text: Build several dependable reasons to return, supported by distinct"/>
          <p:cNvSpPr txBox="1"/>
          <p:nvPr/>
        </p:nvSpPr>
        <p:spPr>
          <a:xfrm>
            <a:off x="7955279" y="2905963"/>
            <a:ext cx="594360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Build several dependable reasons to return, supported by distinctive experiences.</a:t>
            </a:r>
          </a:p>
        </p:txBody>
      </p:sp>
      <p:sp>
        <p:nvSpPr>
          <p:cNvPr id="14" name="Editable text: Further validation"/>
          <p:cNvSpPr txBox="1"/>
          <p:nvPr/>
        </p:nvSpPr>
        <p:spPr>
          <a:xfrm>
            <a:off x="7955279" y="3666686"/>
            <a:ext cx="148690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Further validation</a:t>
            </a:r>
          </a:p>
        </p:txBody>
      </p:sp>
      <p:sp>
        <p:nvSpPr>
          <p:cNvPr id="15" name="Editable text: Comparable occupancy, tenant turnover, visitor origin and daypart"/>
          <p:cNvSpPr txBox="1"/>
          <p:nvPr/>
        </p:nvSpPr>
        <p:spPr>
          <a:xfrm>
            <a:off x="7955279" y="3972096"/>
            <a:ext cx="6021466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Comparable occupancy, tenant turnover, visitor origin and daypart performance.</a:t>
            </a:r>
          </a:p>
        </p:txBody>
      </p:sp>
      <p:pic>
        <p:nvPicPr>
          <p:cNvPr id="16" name="Replaceable photo: slide-2-nagoya-hill.jpg" descr="slide-2-nagoya-hill.jpg"/>
          <p:cNvPicPr>
            <a:picLocks noChangeAspect="1"/>
          </p:cNvPicPr>
          <p:nvPr/>
        </p:nvPicPr>
        <p:blipFill>
          <a:blip r:embed="rId2"/>
          <a:srcRect t="41026" b="41026"/>
          <a:stretch>
            <a:fillRect/>
          </a:stretch>
        </p:blipFill>
        <p:spPr>
          <a:xfrm>
            <a:off x="7955279" y="4747450"/>
            <a:ext cx="5943600" cy="16002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955279" y="6082474"/>
            <a:ext cx="5943600" cy="265176"/>
          </a:xfrm>
          <a:prstGeom prst="rect">
            <a:avLst/>
          </a:prstGeom>
          <a:solidFill>
            <a:srgbClr val="183D32">
              <a:alpha val="9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Editable text: SUPPLIED CITY REFERENCE · NAGOYA HILL"/>
          <p:cNvSpPr txBox="1"/>
          <p:nvPr/>
        </p:nvSpPr>
        <p:spPr>
          <a:xfrm>
            <a:off x="8083296" y="6165684"/>
            <a:ext cx="2259853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72">
                <a:solidFill>
                  <a:srgbClr val="F4F1E8"/>
                </a:solidFill>
                <a:latin typeface="Arial"/>
              </a:rPr>
              <a:t>SUPPLIED CITY REFERENCE · NAGOYA HILL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0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21" name="Editable text: DESTINATION &amp; MARKET"/>
          <p:cNvSpPr txBox="1"/>
          <p:nvPr/>
        </p:nvSpPr>
        <p:spPr>
          <a:xfrm>
            <a:off x="12414123" y="273405"/>
            <a:ext cx="1667637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24" name="Editable text: Visual: Visit missions: groceries, dining, services, entertainmen"/>
          <p:cNvSpPr txBox="1"/>
          <p:nvPr/>
        </p:nvSpPr>
        <p:spPr>
          <a:xfrm>
            <a:off x="896112" y="7287853"/>
            <a:ext cx="4331541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Visit missions: groceries, dining, services, entertainment.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6" name="Editable text: DESTINATION &amp; MARKET"/>
          <p:cNvSpPr txBox="1"/>
          <p:nvPr/>
        </p:nvSpPr>
        <p:spPr>
          <a:xfrm>
            <a:off x="731520" y="7891272"/>
            <a:ext cx="148618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27" name="Editable text: SOURCE: SUPPLIED BRIEF · RESEARCH DATE NOT SPECIFIED / 04"/>
          <p:cNvSpPr txBox="1"/>
          <p:nvPr/>
        </p:nvSpPr>
        <p:spPr>
          <a:xfrm>
            <a:off x="10223563" y="7891272"/>
            <a:ext cx="3858196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SUPPLIED BRIEF · RESEARCH DATE NOT SPECIFIED /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GRAND BATAM"/>
          <p:cNvSpPr txBox="1"/>
          <p:nvPr/>
        </p:nvSpPr>
        <p:spPr>
          <a:xfrm>
            <a:off x="731520" y="911656"/>
            <a:ext cx="1261729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GRAND BATAM</a:t>
            </a:r>
          </a:p>
        </p:txBody>
      </p:sp>
      <p:sp>
        <p:nvSpPr>
          <p:cNvPr id="3" name="Editable text: CATEGORY BREADTH AND BRAND DISCOVERY"/>
          <p:cNvSpPr txBox="1"/>
          <p:nvPr/>
        </p:nvSpPr>
        <p:spPr>
          <a:xfrm>
            <a:off x="731520" y="1070762"/>
            <a:ext cx="13167360" cy="1001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CATEGORY BREADTH AND BRAND DISCOVERY</a:t>
            </a:r>
          </a:p>
        </p:txBody>
      </p:sp>
      <p:sp>
        <p:nvSpPr>
          <p:cNvPr id="4" name="Editable text: Public evidence"/>
          <p:cNvSpPr txBox="1"/>
          <p:nvPr/>
        </p:nvSpPr>
        <p:spPr>
          <a:xfrm>
            <a:off x="731520" y="2033625"/>
            <a:ext cx="135702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Public evidence</a:t>
            </a:r>
          </a:p>
        </p:txBody>
      </p:sp>
      <p:sp>
        <p:nvSpPr>
          <p:cNvPr id="5" name="Editable text: Grand Batam’s official directory covers anchors, F&amp;B, fashion, be"/>
          <p:cNvSpPr txBox="1"/>
          <p:nvPr/>
        </p:nvSpPr>
        <p:spPr>
          <a:xfrm>
            <a:off x="731520" y="2339035"/>
            <a:ext cx="6537960" cy="11365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Grand Batam’s official directory covers anchors, F&amp;B, fashion, beauty, electronics, home living, kids and services. The current directory highlights brands including Sociolla, Huawei, Smiggle, Skechers and Yakiniku Like. Grand Batam Mall</a:t>
            </a:r>
          </a:p>
        </p:txBody>
      </p:sp>
      <p:sp>
        <p:nvSpPr>
          <p:cNvPr id="6" name="Editable text: Commercial interpretation"/>
          <p:cNvSpPr txBox="1"/>
          <p:nvPr/>
        </p:nvSpPr>
        <p:spPr>
          <a:xfrm>
            <a:off x="731520" y="3662972"/>
            <a:ext cx="2101834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Commercial interpretation</a:t>
            </a:r>
          </a:p>
        </p:txBody>
      </p:sp>
      <p:sp>
        <p:nvSpPr>
          <p:cNvPr id="7" name="Editable text: Recognisable brands support customer consideration."/>
          <p:cNvSpPr txBox="1"/>
          <p:nvPr/>
        </p:nvSpPr>
        <p:spPr>
          <a:xfrm>
            <a:off x="941832" y="4078109"/>
            <a:ext cx="4989480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Recognisable brands support customer consideration.</a:t>
            </a:r>
          </a:p>
        </p:txBody>
      </p:sp>
      <p:sp>
        <p:nvSpPr>
          <p:cNvPr id="8" name="Editable text: Multiple categories enable shopping and leisure within one visit."/>
          <p:cNvSpPr txBox="1"/>
          <p:nvPr/>
        </p:nvSpPr>
        <p:spPr>
          <a:xfrm>
            <a:off x="941832" y="4469444"/>
            <a:ext cx="5840015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Multiple categories enable shopping and leisure within one visit.</a:t>
            </a:r>
          </a:p>
        </p:txBody>
      </p:sp>
      <p:sp>
        <p:nvSpPr>
          <p:cNvPr id="9" name="Editable text: Promotions and changing tenant content provide additional discove"/>
          <p:cNvSpPr txBox="1"/>
          <p:nvPr/>
        </p:nvSpPr>
        <p:spPr>
          <a:xfrm>
            <a:off x="941832" y="4860778"/>
            <a:ext cx="6359223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Promotions and changing tenant content provide additional discovery.</a:t>
            </a:r>
          </a:p>
        </p:txBody>
      </p:sp>
      <p:sp>
        <p:nvSpPr>
          <p:cNvPr id="10" name="Editable text: Implication for Kalindo Project"/>
          <p:cNvSpPr txBox="1"/>
          <p:nvPr/>
        </p:nvSpPr>
        <p:spPr>
          <a:xfrm>
            <a:off x="7955279" y="2033625"/>
            <a:ext cx="242516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Implication for Kalindo Project</a:t>
            </a:r>
          </a:p>
        </p:txBody>
      </p:sp>
      <p:sp>
        <p:nvSpPr>
          <p:cNvPr id="11" name="Editable text: Select anchors that fit the intended customer and support neighbo"/>
          <p:cNvSpPr txBox="1"/>
          <p:nvPr/>
        </p:nvSpPr>
        <p:spPr>
          <a:xfrm>
            <a:off x="7955279" y="2339035"/>
            <a:ext cx="594360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Select anchors that fit the intended customer and support neighbouring experiences.</a:t>
            </a:r>
          </a:p>
        </p:txBody>
      </p:sp>
      <p:sp>
        <p:nvSpPr>
          <p:cNvPr id="12" name="Editable text: Further validation"/>
          <p:cNvSpPr txBox="1"/>
          <p:nvPr/>
        </p:nvSpPr>
        <p:spPr>
          <a:xfrm>
            <a:off x="7955279" y="3099758"/>
            <a:ext cx="148690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Further validation</a:t>
            </a:r>
          </a:p>
        </p:txBody>
      </p:sp>
      <p:sp>
        <p:nvSpPr>
          <p:cNvPr id="13" name="Editable text: Current anchor roster, category area shares, repeat visits and te"/>
          <p:cNvSpPr txBox="1"/>
          <p:nvPr/>
        </p:nvSpPr>
        <p:spPr>
          <a:xfrm>
            <a:off x="7955279" y="3405168"/>
            <a:ext cx="594360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Current anchor roster, category area shares, repeat visits and tenant performance.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79" y="4271962"/>
            <a:ext cx="5943601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5" name="Editable text: GRAND BATAM"/>
          <p:cNvSpPr txBox="1"/>
          <p:nvPr/>
        </p:nvSpPr>
        <p:spPr>
          <a:xfrm>
            <a:off x="7955279" y="4471301"/>
            <a:ext cx="1166431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GRAND BATAM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55279" y="5268658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7" name="Editable text: 01"/>
          <p:cNvSpPr txBox="1"/>
          <p:nvPr/>
        </p:nvSpPr>
        <p:spPr>
          <a:xfrm>
            <a:off x="7955279" y="4873637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18" name="Editable text: Recognisable brands"/>
          <p:cNvSpPr txBox="1"/>
          <p:nvPr/>
        </p:nvSpPr>
        <p:spPr>
          <a:xfrm>
            <a:off x="8306038" y="4741049"/>
            <a:ext cx="2384440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Recognisable brands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55279" y="5917882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0" name="Editable text: 02"/>
          <p:cNvSpPr txBox="1"/>
          <p:nvPr/>
        </p:nvSpPr>
        <p:spPr>
          <a:xfrm>
            <a:off x="7955279" y="5522861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21" name="Editable text: Multiple categories"/>
          <p:cNvSpPr txBox="1"/>
          <p:nvPr/>
        </p:nvSpPr>
        <p:spPr>
          <a:xfrm>
            <a:off x="8306038" y="5390273"/>
            <a:ext cx="2235565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Multiple categories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55279" y="6567106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3" name="Editable text: 03"/>
          <p:cNvSpPr txBox="1"/>
          <p:nvPr/>
        </p:nvSpPr>
        <p:spPr>
          <a:xfrm>
            <a:off x="7955279" y="6172085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24" name="Editable text: Promotions"/>
          <p:cNvSpPr txBox="1"/>
          <p:nvPr/>
        </p:nvSpPr>
        <p:spPr>
          <a:xfrm>
            <a:off x="8306038" y="6039497"/>
            <a:ext cx="1423035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Promotions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6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27" name="Editable text: DESTINATION &amp; MARKET"/>
          <p:cNvSpPr txBox="1"/>
          <p:nvPr/>
        </p:nvSpPr>
        <p:spPr>
          <a:xfrm>
            <a:off x="12414123" y="273405"/>
            <a:ext cx="1667637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30" name="Editable text: Visual: Category ecosystem."/>
          <p:cNvSpPr txBox="1"/>
          <p:nvPr/>
        </p:nvSpPr>
        <p:spPr>
          <a:xfrm>
            <a:off x="896112" y="7287853"/>
            <a:ext cx="2027681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Category ecosystem.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2" name="Editable text: DESTINATION &amp; MARKET"/>
          <p:cNvSpPr txBox="1"/>
          <p:nvPr/>
        </p:nvSpPr>
        <p:spPr>
          <a:xfrm>
            <a:off x="731520" y="7891272"/>
            <a:ext cx="148618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33" name="Editable text: SOURCE: SUPPLIED BRIEF · RESEARCH DATE NOT SPECIFIED / 05"/>
          <p:cNvSpPr txBox="1"/>
          <p:nvPr/>
        </p:nvSpPr>
        <p:spPr>
          <a:xfrm>
            <a:off x="10223563" y="7891272"/>
            <a:ext cx="3858196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SUPPLIED BRIEF · RESEARCH DATE NOT SPECIFIED /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MEGA MALL BATAM CENTRE"/>
          <p:cNvSpPr txBox="1"/>
          <p:nvPr/>
        </p:nvSpPr>
        <p:spPr>
          <a:xfrm>
            <a:off x="731520" y="911656"/>
            <a:ext cx="227171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MEGA MALL BATAM CENTRE</a:t>
            </a:r>
          </a:p>
        </p:txBody>
      </p:sp>
      <p:sp>
        <p:nvSpPr>
          <p:cNvPr id="3" name="Editable text: ACCESS CREATES A COMMERCIAL ADVANTAGE"/>
          <p:cNvSpPr txBox="1"/>
          <p:nvPr/>
        </p:nvSpPr>
        <p:spPr>
          <a:xfrm>
            <a:off x="731520" y="1070762"/>
            <a:ext cx="13167360" cy="1001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ACCESS CREATES A COMMERCIAL ADVANTAGE</a:t>
            </a:r>
          </a:p>
        </p:txBody>
      </p:sp>
      <p:sp>
        <p:nvSpPr>
          <p:cNvPr id="4" name="Editable text: Public evidence"/>
          <p:cNvSpPr txBox="1"/>
          <p:nvPr/>
        </p:nvSpPr>
        <p:spPr>
          <a:xfrm>
            <a:off x="731520" y="2033625"/>
            <a:ext cx="135702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Public evidence</a:t>
            </a:r>
          </a:p>
        </p:txBody>
      </p:sp>
      <p:sp>
        <p:nvSpPr>
          <p:cNvPr id="5" name="Editable text: Mega Mall confirms a bridge connection to Batam Centre Internatio"/>
          <p:cNvSpPr txBox="1"/>
          <p:nvPr/>
        </p:nvSpPr>
        <p:spPr>
          <a:xfrm>
            <a:off x="731520" y="2339035"/>
            <a:ext cx="6537960" cy="85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Mega Mall confirms a bridge connection to Batam Centre International Ferry Terminal. Its website also publishes an October 2026 event calendar and culinary/community programmes.</a:t>
            </a:r>
          </a:p>
        </p:txBody>
      </p:sp>
      <p:sp>
        <p:nvSpPr>
          <p:cNvPr id="6" name="Editable text: Source : https://www.megamallbatam.com/?utm_source="/>
          <p:cNvSpPr txBox="1"/>
          <p:nvPr/>
        </p:nvSpPr>
        <p:spPr>
          <a:xfrm>
            <a:off x="731520" y="3403311"/>
            <a:ext cx="5278802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6D8767"/>
                </a:solidFill>
                <a:latin typeface="Arial"/>
              </a:rPr>
              <a:t>Source : https://www.megamallbatam.com/?utm_source=</a:t>
            </a:r>
          </a:p>
        </p:txBody>
      </p:sp>
      <p:sp>
        <p:nvSpPr>
          <p:cNvPr id="7" name="Editable text: Commercial interpretation"/>
          <p:cNvSpPr txBox="1"/>
          <p:nvPr/>
        </p:nvSpPr>
        <p:spPr>
          <a:xfrm>
            <a:off x="731520" y="3891572"/>
            <a:ext cx="2101834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Commercial interpretation</a:t>
            </a:r>
          </a:p>
        </p:txBody>
      </p:sp>
      <p:sp>
        <p:nvSpPr>
          <p:cNvPr id="8" name="Editable text: Convenient access can capture visitors already moving through the"/>
          <p:cNvSpPr txBox="1"/>
          <p:nvPr/>
        </p:nvSpPr>
        <p:spPr>
          <a:xfrm>
            <a:off x="941832" y="4306709"/>
            <a:ext cx="6327648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Convenient access can capture visitors already moving through the area.</a:t>
            </a:r>
          </a:p>
        </p:txBody>
      </p:sp>
      <p:sp>
        <p:nvSpPr>
          <p:cNvPr id="9" name="Editable text: Retail and dining provide useful activities around travel."/>
          <p:cNvSpPr txBox="1"/>
          <p:nvPr/>
        </p:nvSpPr>
        <p:spPr>
          <a:xfrm>
            <a:off x="941832" y="4979650"/>
            <a:ext cx="507434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Retail and dining provide useful activities around travel.</a:t>
            </a:r>
          </a:p>
        </p:txBody>
      </p:sp>
      <p:sp>
        <p:nvSpPr>
          <p:cNvPr id="10" name="Editable text: Programming gives visitors additional reasons to spend time."/>
          <p:cNvSpPr txBox="1"/>
          <p:nvPr/>
        </p:nvSpPr>
        <p:spPr>
          <a:xfrm>
            <a:off x="941832" y="5370985"/>
            <a:ext cx="5582983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Programming gives visitors additional reasons to spend time.</a:t>
            </a:r>
          </a:p>
        </p:txBody>
      </p:sp>
      <p:sp>
        <p:nvSpPr>
          <p:cNvPr id="11" name="Editable text: Implication for Kalindo Project"/>
          <p:cNvSpPr txBox="1"/>
          <p:nvPr/>
        </p:nvSpPr>
        <p:spPr>
          <a:xfrm>
            <a:off x="7955279" y="2033625"/>
            <a:ext cx="242516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Implication for Kalindo Project</a:t>
            </a:r>
          </a:p>
        </p:txBody>
      </p:sp>
      <p:sp>
        <p:nvSpPr>
          <p:cNvPr id="12" name="Editable text: Regional demand requires a practical route to the destination: tr"/>
          <p:cNvSpPr txBox="1"/>
          <p:nvPr/>
        </p:nvSpPr>
        <p:spPr>
          <a:xfrm>
            <a:off x="7955279" y="2339035"/>
            <a:ext cx="594360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Regional demand requires a practical route to the destination: transport, booking and partner distribution.</a:t>
            </a:r>
          </a:p>
        </p:txBody>
      </p:sp>
      <p:sp>
        <p:nvSpPr>
          <p:cNvPr id="13" name="Editable text: Further validation"/>
          <p:cNvSpPr txBox="1"/>
          <p:nvPr/>
        </p:nvSpPr>
        <p:spPr>
          <a:xfrm>
            <a:off x="7955279" y="3099758"/>
            <a:ext cx="148690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Further validation</a:t>
            </a:r>
          </a:p>
        </p:txBody>
      </p:sp>
      <p:sp>
        <p:nvSpPr>
          <p:cNvPr id="14" name="Editable text: Ferry-passenger conversion, visitor origin, transfer friction and"/>
          <p:cNvSpPr txBox="1"/>
          <p:nvPr/>
        </p:nvSpPr>
        <p:spPr>
          <a:xfrm>
            <a:off x="7955279" y="3405168"/>
            <a:ext cx="594360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Ferry-passenger conversion, visitor origin, transfer friction and package demand.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79" y="4271962"/>
            <a:ext cx="5943601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6" name="Editable text: MEGA MALL BATAM CENTRE"/>
          <p:cNvSpPr txBox="1"/>
          <p:nvPr/>
        </p:nvSpPr>
        <p:spPr>
          <a:xfrm>
            <a:off x="7955279" y="4471301"/>
            <a:ext cx="2086260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MEGA MALL BATAM CENTRE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5268658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8" name="Editable text: 01"/>
          <p:cNvSpPr txBox="1"/>
          <p:nvPr/>
        </p:nvSpPr>
        <p:spPr>
          <a:xfrm>
            <a:off x="7955279" y="4873637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19" name="Editable text: Convenient access"/>
          <p:cNvSpPr txBox="1"/>
          <p:nvPr/>
        </p:nvSpPr>
        <p:spPr>
          <a:xfrm>
            <a:off x="8306038" y="4741049"/>
            <a:ext cx="2118979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Convenient access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55279" y="5917882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1" name="Editable text: 02"/>
          <p:cNvSpPr txBox="1"/>
          <p:nvPr/>
        </p:nvSpPr>
        <p:spPr>
          <a:xfrm>
            <a:off x="7955279" y="5522861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22" name="Editable text: Retail and dining"/>
          <p:cNvSpPr txBox="1"/>
          <p:nvPr/>
        </p:nvSpPr>
        <p:spPr>
          <a:xfrm>
            <a:off x="8306038" y="5390273"/>
            <a:ext cx="2065972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Retail and dining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79" y="6567106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4" name="Editable text: 03"/>
          <p:cNvSpPr txBox="1"/>
          <p:nvPr/>
        </p:nvSpPr>
        <p:spPr>
          <a:xfrm>
            <a:off x="7955279" y="6172085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25" name="Editable text: Programming"/>
          <p:cNvSpPr txBox="1"/>
          <p:nvPr/>
        </p:nvSpPr>
        <p:spPr>
          <a:xfrm>
            <a:off x="8306038" y="6039497"/>
            <a:ext cx="1655635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Programming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7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28" name="Editable text: DESTINATION &amp; MARKET"/>
          <p:cNvSpPr txBox="1"/>
          <p:nvPr/>
        </p:nvSpPr>
        <p:spPr>
          <a:xfrm>
            <a:off x="12414123" y="273405"/>
            <a:ext cx="1667637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31" name="Editable text: Visual: Ferry arrival, transfer, destination visit."/>
          <p:cNvSpPr txBox="1"/>
          <p:nvPr/>
        </p:nvSpPr>
        <p:spPr>
          <a:xfrm>
            <a:off x="896112" y="7287853"/>
            <a:ext cx="3115818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Ferry arrival, transfer, destination visit.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3" name="Editable text: DESTINATION &amp; MARKET"/>
          <p:cNvSpPr txBox="1"/>
          <p:nvPr/>
        </p:nvSpPr>
        <p:spPr>
          <a:xfrm>
            <a:off x="731520" y="7891272"/>
            <a:ext cx="148618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34" name="Editable text: SOURCE: SUPPLIED BRIEF · RESEARCH DATE NOT SPECIFIED / 06"/>
          <p:cNvSpPr txBox="1"/>
          <p:nvPr/>
        </p:nvSpPr>
        <p:spPr>
          <a:xfrm>
            <a:off x="10223563" y="7891272"/>
            <a:ext cx="3858196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SUPPLIED BRIEF · RESEARCH DATE NOT SPECIFIED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K SQUARE"/>
          <p:cNvSpPr txBox="1"/>
          <p:nvPr/>
        </p:nvSpPr>
        <p:spPr>
          <a:xfrm>
            <a:off x="731520" y="911656"/>
            <a:ext cx="959405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K SQUARE</a:t>
            </a:r>
          </a:p>
        </p:txBody>
      </p:sp>
      <p:sp>
        <p:nvSpPr>
          <p:cNvPr id="3" name="Editable text: PROGRAMMING ADDS REASONS TO VISIT"/>
          <p:cNvSpPr txBox="1"/>
          <p:nvPr/>
        </p:nvSpPr>
        <p:spPr>
          <a:xfrm>
            <a:off x="731520" y="1070762"/>
            <a:ext cx="13167360" cy="1001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PROGRAMMING ADDS REASONS TO VISIT</a:t>
            </a:r>
          </a:p>
        </p:txBody>
      </p:sp>
      <p:sp>
        <p:nvSpPr>
          <p:cNvPr id="4" name="Editable text: Public evidence"/>
          <p:cNvSpPr txBox="1"/>
          <p:nvPr/>
        </p:nvSpPr>
        <p:spPr>
          <a:xfrm>
            <a:off x="731520" y="2033625"/>
            <a:ext cx="135702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Public evidence</a:t>
            </a:r>
          </a:p>
        </p:txBody>
      </p:sp>
      <p:sp>
        <p:nvSpPr>
          <p:cNvPr id="5" name="Editable text: Disbudpar Batam documents the Wonderfood event at K Square on 9–1"/>
          <p:cNvSpPr txBox="1"/>
          <p:nvPr/>
        </p:nvSpPr>
        <p:spPr>
          <a:xfrm>
            <a:off x="731520" y="2339035"/>
            <a:ext cx="6696551" cy="11365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Disbudpar Batam documents the Wonderfood event at K Square on 9–17 April 2026, involving 40 businesses with culinary and entertainment activities. It also records a February 2026 film premiere at Cinépolis K Square.</a:t>
            </a:r>
          </a:p>
        </p:txBody>
      </p:sp>
      <p:sp>
        <p:nvSpPr>
          <p:cNvPr id="6" name="Editable text: Source : https://disbudpar.batam.go.id/2026/04/28/bazar-kuliner-d"/>
          <p:cNvSpPr txBox="1"/>
          <p:nvPr/>
        </p:nvSpPr>
        <p:spPr>
          <a:xfrm>
            <a:off x="731520" y="3684917"/>
            <a:ext cx="653796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6D8767"/>
                </a:solidFill>
                <a:latin typeface="Arial"/>
              </a:rPr>
              <a:t>Source : https://disbudpar.batam.go.id/2026/04/28/bazar-kuliner-dan-hiburan-wonderfood-ramaikan-k-square-mall-batam/?utm_source=</a:t>
            </a:r>
          </a:p>
        </p:txBody>
      </p:sp>
      <p:sp>
        <p:nvSpPr>
          <p:cNvPr id="7" name="Editable text: Commercial interpretation"/>
          <p:cNvSpPr txBox="1"/>
          <p:nvPr/>
        </p:nvSpPr>
        <p:spPr>
          <a:xfrm>
            <a:off x="731520" y="4454785"/>
            <a:ext cx="2101834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Commercial interpretation</a:t>
            </a:r>
          </a:p>
        </p:txBody>
      </p:sp>
      <p:sp>
        <p:nvSpPr>
          <p:cNvPr id="8" name="Editable text: Events introduce changing content."/>
          <p:cNvSpPr txBox="1"/>
          <p:nvPr/>
        </p:nvSpPr>
        <p:spPr>
          <a:xfrm>
            <a:off x="941832" y="4869922"/>
            <a:ext cx="331012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Events introduce changing content.</a:t>
            </a:r>
          </a:p>
        </p:txBody>
      </p:sp>
      <p:sp>
        <p:nvSpPr>
          <p:cNvPr id="9" name="Editable text: Culinary and entertainment can attract different audiences."/>
          <p:cNvSpPr txBox="1"/>
          <p:nvPr/>
        </p:nvSpPr>
        <p:spPr>
          <a:xfrm>
            <a:off x="941832" y="5261257"/>
            <a:ext cx="5411104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Culinary and entertainment can attract different audiences.</a:t>
            </a:r>
          </a:p>
        </p:txBody>
      </p:sp>
      <p:sp>
        <p:nvSpPr>
          <p:cNvPr id="10" name="Editable text: Successful activation needs conversion into surrounding tenant ac"/>
          <p:cNvSpPr txBox="1"/>
          <p:nvPr/>
        </p:nvSpPr>
        <p:spPr>
          <a:xfrm>
            <a:off x="941832" y="5652592"/>
            <a:ext cx="6508099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Successful activation needs conversion into surrounding tenant activity.</a:t>
            </a:r>
          </a:p>
        </p:txBody>
      </p:sp>
      <p:sp>
        <p:nvSpPr>
          <p:cNvPr id="11" name="Editable text: Implication for Kalindo Project"/>
          <p:cNvSpPr txBox="1"/>
          <p:nvPr/>
        </p:nvSpPr>
        <p:spPr>
          <a:xfrm>
            <a:off x="7955279" y="2033625"/>
            <a:ext cx="242516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Implication for Kalindo Project</a:t>
            </a:r>
          </a:p>
        </p:txBody>
      </p:sp>
      <p:sp>
        <p:nvSpPr>
          <p:cNvPr id="12" name="Editable text: The Veranda needs a funded programme and operating team from the "/>
          <p:cNvSpPr txBox="1"/>
          <p:nvPr/>
        </p:nvSpPr>
        <p:spPr>
          <a:xfrm>
            <a:off x="7955279" y="2339035"/>
            <a:ext cx="6094047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The Veranda needs a funded programme and operating team from the outset.</a:t>
            </a:r>
          </a:p>
        </p:txBody>
      </p:sp>
      <p:sp>
        <p:nvSpPr>
          <p:cNvPr id="13" name="Editable text: Further validation"/>
          <p:cNvSpPr txBox="1"/>
          <p:nvPr/>
        </p:nvSpPr>
        <p:spPr>
          <a:xfrm>
            <a:off x="7955279" y="3099758"/>
            <a:ext cx="148690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Further validation</a:t>
            </a:r>
          </a:p>
        </p:txBody>
      </p:sp>
      <p:sp>
        <p:nvSpPr>
          <p:cNvPr id="14" name="Editable text: Event-day uplift, ordinary-day traffic, net event contribution an"/>
          <p:cNvSpPr txBox="1"/>
          <p:nvPr/>
        </p:nvSpPr>
        <p:spPr>
          <a:xfrm>
            <a:off x="7955279" y="3405168"/>
            <a:ext cx="594360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Event-day uplift, ordinary-day traffic, net event contribution and current permanent tenant mix.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79" y="4271962"/>
            <a:ext cx="5943601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6" name="Editable text: K SQUARE"/>
          <p:cNvSpPr txBox="1"/>
          <p:nvPr/>
        </p:nvSpPr>
        <p:spPr>
          <a:xfrm>
            <a:off x="7955279" y="4471301"/>
            <a:ext cx="890682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K SQUARE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5268658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8" name="Editable text: 01"/>
          <p:cNvSpPr txBox="1"/>
          <p:nvPr/>
        </p:nvSpPr>
        <p:spPr>
          <a:xfrm>
            <a:off x="7955279" y="4873637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19" name="Editable text: Events"/>
          <p:cNvSpPr txBox="1"/>
          <p:nvPr/>
        </p:nvSpPr>
        <p:spPr>
          <a:xfrm>
            <a:off x="8306038" y="4741049"/>
            <a:ext cx="907827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Events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55279" y="5917882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1" name="Editable text: 02"/>
          <p:cNvSpPr txBox="1"/>
          <p:nvPr/>
        </p:nvSpPr>
        <p:spPr>
          <a:xfrm>
            <a:off x="7955279" y="5522861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22" name="Editable text: Culinary and entertainment"/>
          <p:cNvSpPr txBox="1"/>
          <p:nvPr/>
        </p:nvSpPr>
        <p:spPr>
          <a:xfrm>
            <a:off x="8306038" y="5390273"/>
            <a:ext cx="3195542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Culinary and entertainment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79" y="6567106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4" name="Editable text: 03"/>
          <p:cNvSpPr txBox="1"/>
          <p:nvPr/>
        </p:nvSpPr>
        <p:spPr>
          <a:xfrm>
            <a:off x="7955279" y="6172085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25" name="Editable text: Surrounding tenant activity"/>
          <p:cNvSpPr txBox="1"/>
          <p:nvPr/>
        </p:nvSpPr>
        <p:spPr>
          <a:xfrm>
            <a:off x="8306038" y="6039497"/>
            <a:ext cx="3189112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Surrounding tenant activity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7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28" name="Editable text: DESTINATION &amp; MARKET"/>
          <p:cNvSpPr txBox="1"/>
          <p:nvPr/>
        </p:nvSpPr>
        <p:spPr>
          <a:xfrm>
            <a:off x="12414123" y="273405"/>
            <a:ext cx="1667637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750272"/>
            <a:ext cx="13167360" cy="83924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Editable text: BRIEF NOTES · PRESERVED VERBATIM"/>
          <p:cNvSpPr txBox="1"/>
          <p:nvPr/>
        </p:nvSpPr>
        <p:spPr>
          <a:xfrm>
            <a:off x="896112" y="686091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31" name="Editable text: Visual: Permanent tenant activity dibandingkan dengan event-day a"/>
          <p:cNvSpPr txBox="1"/>
          <p:nvPr/>
        </p:nvSpPr>
        <p:spPr>
          <a:xfrm>
            <a:off x="896112" y="7037393"/>
            <a:ext cx="511221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Permanent tenant activity dibandingkan dengan event-day activation.</a:t>
            </a:r>
          </a:p>
        </p:txBody>
      </p:sp>
      <p:sp>
        <p:nvSpPr>
          <p:cNvPr id="32" name="Editable text: Catatan: Kehadiran event membuktikan kegiatan berlangsung; belum "/>
          <p:cNvSpPr txBox="1"/>
          <p:nvPr/>
        </p:nvSpPr>
        <p:spPr>
          <a:xfrm>
            <a:off x="896112" y="7287853"/>
            <a:ext cx="7098172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Catatan: Kehadiran event membuktikan kegiatan berlangsung; belum membuktikan uplift atau profitabilitas.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4" name="Editable text: DESTINATION &amp; MARKET"/>
          <p:cNvSpPr txBox="1"/>
          <p:nvPr/>
        </p:nvSpPr>
        <p:spPr>
          <a:xfrm>
            <a:off x="731520" y="7891272"/>
            <a:ext cx="148618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35" name="Editable text: SOURCE: SUPPLIED BRIEF · RESEARCH DATE NOT SPECIFIED / 07"/>
          <p:cNvSpPr txBox="1"/>
          <p:nvPr/>
        </p:nvSpPr>
        <p:spPr>
          <a:xfrm>
            <a:off x="10223563" y="7891272"/>
            <a:ext cx="3858196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SUPPLIED BRIEF · RESEARCH DATE NOT SPECIFIED /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ONE BATAM MALL"/>
          <p:cNvSpPr txBox="1"/>
          <p:nvPr/>
        </p:nvSpPr>
        <p:spPr>
          <a:xfrm>
            <a:off x="731520" y="911656"/>
            <a:ext cx="1495044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ONE BATAM MALL</a:t>
            </a:r>
          </a:p>
        </p:txBody>
      </p:sp>
      <p:sp>
        <p:nvSpPr>
          <p:cNvPr id="3" name="Editable text: COMMUNITIES CREATE RECURRING OCCASIONS"/>
          <p:cNvSpPr txBox="1"/>
          <p:nvPr/>
        </p:nvSpPr>
        <p:spPr>
          <a:xfrm>
            <a:off x="731520" y="1070762"/>
            <a:ext cx="13297519" cy="1001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COMMUNITIES CREATE RECURRING OCCASIONS</a:t>
            </a:r>
          </a:p>
        </p:txBody>
      </p:sp>
      <p:sp>
        <p:nvSpPr>
          <p:cNvPr id="4" name="Editable text: Public evidence"/>
          <p:cNvSpPr txBox="1"/>
          <p:nvPr/>
        </p:nvSpPr>
        <p:spPr>
          <a:xfrm>
            <a:off x="731520" y="2033625"/>
            <a:ext cx="135702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Public evidence</a:t>
            </a:r>
          </a:p>
        </p:txBody>
      </p:sp>
      <p:sp>
        <p:nvSpPr>
          <p:cNvPr id="5" name="Editable text: Gattchaa’s own channels identify its One Batam Mall location. Off"/>
          <p:cNvSpPr txBox="1"/>
          <p:nvPr/>
        </p:nvSpPr>
        <p:spPr>
          <a:xfrm>
            <a:off x="731520" y="2339035"/>
            <a:ext cx="653796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Gattchaa’s own channels identify its One Batam Mall location. Official Pokémon event listings also document activities at that venue.</a:t>
            </a:r>
          </a:p>
        </p:txBody>
      </p:sp>
      <p:sp>
        <p:nvSpPr>
          <p:cNvPr id="6" name="Editable text: Source : https://linktr.ee/gattchaa?utm_source="/>
          <p:cNvSpPr txBox="1"/>
          <p:nvPr/>
        </p:nvSpPr>
        <p:spPr>
          <a:xfrm>
            <a:off x="731520" y="3121704"/>
            <a:ext cx="4403836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6D8767"/>
                </a:solidFill>
                <a:latin typeface="Arial"/>
              </a:rPr>
              <a:t>Source : https://linktr.ee/gattchaa?utm_source=</a:t>
            </a:r>
          </a:p>
        </p:txBody>
      </p:sp>
      <p:sp>
        <p:nvSpPr>
          <p:cNvPr id="7" name="Editable text: Commercial interpretation"/>
          <p:cNvSpPr txBox="1"/>
          <p:nvPr/>
        </p:nvSpPr>
        <p:spPr>
          <a:xfrm>
            <a:off x="731520" y="3609965"/>
            <a:ext cx="2101834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Commercial interpretation</a:t>
            </a:r>
          </a:p>
        </p:txBody>
      </p:sp>
      <p:sp>
        <p:nvSpPr>
          <p:cNvPr id="8" name="Editable text: Specialist tenants can host recurring participation."/>
          <p:cNvSpPr txBox="1"/>
          <p:nvPr/>
        </p:nvSpPr>
        <p:spPr>
          <a:xfrm>
            <a:off x="941832" y="4025103"/>
            <a:ext cx="4618720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Specialist tenants can host recurring participation.</a:t>
            </a:r>
          </a:p>
        </p:txBody>
      </p:sp>
      <p:sp>
        <p:nvSpPr>
          <p:cNvPr id="9" name="Editable text: A customer may return because an activity or community meets ther"/>
          <p:cNvSpPr txBox="1"/>
          <p:nvPr/>
        </p:nvSpPr>
        <p:spPr>
          <a:xfrm>
            <a:off x="941832" y="4416437"/>
            <a:ext cx="640865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A customer may return because an activity or community meets there.</a:t>
            </a:r>
          </a:p>
        </p:txBody>
      </p:sp>
      <p:sp>
        <p:nvSpPr>
          <p:cNvPr id="10" name="Editable text: Community activity can support visits beyond product purchases."/>
          <p:cNvSpPr txBox="1"/>
          <p:nvPr/>
        </p:nvSpPr>
        <p:spPr>
          <a:xfrm>
            <a:off x="941832" y="4807772"/>
            <a:ext cx="5964602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Community activity can support visits beyond product purchases.</a:t>
            </a:r>
          </a:p>
        </p:txBody>
      </p:sp>
      <p:sp>
        <p:nvSpPr>
          <p:cNvPr id="11" name="Editable text: Implication for Kalindo Project"/>
          <p:cNvSpPr txBox="1"/>
          <p:nvPr/>
        </p:nvSpPr>
        <p:spPr>
          <a:xfrm>
            <a:off x="7955279" y="2033625"/>
            <a:ext cx="242516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Implication for Kalindo Project</a:t>
            </a:r>
          </a:p>
        </p:txBody>
      </p:sp>
      <p:sp>
        <p:nvSpPr>
          <p:cNvPr id="12" name="Editable text: Seek tenants that bring customers and a repeatable activity calen"/>
          <p:cNvSpPr txBox="1"/>
          <p:nvPr/>
        </p:nvSpPr>
        <p:spPr>
          <a:xfrm>
            <a:off x="7955279" y="2339035"/>
            <a:ext cx="594360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Seek tenants that bring customers and a repeatable activity calendar.</a:t>
            </a:r>
          </a:p>
        </p:txBody>
      </p:sp>
      <p:sp>
        <p:nvSpPr>
          <p:cNvPr id="13" name="Editable text: Further validation"/>
          <p:cNvSpPr txBox="1"/>
          <p:nvPr/>
        </p:nvSpPr>
        <p:spPr>
          <a:xfrm>
            <a:off x="7955279" y="3099758"/>
            <a:ext cx="148690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Further validation</a:t>
            </a:r>
          </a:p>
        </p:txBody>
      </p:sp>
      <p:sp>
        <p:nvSpPr>
          <p:cNvPr id="14" name="Editable text: Participation frequency, spending conversion, current mall mix an"/>
          <p:cNvSpPr txBox="1"/>
          <p:nvPr/>
        </p:nvSpPr>
        <p:spPr>
          <a:xfrm>
            <a:off x="7955279" y="3405168"/>
            <a:ext cx="6081045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Participation frequency, spending conversion, current mall mix and occupancy.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79" y="4271962"/>
            <a:ext cx="5943601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6" name="Editable text: ONE BATAM MALL"/>
          <p:cNvSpPr txBox="1"/>
          <p:nvPr/>
        </p:nvSpPr>
        <p:spPr>
          <a:xfrm>
            <a:off x="7955279" y="4471301"/>
            <a:ext cx="1378315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 spc="144">
                <a:solidFill>
                  <a:srgbClr val="6D8767"/>
                </a:solidFill>
                <a:latin typeface="Arial"/>
              </a:rPr>
              <a:t>ONE BATAM MALL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5268658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8" name="Editable text: 01"/>
          <p:cNvSpPr txBox="1"/>
          <p:nvPr/>
        </p:nvSpPr>
        <p:spPr>
          <a:xfrm>
            <a:off x="7955279" y="4873637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01</a:t>
            </a:r>
          </a:p>
        </p:txBody>
      </p:sp>
      <p:sp>
        <p:nvSpPr>
          <p:cNvPr id="19" name="Editable text: Specialist tenants"/>
          <p:cNvSpPr txBox="1"/>
          <p:nvPr/>
        </p:nvSpPr>
        <p:spPr>
          <a:xfrm>
            <a:off x="8306038" y="4741049"/>
            <a:ext cx="2078545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Specialist tenants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55279" y="5917882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1" name="Editable text: 02"/>
          <p:cNvSpPr txBox="1"/>
          <p:nvPr/>
        </p:nvSpPr>
        <p:spPr>
          <a:xfrm>
            <a:off x="7955279" y="5522861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02</a:t>
            </a:r>
          </a:p>
        </p:txBody>
      </p:sp>
      <p:sp>
        <p:nvSpPr>
          <p:cNvPr id="22" name="Editable text: Activity or community"/>
          <p:cNvSpPr txBox="1"/>
          <p:nvPr/>
        </p:nvSpPr>
        <p:spPr>
          <a:xfrm>
            <a:off x="8306038" y="5390273"/>
            <a:ext cx="2638758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Activity or community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79" y="6567106"/>
            <a:ext cx="5943601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4" name="Editable text: 03"/>
          <p:cNvSpPr txBox="1"/>
          <p:nvPr/>
        </p:nvSpPr>
        <p:spPr>
          <a:xfrm>
            <a:off x="7955279" y="6172085"/>
            <a:ext cx="305038" cy="1591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46" b="0">
                <a:solidFill>
                  <a:srgbClr val="6D8767"/>
                </a:solidFill>
                <a:latin typeface="Arial"/>
              </a:rPr>
              <a:t>03</a:t>
            </a:r>
          </a:p>
        </p:txBody>
      </p:sp>
      <p:sp>
        <p:nvSpPr>
          <p:cNvPr id="25" name="Editable text: Return occasion"/>
          <p:cNvSpPr txBox="1"/>
          <p:nvPr/>
        </p:nvSpPr>
        <p:spPr>
          <a:xfrm>
            <a:off x="8306038" y="6039497"/>
            <a:ext cx="1923526" cy="4585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827" b="0">
                <a:solidFill>
                  <a:srgbClr val="292D29"/>
                </a:solidFill>
                <a:latin typeface="Georgia"/>
              </a:rPr>
              <a:t>Return occasion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7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28" name="Editable text: DESTINATION &amp; MARKET"/>
          <p:cNvSpPr txBox="1"/>
          <p:nvPr/>
        </p:nvSpPr>
        <p:spPr>
          <a:xfrm>
            <a:off x="12414123" y="273405"/>
            <a:ext cx="1667637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750272"/>
            <a:ext cx="13167360" cy="83924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Editable text: BRIEF NOTES · PRESERVED VERBATIM"/>
          <p:cNvSpPr txBox="1"/>
          <p:nvPr/>
        </p:nvSpPr>
        <p:spPr>
          <a:xfrm>
            <a:off x="896112" y="686091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31" name="Editable text: Visual: Community participation, café visit, return occasion."/>
          <p:cNvSpPr txBox="1"/>
          <p:nvPr/>
        </p:nvSpPr>
        <p:spPr>
          <a:xfrm>
            <a:off x="896112" y="7037393"/>
            <a:ext cx="400250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Community participation, café visit, return occasion.</a:t>
            </a:r>
          </a:p>
        </p:txBody>
      </p:sp>
      <p:sp>
        <p:nvSpPr>
          <p:cNvPr id="32" name="Editable text: Catatan: Konsep awal alfresco/marketplace merupakan historical po"/>
          <p:cNvSpPr txBox="1"/>
          <p:nvPr/>
        </p:nvSpPr>
        <p:spPr>
          <a:xfrm>
            <a:off x="896112" y="7287853"/>
            <a:ext cx="933173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Catatan: Konsep awal alfresco/marketplace merupakan historical positioning. Jangan menganggap semua ambisi awal sudah berjalan penuh.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4" name="Editable text: DESTINATION &amp; MARKET"/>
          <p:cNvSpPr txBox="1"/>
          <p:nvPr/>
        </p:nvSpPr>
        <p:spPr>
          <a:xfrm>
            <a:off x="731520" y="7891272"/>
            <a:ext cx="148618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35" name="Editable text: SOURCE: SUPPLIED BRIEF · RESEARCH DATE NOT SPECIFIED / 08"/>
          <p:cNvSpPr txBox="1"/>
          <p:nvPr/>
        </p:nvSpPr>
        <p:spPr>
          <a:xfrm>
            <a:off x="10223563" y="7891272"/>
            <a:ext cx="3858196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SUPPLIED BRIEF · RESEARCH DATE NOT SPECIFIED /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COMPETITIVE LESSONS"/>
          <p:cNvSpPr txBox="1"/>
          <p:nvPr/>
        </p:nvSpPr>
        <p:spPr>
          <a:xfrm>
            <a:off x="731520" y="911656"/>
            <a:ext cx="1958387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COMPETITIVE LESSONS</a:t>
            </a:r>
          </a:p>
        </p:txBody>
      </p:sp>
      <p:sp>
        <p:nvSpPr>
          <p:cNvPr id="3" name="Editable text: SIX COMMERCIAL MECHANISMS TO LEARN FROM"/>
          <p:cNvSpPr txBox="1"/>
          <p:nvPr/>
        </p:nvSpPr>
        <p:spPr>
          <a:xfrm>
            <a:off x="731520" y="1070762"/>
            <a:ext cx="13167360" cy="1562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SIX COMMERCIAL MECHANISMS TO LEARN FROM</a:t>
            </a:r>
          </a:p>
        </p:txBody>
      </p:sp>
      <p:sp>
        <p:nvSpPr>
          <p:cNvPr id="4" name="Editable text: Strategic interpretation"/>
          <p:cNvSpPr txBox="1"/>
          <p:nvPr/>
        </p:nvSpPr>
        <p:spPr>
          <a:xfrm>
            <a:off x="731520" y="2600553"/>
            <a:ext cx="1884378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Strategic interpretation</a:t>
            </a:r>
          </a:p>
        </p:txBody>
      </p:sp>
      <p:sp>
        <p:nvSpPr>
          <p:cNvPr id="5" name="Editable text: based on the preceding evidence."/>
          <p:cNvSpPr txBox="1"/>
          <p:nvPr/>
        </p:nvSpPr>
        <p:spPr>
          <a:xfrm>
            <a:off x="731520" y="2905048"/>
            <a:ext cx="3330702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based on the preceding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94138"/>
            <a:ext cx="289679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text: Competitor"/>
          <p:cNvSpPr txBox="1"/>
          <p:nvPr/>
        </p:nvSpPr>
        <p:spPr>
          <a:xfrm>
            <a:off x="932688" y="3525812"/>
            <a:ext cx="98583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Competitor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28310" y="3394138"/>
            <a:ext cx="5135213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text: Mechanism to study"/>
          <p:cNvSpPr txBox="1"/>
          <p:nvPr/>
        </p:nvSpPr>
        <p:spPr>
          <a:xfrm>
            <a:off x="3829478" y="3525812"/>
            <a:ext cx="1645491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Mechanism to study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63523" y="3394138"/>
            <a:ext cx="5135356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text: Application for Kalindo"/>
          <p:cNvSpPr txBox="1"/>
          <p:nvPr/>
        </p:nvSpPr>
        <p:spPr>
          <a:xfrm>
            <a:off x="8964691" y="3525812"/>
            <a:ext cx="184451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Application for Kalindo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4454842"/>
            <a:ext cx="289679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3" name="Editable text: Pollux"/>
          <p:cNvSpPr txBox="1"/>
          <p:nvPr/>
        </p:nvSpPr>
        <p:spPr>
          <a:xfrm>
            <a:off x="932688" y="3956494"/>
            <a:ext cx="2494454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Pollux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28310" y="4454842"/>
            <a:ext cx="5135213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5" name="Editable text: Useful services and everyday visits"/>
          <p:cNvSpPr txBox="1"/>
          <p:nvPr/>
        </p:nvSpPr>
        <p:spPr>
          <a:xfrm>
            <a:off x="3829478" y="4015901"/>
            <a:ext cx="3450145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Useful services and everyday visits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63523" y="4454842"/>
            <a:ext cx="5135357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7" name="Editable text: Functional tenants that support local routines"/>
          <p:cNvSpPr txBox="1"/>
          <p:nvPr/>
        </p:nvSpPr>
        <p:spPr>
          <a:xfrm>
            <a:off x="8964691" y="4015901"/>
            <a:ext cx="4358973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Functional tenants that support local routines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54842"/>
            <a:ext cx="2896790" cy="617220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31520" y="5072062"/>
            <a:ext cx="289679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0" name="Editable text: Nagoya Hill"/>
          <p:cNvSpPr txBox="1"/>
          <p:nvPr/>
        </p:nvSpPr>
        <p:spPr>
          <a:xfrm>
            <a:off x="932688" y="4573714"/>
            <a:ext cx="2494454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Nagoya Hill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28310" y="4454842"/>
            <a:ext cx="5135213" cy="617220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628310" y="5072062"/>
            <a:ext cx="5135213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3" name="Editable text: Several visit missions"/>
          <p:cNvSpPr txBox="1"/>
          <p:nvPr/>
        </p:nvSpPr>
        <p:spPr>
          <a:xfrm>
            <a:off x="3829478" y="4633121"/>
            <a:ext cx="2184558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Several visit missions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63523" y="4454842"/>
            <a:ext cx="5135356" cy="617220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763523" y="5072062"/>
            <a:ext cx="5135357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6" name="Editable text: A balanced mix of necessity and leisure"/>
          <p:cNvSpPr txBox="1"/>
          <p:nvPr/>
        </p:nvSpPr>
        <p:spPr>
          <a:xfrm>
            <a:off x="8964691" y="4633121"/>
            <a:ext cx="3880056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A balanced mix of necessity and leisure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5689282"/>
            <a:ext cx="289679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8" name="Editable text: Grand Batam"/>
          <p:cNvSpPr txBox="1"/>
          <p:nvPr/>
        </p:nvSpPr>
        <p:spPr>
          <a:xfrm>
            <a:off x="932688" y="5190934"/>
            <a:ext cx="2494454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Grand Batam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28310" y="5689282"/>
            <a:ext cx="5135213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0" name="Editable text: Brand discovery and category breadth"/>
          <p:cNvSpPr txBox="1"/>
          <p:nvPr/>
        </p:nvSpPr>
        <p:spPr>
          <a:xfrm>
            <a:off x="3829478" y="5250341"/>
            <a:ext cx="3730466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Brand discovery and category breadth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63523" y="5689282"/>
            <a:ext cx="5135357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2" name="Editable text: Selective anchors with customer relevance"/>
          <p:cNvSpPr txBox="1"/>
          <p:nvPr/>
        </p:nvSpPr>
        <p:spPr>
          <a:xfrm>
            <a:off x="8964691" y="5250341"/>
            <a:ext cx="4151804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Selective anchors with customer relevance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689282"/>
            <a:ext cx="2896790" cy="617220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31520" y="6306502"/>
            <a:ext cx="289679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5" name="Editable text: Mega Mall"/>
          <p:cNvSpPr txBox="1"/>
          <p:nvPr/>
        </p:nvSpPr>
        <p:spPr>
          <a:xfrm>
            <a:off x="932688" y="5808154"/>
            <a:ext cx="2494454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Mega Mall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28310" y="5689282"/>
            <a:ext cx="5135213" cy="617220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3628310" y="6306502"/>
            <a:ext cx="5135213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8" name="Editable text: Convenient tourism access"/>
          <p:cNvSpPr txBox="1"/>
          <p:nvPr/>
        </p:nvSpPr>
        <p:spPr>
          <a:xfrm>
            <a:off x="3829478" y="5867561"/>
            <a:ext cx="2701051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Convenient tourism access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63523" y="5689282"/>
            <a:ext cx="5135356" cy="617220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763523" y="6306502"/>
            <a:ext cx="5135357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1" name="Editable text: Transport and distribution partnerships"/>
          <p:cNvSpPr txBox="1"/>
          <p:nvPr/>
        </p:nvSpPr>
        <p:spPr>
          <a:xfrm>
            <a:off x="8964691" y="5867561"/>
            <a:ext cx="3771471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Transport and distribution partnerships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31520" y="6923722"/>
            <a:ext cx="289679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3" name="Editable text: K Square"/>
          <p:cNvSpPr txBox="1"/>
          <p:nvPr/>
        </p:nvSpPr>
        <p:spPr>
          <a:xfrm>
            <a:off x="932688" y="6425374"/>
            <a:ext cx="2494454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K Square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628310" y="6923722"/>
            <a:ext cx="5135213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5" name="Editable text: Changing event content"/>
          <p:cNvSpPr txBox="1"/>
          <p:nvPr/>
        </p:nvSpPr>
        <p:spPr>
          <a:xfrm>
            <a:off x="3829478" y="6484781"/>
            <a:ext cx="2395585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Changing event content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763523" y="6923722"/>
            <a:ext cx="5135357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7" name="Editable text: A managed calendar for The Veranda"/>
          <p:cNvSpPr txBox="1"/>
          <p:nvPr/>
        </p:nvSpPr>
        <p:spPr>
          <a:xfrm>
            <a:off x="8964691" y="6484781"/>
            <a:ext cx="3684031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A managed calendar for The Veranda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6923722"/>
            <a:ext cx="2896790" cy="617220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731520" y="7540942"/>
            <a:ext cx="289679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0" name="Editable text: One Batam"/>
          <p:cNvSpPr txBox="1"/>
          <p:nvPr/>
        </p:nvSpPr>
        <p:spPr>
          <a:xfrm>
            <a:off x="932688" y="7042594"/>
            <a:ext cx="2494454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One Batam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28310" y="6923722"/>
            <a:ext cx="5135213" cy="617220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628310" y="7540942"/>
            <a:ext cx="5135213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3" name="Editable text: Specialist community participation"/>
          <p:cNvSpPr txBox="1"/>
          <p:nvPr/>
        </p:nvSpPr>
        <p:spPr>
          <a:xfrm>
            <a:off x="3829478" y="7102001"/>
            <a:ext cx="3355990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Specialist community participation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63523" y="6923722"/>
            <a:ext cx="5135356" cy="617220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8763523" y="7540942"/>
            <a:ext cx="5135357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6" name="Editable text: Tenants with recurring activities"/>
          <p:cNvSpPr txBox="1"/>
          <p:nvPr/>
        </p:nvSpPr>
        <p:spPr>
          <a:xfrm>
            <a:off x="8964691" y="7102001"/>
            <a:ext cx="3104245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Tenants with recurring activities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8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59" name="Editable text: DESTINATION &amp; MARKET"/>
          <p:cNvSpPr txBox="1"/>
          <p:nvPr/>
        </p:nvSpPr>
        <p:spPr>
          <a:xfrm>
            <a:off x="12414123" y="273405"/>
            <a:ext cx="1667637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61" name="Editable text: DESTINATION &amp; MARKET"/>
          <p:cNvSpPr txBox="1"/>
          <p:nvPr/>
        </p:nvSpPr>
        <p:spPr>
          <a:xfrm>
            <a:off x="731520" y="7891272"/>
            <a:ext cx="148618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62" name="Editable text: SOURCE: KALINDO PROJECT (1).PDF / 09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KALINDO’S COMPETITIVE OPPORTUNITY"/>
          <p:cNvSpPr txBox="1"/>
          <p:nvPr/>
        </p:nvSpPr>
        <p:spPr>
          <a:xfrm>
            <a:off x="731520" y="911656"/>
            <a:ext cx="320897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DCE4D5"/>
                </a:solidFill>
                <a:latin typeface="Arial"/>
              </a:rPr>
              <a:t>KALINDO’S COMPETITIVE OPPORTUNITY</a:t>
            </a:r>
          </a:p>
        </p:txBody>
      </p:sp>
      <p:sp>
        <p:nvSpPr>
          <p:cNvPr id="3" name="Editable text: A CONNECTED DAY IN BATAM"/>
          <p:cNvSpPr txBox="1"/>
          <p:nvPr/>
        </p:nvSpPr>
        <p:spPr>
          <a:xfrm>
            <a:off x="731520" y="1070762"/>
            <a:ext cx="13167360" cy="1001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F4F1E8"/>
                </a:solidFill>
                <a:latin typeface="Georgia"/>
              </a:rPr>
              <a:t>A CONNECTED DAY IN BATAM</a:t>
            </a:r>
          </a:p>
        </p:txBody>
      </p:sp>
      <p:sp>
        <p:nvSpPr>
          <p:cNvPr id="4" name="Editable text: Kalindo can bring everyday utility, culinary discovery, family pa"/>
          <p:cNvSpPr txBox="1"/>
          <p:nvPr/>
        </p:nvSpPr>
        <p:spPr>
          <a:xfrm>
            <a:off x="731520" y="2053742"/>
            <a:ext cx="6585823" cy="9325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Kalindo can bring everyday utility, culinary discovery, family participation and hospitality together around a recognisable public heart.</a:t>
            </a:r>
          </a:p>
        </p:txBody>
      </p:sp>
      <p:sp>
        <p:nvSpPr>
          <p:cNvPr id="5" name="Editable text: The opportunity lies in making movement between these activities "/>
          <p:cNvSpPr txBox="1"/>
          <p:nvPr/>
        </p:nvSpPr>
        <p:spPr>
          <a:xfrm>
            <a:off x="731520" y="3203886"/>
            <a:ext cx="6585823" cy="625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The opportunity lies in making movement between these activities comfortable and worthwhile.</a:t>
            </a:r>
          </a:p>
        </p:txBody>
      </p:sp>
      <p:sp>
        <p:nvSpPr>
          <p:cNvPr id="6" name="Editable text: The proposed advantage"/>
          <p:cNvSpPr txBox="1"/>
          <p:nvPr/>
        </p:nvSpPr>
        <p:spPr>
          <a:xfrm>
            <a:off x="731520" y="4026731"/>
            <a:ext cx="2025253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DCE4D5"/>
                </a:solidFill>
                <a:latin typeface="Arial"/>
              </a:rPr>
              <a:t>The proposed advantage</a:t>
            </a:r>
          </a:p>
        </p:txBody>
      </p:sp>
      <p:sp>
        <p:nvSpPr>
          <p:cNvPr id="7" name="Editable text: Useful enough for regular local visits."/>
          <p:cNvSpPr txBox="1"/>
          <p:nvPr/>
        </p:nvSpPr>
        <p:spPr>
          <a:xfrm>
            <a:off x="941832" y="4449184"/>
            <a:ext cx="3771900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Useful enough for regular local visits.</a:t>
            </a:r>
          </a:p>
        </p:txBody>
      </p:sp>
      <p:sp>
        <p:nvSpPr>
          <p:cNvPr id="8" name="Editable text: Distinctive enough for culinary and leisure discovery."/>
          <p:cNvSpPr txBox="1"/>
          <p:nvPr/>
        </p:nvSpPr>
        <p:spPr>
          <a:xfrm>
            <a:off x="941832" y="4884381"/>
            <a:ext cx="5269658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Distinctive enough for culinary and leisure discovery.</a:t>
            </a:r>
          </a:p>
        </p:txBody>
      </p:sp>
      <p:sp>
        <p:nvSpPr>
          <p:cNvPr id="9" name="Editable text: Comfortable enough to extend time spent."/>
          <p:cNvSpPr txBox="1"/>
          <p:nvPr/>
        </p:nvSpPr>
        <p:spPr>
          <a:xfrm>
            <a:off x="941832" y="5319579"/>
            <a:ext cx="4254103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Comfortable enough to extend time spent.</a:t>
            </a:r>
          </a:p>
        </p:txBody>
      </p:sp>
      <p:sp>
        <p:nvSpPr>
          <p:cNvPr id="10" name="Editable text: Organised enough to support events and regional packages."/>
          <p:cNvSpPr txBox="1"/>
          <p:nvPr/>
        </p:nvSpPr>
        <p:spPr>
          <a:xfrm>
            <a:off x="941832" y="5754776"/>
            <a:ext cx="6046755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Organised enough to support events and regional packages.</a:t>
            </a:r>
          </a:p>
        </p:txBody>
      </p:sp>
      <p:pic>
        <p:nvPicPr>
          <p:cNvPr id="11" name="Replaceable photo: slide-9-promenide-2.jpg" descr="slide-9-promenide-2.jpg"/>
          <p:cNvPicPr>
            <a:picLocks noChangeAspect="1"/>
          </p:cNvPicPr>
          <p:nvPr/>
        </p:nvPicPr>
        <p:blipFill>
          <a:blip r:embed="rId2"/>
          <a:srcRect l="14770" r="14770"/>
          <a:stretch>
            <a:fillRect/>
          </a:stretch>
        </p:blipFill>
        <p:spPr>
          <a:xfrm>
            <a:off x="7911703" y="2039112"/>
            <a:ext cx="5987176" cy="478231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911703" y="6556248"/>
            <a:ext cx="5987176" cy="265176"/>
          </a:xfrm>
          <a:prstGeom prst="rect">
            <a:avLst/>
          </a:prstGeom>
          <a:solidFill>
            <a:srgbClr val="183D32">
              <a:alpha val="9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Editable text: SUPPLIED CONCEPT VISUAL · APPROVAL STATUS UNVERIFIED"/>
          <p:cNvSpPr txBox="1"/>
          <p:nvPr/>
        </p:nvSpPr>
        <p:spPr>
          <a:xfrm>
            <a:off x="8039719" y="6639458"/>
            <a:ext cx="3136392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72">
                <a:solidFill>
                  <a:srgbClr val="F4F1E8"/>
                </a:solidFill>
                <a:latin typeface="Arial"/>
              </a:rPr>
              <a:t>SUPPLIED CONCEPT VISUAL · APPROVAL STATUS UNVERIFIED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5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F4F1E8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16" name="Editable text: DESTINATION &amp; MARKET"/>
          <p:cNvSpPr txBox="1"/>
          <p:nvPr/>
        </p:nvSpPr>
        <p:spPr>
          <a:xfrm>
            <a:off x="12414123" y="273405"/>
            <a:ext cx="1667637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F4F1E8"/>
                </a:solidFill>
                <a:latin typeface="Arial"/>
              </a:rPr>
              <a:t>DESTINATION &amp; MARKET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354A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F4F1E8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19" name="Editable text: Visual: Visitor journeys yang bertemu di The Veranda."/>
          <p:cNvSpPr txBox="1"/>
          <p:nvPr/>
        </p:nvSpPr>
        <p:spPr>
          <a:xfrm>
            <a:off x="896112" y="7287853"/>
            <a:ext cx="3659314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F4F1E8"/>
                </a:solidFill>
                <a:latin typeface="Arial"/>
              </a:rPr>
              <a:t>Visual: Visitor journeys yang bertemu di The Veranda.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21" name="Editable text: DESTINATION &amp; MARKET"/>
          <p:cNvSpPr txBox="1"/>
          <p:nvPr/>
        </p:nvSpPr>
        <p:spPr>
          <a:xfrm>
            <a:off x="731520" y="7891272"/>
            <a:ext cx="148618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F4F1E8"/>
                </a:solidFill>
                <a:latin typeface="Arial"/>
              </a:rPr>
              <a:t>DESTINATION &amp; MARKET</a:t>
            </a:r>
          </a:p>
        </p:txBody>
      </p:sp>
      <p:sp>
        <p:nvSpPr>
          <p:cNvPr id="22" name="Editable text: SOURCE: KALINDO PROJECT (1).PDF / 10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F4F1E8"/>
                </a:solidFill>
                <a:latin typeface="Arial"/>
              </a:rPr>
              <a:t>SOURCE: KALINDO PROJECT (1).PDF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REMAINING MARKET VALIDATION"/>
          <p:cNvSpPr txBox="1"/>
          <p:nvPr/>
        </p:nvSpPr>
        <p:spPr>
          <a:xfrm>
            <a:off x="731520" y="911656"/>
            <a:ext cx="265933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REMAINING MARKET VALIDATION</a:t>
            </a:r>
          </a:p>
        </p:txBody>
      </p:sp>
      <p:sp>
        <p:nvSpPr>
          <p:cNvPr id="3" name="Editable text: PUBLIC RESEARCH ESTABLISHES THE DIRECTION. FIELDWORK TESTS THE EC"/>
          <p:cNvSpPr txBox="1"/>
          <p:nvPr/>
        </p:nvSpPr>
        <p:spPr>
          <a:xfrm>
            <a:off x="731520" y="1075334"/>
            <a:ext cx="12603432" cy="14397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43"/>
              </a:lnSpc>
              <a:spcBef>
                <a:spcPts val="0"/>
              </a:spcBef>
              <a:spcAft>
                <a:spcPts val="0"/>
              </a:spcAft>
            </a:pPr>
            <a:r>
              <a:rPr sz="3654" b="0" spc="-72">
                <a:solidFill>
                  <a:srgbClr val="183D32"/>
                </a:solidFill>
                <a:latin typeface="Georgia"/>
              </a:rPr>
              <a:t>PUBLIC RESEARCH ESTABLISHES THE DIRECTION. FIELDWORK TESTS THE ECONOMICS.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05456"/>
            <a:ext cx="658368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text: Question"/>
          <p:cNvSpPr txBox="1"/>
          <p:nvPr/>
        </p:nvSpPr>
        <p:spPr>
          <a:xfrm>
            <a:off x="932688" y="2637129"/>
            <a:ext cx="840962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505456"/>
            <a:ext cx="658368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text: Required evidence"/>
          <p:cNvSpPr txBox="1"/>
          <p:nvPr/>
        </p:nvSpPr>
        <p:spPr>
          <a:xfrm>
            <a:off x="7516368" y="2637129"/>
            <a:ext cx="1553908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Required evidence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621024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9" name="Editable text: Which periods need stronger demand?"/>
          <p:cNvSpPr txBox="1"/>
          <p:nvPr/>
        </p:nvSpPr>
        <p:spPr>
          <a:xfrm>
            <a:off x="960120" y="3132277"/>
            <a:ext cx="4431411" cy="357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905" b="0">
                <a:solidFill>
                  <a:srgbClr val="183D32"/>
                </a:solidFill>
                <a:latin typeface="Arial"/>
              </a:rPr>
              <a:t>Which periods need stronger demand?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0" y="3621024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1" name="Editable text: Comparable weekday/weekend observations"/>
          <p:cNvSpPr txBox="1"/>
          <p:nvPr/>
        </p:nvSpPr>
        <p:spPr>
          <a:xfrm>
            <a:off x="7543800" y="3140964"/>
            <a:ext cx="4707874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292D29"/>
                </a:solidFill>
                <a:latin typeface="Arial"/>
              </a:rPr>
              <a:t>Comparable weekday/weekend observations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21024"/>
            <a:ext cx="6583680" cy="672084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31520" y="4293108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4" name="Editable text: Which categories remain underserved?"/>
          <p:cNvSpPr txBox="1"/>
          <p:nvPr/>
        </p:nvSpPr>
        <p:spPr>
          <a:xfrm>
            <a:off x="960120" y="3804361"/>
            <a:ext cx="4472130" cy="357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905" b="0">
                <a:solidFill>
                  <a:srgbClr val="183D32"/>
                </a:solidFill>
                <a:latin typeface="Arial"/>
              </a:rPr>
              <a:t>Which categories remain underserved?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621024"/>
            <a:ext cx="6583680" cy="672084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315200" y="4293108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7" name="Editable text: Customer interviews and operator feedback"/>
          <p:cNvSpPr txBox="1"/>
          <p:nvPr/>
        </p:nvSpPr>
        <p:spPr>
          <a:xfrm>
            <a:off x="7543800" y="3813048"/>
            <a:ext cx="4592859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292D29"/>
                </a:solidFill>
                <a:latin typeface="Arial"/>
              </a:rPr>
              <a:t>Customer interviews and operator feedback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4965192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9" name="Editable text: Which tenants can perform here?"/>
          <p:cNvSpPr txBox="1"/>
          <p:nvPr/>
        </p:nvSpPr>
        <p:spPr>
          <a:xfrm>
            <a:off x="960120" y="4476445"/>
            <a:ext cx="3814619" cy="357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905" b="0">
                <a:solidFill>
                  <a:srgbClr val="183D32"/>
                </a:solidFill>
                <a:latin typeface="Arial"/>
              </a:rPr>
              <a:t>Which tenants can perform here?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0" y="4965192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1" name="Editable text: Catchment assessment and sounding"/>
          <p:cNvSpPr txBox="1"/>
          <p:nvPr/>
        </p:nvSpPr>
        <p:spPr>
          <a:xfrm>
            <a:off x="7543800" y="4485132"/>
            <a:ext cx="3999214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292D29"/>
                </a:solidFill>
                <a:latin typeface="Arial"/>
              </a:rPr>
              <a:t>Catchment assessment and sounding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65192"/>
            <a:ext cx="6583680" cy="672084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31520" y="5637276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4" name="Editable text: What rents are achievable?"/>
          <p:cNvSpPr txBox="1"/>
          <p:nvPr/>
        </p:nvSpPr>
        <p:spPr>
          <a:xfrm>
            <a:off x="960120" y="5148529"/>
            <a:ext cx="3154680" cy="357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905" b="0">
                <a:solidFill>
                  <a:srgbClr val="183D32"/>
                </a:solidFill>
                <a:latin typeface="Arial"/>
              </a:rPr>
              <a:t>What rents are achievable?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4965192"/>
            <a:ext cx="6583680" cy="672084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7315200" y="5637276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7" name="Editable text: Comparable terms and operator responses"/>
          <p:cNvSpPr txBox="1"/>
          <p:nvPr/>
        </p:nvSpPr>
        <p:spPr>
          <a:xfrm>
            <a:off x="7543800" y="5157216"/>
            <a:ext cx="4526137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292D29"/>
                </a:solidFill>
                <a:latin typeface="Arial"/>
              </a:rPr>
              <a:t>Comparable terms and operator responses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6309360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9" name="Editable text: Which regional offers are bookable?"/>
          <p:cNvSpPr txBox="1"/>
          <p:nvPr/>
        </p:nvSpPr>
        <p:spPr>
          <a:xfrm>
            <a:off x="960120" y="5820613"/>
            <a:ext cx="4112942" cy="357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905" b="0">
                <a:solidFill>
                  <a:srgbClr val="183D32"/>
                </a:solidFill>
                <a:latin typeface="Arial"/>
              </a:rPr>
              <a:t>Which regional offers are bookable?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0" y="6309360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1" name="Editable text: Travel/hotel partner discussions"/>
          <p:cNvSpPr txBox="1"/>
          <p:nvPr/>
        </p:nvSpPr>
        <p:spPr>
          <a:xfrm>
            <a:off x="7543800" y="5829300"/>
            <a:ext cx="3381708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292D29"/>
                </a:solidFill>
                <a:latin typeface="Arial"/>
              </a:rPr>
              <a:t>Travel/hotel partner discussions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309360"/>
            <a:ext cx="6583680" cy="672084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31520" y="6981444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4" name="Editable text: What sustains occupancy?"/>
          <p:cNvSpPr txBox="1"/>
          <p:nvPr/>
        </p:nvSpPr>
        <p:spPr>
          <a:xfrm>
            <a:off x="960120" y="6492697"/>
            <a:ext cx="3113246" cy="357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sz="1905" b="0">
                <a:solidFill>
                  <a:srgbClr val="183D32"/>
                </a:solidFill>
                <a:latin typeface="Arial"/>
              </a:rPr>
              <a:t>What sustains occupancy?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6309360"/>
            <a:ext cx="6583680" cy="672084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7315200" y="6981444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7" name="Editable text: Vacancy, turnover and lease-renewal evidence"/>
          <p:cNvSpPr txBox="1"/>
          <p:nvPr/>
        </p:nvSpPr>
        <p:spPr>
          <a:xfrm>
            <a:off x="7543800" y="6501384"/>
            <a:ext cx="4887610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292D29"/>
                </a:solidFill>
                <a:latin typeface="Arial"/>
              </a:rPr>
              <a:t>Vacancy, turnover and lease-renewal evidence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9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40" name="Editable text: DESTINATION &amp; MARKET"/>
          <p:cNvSpPr txBox="1"/>
          <p:nvPr/>
        </p:nvSpPr>
        <p:spPr>
          <a:xfrm>
            <a:off x="12414123" y="273405"/>
            <a:ext cx="1667637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2" name="Editable text: DESTINATION &amp; MARKET"/>
          <p:cNvSpPr txBox="1"/>
          <p:nvPr/>
        </p:nvSpPr>
        <p:spPr>
          <a:xfrm>
            <a:off x="731520" y="7891272"/>
            <a:ext cx="1486185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DESTINATION &amp; MARKET</a:t>
            </a:r>
          </a:p>
        </p:txBody>
      </p:sp>
      <p:sp>
        <p:nvSpPr>
          <p:cNvPr id="43" name="Editable text: SOURCE: KALINDO PROJECT (1).PDF / 11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BRAND POSITIONING"/>
          <p:cNvSpPr txBox="1"/>
          <p:nvPr/>
        </p:nvSpPr>
        <p:spPr>
          <a:xfrm>
            <a:off x="731520" y="911656"/>
            <a:ext cx="1762220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BRAND POSITIONING</a:t>
            </a:r>
          </a:p>
        </p:txBody>
      </p:sp>
      <p:sp>
        <p:nvSpPr>
          <p:cNvPr id="3" name="Editable text: BATAM’S TROPICAL LIFESTYLE DISTRICT"/>
          <p:cNvSpPr txBox="1"/>
          <p:nvPr/>
        </p:nvSpPr>
        <p:spPr>
          <a:xfrm>
            <a:off x="731520" y="1070762"/>
            <a:ext cx="13167360" cy="1001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BATAM’S TROPICAL LIFESTYLE DISTRICT</a:t>
            </a:r>
          </a:p>
        </p:txBody>
      </p:sp>
      <p:sp>
        <p:nvSpPr>
          <p:cNvPr id="4" name="Editable text: For Batam residents and regional leisure visitors, this place bri"/>
          <p:cNvSpPr txBox="1"/>
          <p:nvPr/>
        </p:nvSpPr>
        <p:spPr>
          <a:xfrm>
            <a:off x="731520" y="2061057"/>
            <a:ext cx="6386226" cy="1342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0"/>
              </a:lnSpc>
              <a:spcBef>
                <a:spcPts val="0"/>
              </a:spcBef>
              <a:spcAft>
                <a:spcPts val="0"/>
              </a:spcAft>
            </a:pPr>
            <a:r>
              <a:rPr sz="1834" b="0">
                <a:solidFill>
                  <a:srgbClr val="292D29"/>
                </a:solidFill>
                <a:latin typeface="Arial"/>
              </a:rPr>
              <a:t>For Batam residents and regional leisure visitors, this place brings everyday essentials, culinary discovery, family experiences and hospitality into a comfortable, walkable setting centred on The Veranda.</a:t>
            </a:r>
          </a:p>
        </p:txBody>
      </p:sp>
      <p:sp>
        <p:nvSpPr>
          <p:cNvPr id="5" name="Editable text: Working market position"/>
          <p:cNvSpPr txBox="1"/>
          <p:nvPr/>
        </p:nvSpPr>
        <p:spPr>
          <a:xfrm>
            <a:off x="731520" y="3684689"/>
            <a:ext cx="1976675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Working market position</a:t>
            </a:r>
          </a:p>
        </p:txBody>
      </p:sp>
      <p:sp>
        <p:nvSpPr>
          <p:cNvPr id="6" name="Editable text: Middle-to-upper lifestyle with welcoming service and a considered"/>
          <p:cNvSpPr txBox="1"/>
          <p:nvPr/>
        </p:nvSpPr>
        <p:spPr>
          <a:xfrm>
            <a:off x="731520" y="3995585"/>
            <a:ext cx="6286500" cy="677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0"/>
              </a:lnSpc>
              <a:spcBef>
                <a:spcPts val="0"/>
              </a:spcBef>
              <a:spcAft>
                <a:spcPts val="0"/>
              </a:spcAft>
            </a:pPr>
            <a:r>
              <a:rPr sz="1834" b="0">
                <a:solidFill>
                  <a:srgbClr val="292D29"/>
                </a:solidFill>
                <a:latin typeface="Arial"/>
              </a:rPr>
              <a:t>Middle-to-upper lifestyle with welcoming service and a considered range of prices.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959191"/>
            <a:ext cx="6286500" cy="1874519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text: Brand promise"/>
          <p:cNvSpPr txBox="1"/>
          <p:nvPr/>
        </p:nvSpPr>
        <p:spPr>
          <a:xfrm>
            <a:off x="987552" y="5209736"/>
            <a:ext cx="126358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Brand promise</a:t>
            </a:r>
          </a:p>
        </p:txBody>
      </p:sp>
      <p:sp>
        <p:nvSpPr>
          <p:cNvPr id="9" name="Editable text: More to discover. More reasons to stay."/>
          <p:cNvSpPr txBox="1"/>
          <p:nvPr/>
        </p:nvSpPr>
        <p:spPr>
          <a:xfrm>
            <a:off x="987552" y="5460282"/>
            <a:ext cx="5900308" cy="12518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28"/>
              </a:lnSpc>
              <a:spcBef>
                <a:spcPts val="0"/>
              </a:spcBef>
              <a:spcAft>
                <a:spcPts val="0"/>
              </a:spcAft>
            </a:pPr>
            <a:r>
              <a:rPr sz="2842" b="0">
                <a:solidFill>
                  <a:srgbClr val="183D32"/>
                </a:solidFill>
                <a:latin typeface="Georgia"/>
              </a:rPr>
              <a:t>More to discover. More reasons to stay.</a:t>
            </a:r>
          </a:p>
        </p:txBody>
      </p:sp>
      <p:pic>
        <p:nvPicPr>
          <p:cNvPr id="10" name="Replaceable photo: slide-4-tropica.jpg" descr="slide-4-tropica.jpg"/>
          <p:cNvPicPr>
            <a:picLocks noChangeAspect="1"/>
          </p:cNvPicPr>
          <p:nvPr/>
        </p:nvPicPr>
        <p:blipFill>
          <a:blip r:embed="rId2"/>
          <a:srcRect l="15413" r="15413"/>
          <a:stretch>
            <a:fillRect/>
          </a:stretch>
        </p:blipFill>
        <p:spPr>
          <a:xfrm>
            <a:off x="7612379" y="2039112"/>
            <a:ext cx="6286500" cy="51146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12379" y="6888575"/>
            <a:ext cx="6286500" cy="265176"/>
          </a:xfrm>
          <a:prstGeom prst="rect">
            <a:avLst/>
          </a:prstGeom>
          <a:solidFill>
            <a:srgbClr val="183D32">
              <a:alpha val="9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Editable text: SUPPLIED CONCEPT VISUAL · APPROVAL STATUS UNVERIFIED"/>
          <p:cNvSpPr txBox="1"/>
          <p:nvPr/>
        </p:nvSpPr>
        <p:spPr>
          <a:xfrm>
            <a:off x="7740396" y="6971785"/>
            <a:ext cx="3136392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72">
                <a:solidFill>
                  <a:srgbClr val="F4F1E8"/>
                </a:solidFill>
                <a:latin typeface="Arial"/>
              </a:rPr>
              <a:t>SUPPLIED CONCEPT VISUAL · APPROVAL STATUS UNVERIFIED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4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15" name="Editable text: POSITIONING &amp; TENANT STRATEGY"/>
          <p:cNvSpPr txBox="1"/>
          <p:nvPr/>
        </p:nvSpPr>
        <p:spPr>
          <a:xfrm>
            <a:off x="11751468" y="273405"/>
            <a:ext cx="2330291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18" name="Editable text: Catatan: Bobot sport, wellness, grocery dan entertainment tetap m"/>
          <p:cNvSpPr txBox="1"/>
          <p:nvPr/>
        </p:nvSpPr>
        <p:spPr>
          <a:xfrm>
            <a:off x="896112" y="7287853"/>
            <a:ext cx="5990605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Catatan: Bobot sport, wellness, grocery dan entertainment tetap mengikuti hasil sounding.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0" name="Editable text: POSITIONING &amp; TENANT STRATEGY"/>
          <p:cNvSpPr txBox="1"/>
          <p:nvPr/>
        </p:nvSpPr>
        <p:spPr>
          <a:xfrm>
            <a:off x="731520" y="7891272"/>
            <a:ext cx="206768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21" name="Editable text: SOURCE: KALINDO PROJECT (1).PDF / 12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COMPETITIVE PROPOSITION"/>
          <p:cNvSpPr txBox="1"/>
          <p:nvPr/>
        </p:nvSpPr>
        <p:spPr>
          <a:xfrm>
            <a:off x="731520" y="911656"/>
            <a:ext cx="2299430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DCE4D5"/>
                </a:solidFill>
                <a:latin typeface="Arial"/>
              </a:rPr>
              <a:t>COMPETITIVE PROPOSITION</a:t>
            </a:r>
          </a:p>
        </p:txBody>
      </p:sp>
      <p:sp>
        <p:nvSpPr>
          <p:cNvPr id="3" name="Editable text: EVERYDAY RELEVANCE. SHARED EXPERIENCES."/>
          <p:cNvSpPr txBox="1"/>
          <p:nvPr/>
        </p:nvSpPr>
        <p:spPr>
          <a:xfrm>
            <a:off x="731520" y="1070762"/>
            <a:ext cx="13316378" cy="1001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F4F1E8"/>
                </a:solidFill>
                <a:latin typeface="Georgia"/>
              </a:rPr>
              <a:t>EVERYDAY RELEVANCE. SHARED EXPERIENCES.</a:t>
            </a:r>
          </a:p>
        </p:txBody>
      </p:sp>
      <p:pic>
        <p:nvPicPr>
          <p:cNvPr id="4" name="Replaceable photo: slide-4-tropica.jpg" descr="slide-4-tropica.jpg"/>
          <p:cNvPicPr>
            <a:picLocks noChangeAspect="1"/>
          </p:cNvPicPr>
          <p:nvPr/>
        </p:nvPicPr>
        <p:blipFill>
          <a:blip r:embed="rId2"/>
          <a:srcRect l="13763" r="13763"/>
          <a:stretch>
            <a:fillRect/>
          </a:stretch>
        </p:blipFill>
        <p:spPr>
          <a:xfrm>
            <a:off x="731520" y="2039112"/>
            <a:ext cx="3120390" cy="2423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4206240"/>
            <a:ext cx="3120390" cy="256032"/>
          </a:xfrm>
          <a:prstGeom prst="rect">
            <a:avLst/>
          </a:prstGeom>
          <a:solidFill>
            <a:srgbClr val="183D32">
              <a:alpha val="9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text: SUPPLIED CONCEPT VISUAL · APPROVAL STATUS UNVERIFIED"/>
          <p:cNvSpPr txBox="1"/>
          <p:nvPr/>
        </p:nvSpPr>
        <p:spPr>
          <a:xfrm>
            <a:off x="859536" y="4290364"/>
            <a:ext cx="2861071" cy="106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91"/>
              </a:lnSpc>
              <a:spcBef>
                <a:spcPts val="0"/>
              </a:spcBef>
              <a:spcAft>
                <a:spcPts val="0"/>
              </a:spcAft>
            </a:pPr>
            <a:r>
              <a:rPr sz="564" b="0" spc="72">
                <a:solidFill>
                  <a:srgbClr val="F4F1E8"/>
                </a:solidFill>
                <a:latin typeface="Arial"/>
              </a:rPr>
              <a:t>SUPPLIED CONCEPT VISUAL · APPROVAL STATUS UNVERIFIED</a:t>
            </a:r>
          </a:p>
        </p:txBody>
      </p:sp>
      <p:sp>
        <p:nvSpPr>
          <p:cNvPr id="7" name="Editable text: 01"/>
          <p:cNvSpPr txBox="1"/>
          <p:nvPr/>
        </p:nvSpPr>
        <p:spPr>
          <a:xfrm>
            <a:off x="731520" y="4642408"/>
            <a:ext cx="35175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44">
                <a:solidFill>
                  <a:srgbClr val="DCE4D5"/>
                </a:solidFill>
                <a:latin typeface="Arial"/>
              </a:rPr>
              <a:t>01</a:t>
            </a:r>
          </a:p>
        </p:txBody>
      </p:sp>
      <p:sp>
        <p:nvSpPr>
          <p:cNvPr id="8" name="Editable text: Everyday tenants create dependable reasons to visit."/>
          <p:cNvSpPr txBox="1"/>
          <p:nvPr/>
        </p:nvSpPr>
        <p:spPr>
          <a:xfrm>
            <a:off x="731520" y="4854549"/>
            <a:ext cx="3181969" cy="1209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78"/>
              </a:lnSpc>
              <a:spcBef>
                <a:spcPts val="0"/>
              </a:spcBef>
              <a:spcAft>
                <a:spcPts val="0"/>
              </a:spcAft>
            </a:pPr>
            <a:r>
              <a:rPr sz="2098" b="0">
                <a:solidFill>
                  <a:srgbClr val="F4F1E8"/>
                </a:solidFill>
                <a:latin typeface="Georgia"/>
              </a:rPr>
              <a:t>Everyday tenants create dependable reasons to visit.</a:t>
            </a:r>
          </a:p>
        </p:txBody>
      </p:sp>
      <p:pic>
        <p:nvPicPr>
          <p:cNvPr id="9" name="Replaceable photo: slide-19-event.jpg" descr="slide-19-event.jpg"/>
          <p:cNvPicPr>
            <a:picLocks noChangeAspect="1"/>
          </p:cNvPicPr>
          <p:nvPr/>
        </p:nvPicPr>
        <p:blipFill>
          <a:blip r:embed="rId3"/>
          <a:srcRect l="13763" r="13763"/>
          <a:stretch>
            <a:fillRect/>
          </a:stretch>
        </p:blipFill>
        <p:spPr>
          <a:xfrm>
            <a:off x="4080510" y="2039112"/>
            <a:ext cx="3120390" cy="24231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080510" y="4206240"/>
            <a:ext cx="3120390" cy="256032"/>
          </a:xfrm>
          <a:prstGeom prst="rect">
            <a:avLst/>
          </a:prstGeom>
          <a:solidFill>
            <a:srgbClr val="183D32">
              <a:alpha val="9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text: SUPPLIED CONCEPT VISUAL · APPROVAL STATUS UNVERIFIED"/>
          <p:cNvSpPr txBox="1"/>
          <p:nvPr/>
        </p:nvSpPr>
        <p:spPr>
          <a:xfrm>
            <a:off x="4208526" y="4290364"/>
            <a:ext cx="2861071" cy="106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91"/>
              </a:lnSpc>
              <a:spcBef>
                <a:spcPts val="0"/>
              </a:spcBef>
              <a:spcAft>
                <a:spcPts val="0"/>
              </a:spcAft>
            </a:pPr>
            <a:r>
              <a:rPr sz="564" b="0" spc="72">
                <a:solidFill>
                  <a:srgbClr val="F4F1E8"/>
                </a:solidFill>
                <a:latin typeface="Arial"/>
              </a:rPr>
              <a:t>SUPPLIED CONCEPT VISUAL · APPROVAL STATUS UNVERIFIED</a:t>
            </a:r>
          </a:p>
        </p:txBody>
      </p:sp>
      <p:sp>
        <p:nvSpPr>
          <p:cNvPr id="12" name="Editable text: 02"/>
          <p:cNvSpPr txBox="1"/>
          <p:nvPr/>
        </p:nvSpPr>
        <p:spPr>
          <a:xfrm>
            <a:off x="4080510" y="4642408"/>
            <a:ext cx="35175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44">
                <a:solidFill>
                  <a:srgbClr val="DCE4D5"/>
                </a:solidFill>
                <a:latin typeface="Arial"/>
              </a:rPr>
              <a:t>02</a:t>
            </a:r>
          </a:p>
        </p:txBody>
      </p:sp>
      <p:sp>
        <p:nvSpPr>
          <p:cNvPr id="13" name="Editable text: Culinary and leisure experiences encourage discovery."/>
          <p:cNvSpPr txBox="1"/>
          <p:nvPr/>
        </p:nvSpPr>
        <p:spPr>
          <a:xfrm>
            <a:off x="4080510" y="4854549"/>
            <a:ext cx="3120390" cy="1209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78"/>
              </a:lnSpc>
              <a:spcBef>
                <a:spcPts val="0"/>
              </a:spcBef>
              <a:spcAft>
                <a:spcPts val="0"/>
              </a:spcAft>
            </a:pPr>
            <a:r>
              <a:rPr sz="2098" b="0">
                <a:solidFill>
                  <a:srgbClr val="F4F1E8"/>
                </a:solidFill>
                <a:latin typeface="Georgia"/>
              </a:rPr>
              <a:t>Culinary and leisure experiences encourage discovery.</a:t>
            </a:r>
          </a:p>
        </p:txBody>
      </p:sp>
      <p:pic>
        <p:nvPicPr>
          <p:cNvPr id="14" name="Replaceable photo: slide-10-the-veranda.jpg" descr="slide-10-the-veranda.jpg"/>
          <p:cNvPicPr>
            <a:picLocks noChangeAspect="1"/>
          </p:cNvPicPr>
          <p:nvPr/>
        </p:nvPicPr>
        <p:blipFill>
          <a:blip r:embed="rId4"/>
          <a:srcRect l="13763" r="13763"/>
          <a:stretch>
            <a:fillRect/>
          </a:stretch>
        </p:blipFill>
        <p:spPr>
          <a:xfrm>
            <a:off x="7429500" y="2039112"/>
            <a:ext cx="3120390" cy="24231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429500" y="4206240"/>
            <a:ext cx="3120390" cy="256032"/>
          </a:xfrm>
          <a:prstGeom prst="rect">
            <a:avLst/>
          </a:prstGeom>
          <a:solidFill>
            <a:srgbClr val="183D32">
              <a:alpha val="9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Editable text: SUPPLIED CONCEPT VISUAL · APPROVAL STATUS UNVERIFIED"/>
          <p:cNvSpPr txBox="1"/>
          <p:nvPr/>
        </p:nvSpPr>
        <p:spPr>
          <a:xfrm>
            <a:off x="7557516" y="4290364"/>
            <a:ext cx="2861071" cy="106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91"/>
              </a:lnSpc>
              <a:spcBef>
                <a:spcPts val="0"/>
              </a:spcBef>
              <a:spcAft>
                <a:spcPts val="0"/>
              </a:spcAft>
            </a:pPr>
            <a:r>
              <a:rPr sz="564" b="0" spc="72">
                <a:solidFill>
                  <a:srgbClr val="F4F1E8"/>
                </a:solidFill>
                <a:latin typeface="Arial"/>
              </a:rPr>
              <a:t>SUPPLIED CONCEPT VISUAL · APPROVAL STATUS UNVERIFIED</a:t>
            </a:r>
          </a:p>
        </p:txBody>
      </p:sp>
      <p:sp>
        <p:nvSpPr>
          <p:cNvPr id="17" name="Editable text: 03"/>
          <p:cNvSpPr txBox="1"/>
          <p:nvPr/>
        </p:nvSpPr>
        <p:spPr>
          <a:xfrm>
            <a:off x="7429500" y="4642408"/>
            <a:ext cx="35175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44">
                <a:solidFill>
                  <a:srgbClr val="DCE4D5"/>
                </a:solidFill>
                <a:latin typeface="Arial"/>
              </a:rPr>
              <a:t>03</a:t>
            </a:r>
          </a:p>
        </p:txBody>
      </p:sp>
      <p:sp>
        <p:nvSpPr>
          <p:cNvPr id="18" name="Editable text: The Veranda brings people together through a changing calendar."/>
          <p:cNvSpPr txBox="1"/>
          <p:nvPr/>
        </p:nvSpPr>
        <p:spPr>
          <a:xfrm>
            <a:off x="7429500" y="4854549"/>
            <a:ext cx="3169253" cy="1209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78"/>
              </a:lnSpc>
              <a:spcBef>
                <a:spcPts val="0"/>
              </a:spcBef>
              <a:spcAft>
                <a:spcPts val="0"/>
              </a:spcAft>
            </a:pPr>
            <a:r>
              <a:rPr sz="2098" b="0">
                <a:solidFill>
                  <a:srgbClr val="F4F1E8"/>
                </a:solidFill>
                <a:latin typeface="Georgia"/>
              </a:rPr>
              <a:t>The Veranda brings people together through a changing calendar.</a:t>
            </a:r>
          </a:p>
        </p:txBody>
      </p:sp>
      <p:pic>
        <p:nvPicPr>
          <p:cNvPr id="19" name="Replaceable photo: slide-15-kmkl.jpg" descr="slide-15-kmkl.jpg"/>
          <p:cNvPicPr>
            <a:picLocks noChangeAspect="1"/>
          </p:cNvPicPr>
          <p:nvPr/>
        </p:nvPicPr>
        <p:blipFill>
          <a:blip r:embed="rId5"/>
          <a:srcRect l="13763" r="13763"/>
          <a:stretch>
            <a:fillRect/>
          </a:stretch>
        </p:blipFill>
        <p:spPr>
          <a:xfrm>
            <a:off x="10778490" y="2039112"/>
            <a:ext cx="3120390" cy="24231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0778490" y="4206240"/>
            <a:ext cx="3120390" cy="256032"/>
          </a:xfrm>
          <a:prstGeom prst="rect">
            <a:avLst/>
          </a:prstGeom>
          <a:solidFill>
            <a:srgbClr val="183D32">
              <a:alpha val="9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text: SUPPLIED CONCEPT VISUAL · APPROVAL STATUS UNVERIFIED"/>
          <p:cNvSpPr txBox="1"/>
          <p:nvPr/>
        </p:nvSpPr>
        <p:spPr>
          <a:xfrm>
            <a:off x="10906506" y="4290364"/>
            <a:ext cx="2861071" cy="106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91"/>
              </a:lnSpc>
              <a:spcBef>
                <a:spcPts val="0"/>
              </a:spcBef>
              <a:spcAft>
                <a:spcPts val="0"/>
              </a:spcAft>
            </a:pPr>
            <a:r>
              <a:rPr sz="564" b="0" spc="72">
                <a:solidFill>
                  <a:srgbClr val="F4F1E8"/>
                </a:solidFill>
                <a:latin typeface="Arial"/>
              </a:rPr>
              <a:t>SUPPLIED CONCEPT VISUAL · APPROVAL STATUS UNVERIFIED</a:t>
            </a:r>
          </a:p>
        </p:txBody>
      </p:sp>
      <p:sp>
        <p:nvSpPr>
          <p:cNvPr id="22" name="Editable text: 04"/>
          <p:cNvSpPr txBox="1"/>
          <p:nvPr/>
        </p:nvSpPr>
        <p:spPr>
          <a:xfrm>
            <a:off x="10778490" y="4642408"/>
            <a:ext cx="35175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44">
                <a:solidFill>
                  <a:srgbClr val="DCE4D5"/>
                </a:solidFill>
                <a:latin typeface="Arial"/>
              </a:rPr>
              <a:t>04</a:t>
            </a:r>
          </a:p>
        </p:txBody>
      </p:sp>
      <p:sp>
        <p:nvSpPr>
          <p:cNvPr id="23" name="Editable text: Hospitality allows the experience to extend into a stay."/>
          <p:cNvSpPr txBox="1"/>
          <p:nvPr/>
        </p:nvSpPr>
        <p:spPr>
          <a:xfrm>
            <a:off x="10778490" y="4854549"/>
            <a:ext cx="3120390" cy="1209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78"/>
              </a:lnSpc>
              <a:spcBef>
                <a:spcPts val="0"/>
              </a:spcBef>
              <a:spcAft>
                <a:spcPts val="0"/>
              </a:spcAft>
            </a:pPr>
            <a:r>
              <a:rPr sz="2098" b="0">
                <a:solidFill>
                  <a:srgbClr val="F4F1E8"/>
                </a:solidFill>
                <a:latin typeface="Georgia"/>
              </a:rPr>
              <a:t>Hospitality allows the experience to extend into a stay.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25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F4F1E8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26" name="Editable text: POSITIONING &amp; TENANT STRATEGY"/>
          <p:cNvSpPr txBox="1"/>
          <p:nvPr/>
        </p:nvSpPr>
        <p:spPr>
          <a:xfrm>
            <a:off x="11751468" y="273405"/>
            <a:ext cx="2330291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F4F1E8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354A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F4F1E8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29" name="Editable text: Visual: Empat commercial roles dengan bukti ruang dan layanan."/>
          <p:cNvSpPr txBox="1"/>
          <p:nvPr/>
        </p:nvSpPr>
        <p:spPr>
          <a:xfrm>
            <a:off x="896112" y="7287853"/>
            <a:ext cx="439297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F4F1E8"/>
                </a:solidFill>
                <a:latin typeface="Arial"/>
              </a:rPr>
              <a:t>Visual: Empat commercial roles dengan bukti ruang dan layanan.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31" name="Editable text: POSITIONING &amp; TENANT STRATEGY"/>
          <p:cNvSpPr txBox="1"/>
          <p:nvPr/>
        </p:nvSpPr>
        <p:spPr>
          <a:xfrm>
            <a:off x="731520" y="7891272"/>
            <a:ext cx="206768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F4F1E8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32" name="Editable text: SOURCE: KALINDO PROJECT (1).PDF / 13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F4F1E8"/>
                </a:solidFill>
                <a:latin typeface="Arial"/>
              </a:rPr>
              <a:t>SOURCE: KALINDO PROJECT (1).PDF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TENANT MIX PRINCIPLE"/>
          <p:cNvSpPr txBox="1"/>
          <p:nvPr/>
        </p:nvSpPr>
        <p:spPr>
          <a:xfrm>
            <a:off x="731520" y="911656"/>
            <a:ext cx="1967674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TENANT MIX PRINCIPLE</a:t>
            </a:r>
          </a:p>
        </p:txBody>
      </p:sp>
      <p:sp>
        <p:nvSpPr>
          <p:cNvPr id="3" name="Editable text: EVERY TENANT HAS A ROLE IN THE VISIT"/>
          <p:cNvSpPr txBox="1"/>
          <p:nvPr/>
        </p:nvSpPr>
        <p:spPr>
          <a:xfrm>
            <a:off x="731520" y="1070762"/>
            <a:ext cx="13167360" cy="1001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EVERY TENANT HAS A ROLE IN THE VISIT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39112"/>
            <a:ext cx="3950208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text: Role"/>
          <p:cNvSpPr txBox="1"/>
          <p:nvPr/>
        </p:nvSpPr>
        <p:spPr>
          <a:xfrm>
            <a:off x="932688" y="2170785"/>
            <a:ext cx="51920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1728" y="2039112"/>
            <a:ext cx="9217152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text: Commercial contribution"/>
          <p:cNvSpPr txBox="1"/>
          <p:nvPr/>
        </p:nvSpPr>
        <p:spPr>
          <a:xfrm>
            <a:off x="4882896" y="2170785"/>
            <a:ext cx="1969389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Commercial contribution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154680"/>
            <a:ext cx="3950208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9" name="Editable text: Destination anchor"/>
          <p:cNvSpPr txBox="1"/>
          <p:nvPr/>
        </p:nvSpPr>
        <p:spPr>
          <a:xfrm>
            <a:off x="960120" y="2628900"/>
            <a:ext cx="3493008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Destination anchor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81728" y="3154680"/>
            <a:ext cx="921715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1" name="Editable text: Gives people a specific reason to choose Kalindo"/>
          <p:cNvSpPr txBox="1"/>
          <p:nvPr/>
        </p:nvSpPr>
        <p:spPr>
          <a:xfrm>
            <a:off x="4910328" y="2688307"/>
            <a:ext cx="4763309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Gives people a specific reason to choose Kalindo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54680"/>
            <a:ext cx="3950208" cy="672084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31520" y="3826763"/>
            <a:ext cx="3950208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4" name="Editable text: Frequency anchor"/>
          <p:cNvSpPr txBox="1"/>
          <p:nvPr/>
        </p:nvSpPr>
        <p:spPr>
          <a:xfrm>
            <a:off x="960120" y="3300984"/>
            <a:ext cx="3493008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Frequency anchor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1728" y="3154680"/>
            <a:ext cx="9217152" cy="672084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681728" y="3826763"/>
            <a:ext cx="921715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7" name="Editable text: Supports recurring visits"/>
          <p:cNvSpPr txBox="1"/>
          <p:nvPr/>
        </p:nvSpPr>
        <p:spPr>
          <a:xfrm>
            <a:off x="4910328" y="3360391"/>
            <a:ext cx="2442591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Supports recurring visits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4498848"/>
            <a:ext cx="3950208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9" name="Editable text: Dwell anchor"/>
          <p:cNvSpPr txBox="1"/>
          <p:nvPr/>
        </p:nvSpPr>
        <p:spPr>
          <a:xfrm>
            <a:off x="960120" y="3973068"/>
            <a:ext cx="3493008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Dwell anchor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81728" y="4498848"/>
            <a:ext cx="921715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1" name="Editable text: Extends time spent"/>
          <p:cNvSpPr txBox="1"/>
          <p:nvPr/>
        </p:nvSpPr>
        <p:spPr>
          <a:xfrm>
            <a:off x="4910328" y="4032475"/>
            <a:ext cx="1967388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Extends time spent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498848"/>
            <a:ext cx="3950208" cy="672084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31520" y="5170932"/>
            <a:ext cx="3950208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4" name="Editable text: Spend extender"/>
          <p:cNvSpPr txBox="1"/>
          <p:nvPr/>
        </p:nvSpPr>
        <p:spPr>
          <a:xfrm>
            <a:off x="960120" y="4645152"/>
            <a:ext cx="3493008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Spend extender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1728" y="4498848"/>
            <a:ext cx="9217152" cy="672084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681728" y="5170932"/>
            <a:ext cx="921715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7" name="Editable text: Encourages an additional purchase"/>
          <p:cNvSpPr txBox="1"/>
          <p:nvPr/>
        </p:nvSpPr>
        <p:spPr>
          <a:xfrm>
            <a:off x="4910328" y="4704559"/>
            <a:ext cx="3475148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Encourages an additional purchase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5843016"/>
            <a:ext cx="3950208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9" name="Editable text: Community tenant"/>
          <p:cNvSpPr txBox="1"/>
          <p:nvPr/>
        </p:nvSpPr>
        <p:spPr>
          <a:xfrm>
            <a:off x="960120" y="5317236"/>
            <a:ext cx="3493008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Community tenant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81728" y="5843016"/>
            <a:ext cx="921715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1" name="Editable text: Hosts repeat participation"/>
          <p:cNvSpPr txBox="1"/>
          <p:nvPr/>
        </p:nvSpPr>
        <p:spPr>
          <a:xfrm>
            <a:off x="4910328" y="5376643"/>
            <a:ext cx="2562177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Hosts repeat participation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843016"/>
            <a:ext cx="3950208" cy="672084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31520" y="6515100"/>
            <a:ext cx="3950208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4" name="Editable text: Supporting tenant"/>
          <p:cNvSpPr txBox="1"/>
          <p:nvPr/>
        </p:nvSpPr>
        <p:spPr>
          <a:xfrm>
            <a:off x="960120" y="5989320"/>
            <a:ext cx="3493008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Supporting tenant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1728" y="5843016"/>
            <a:ext cx="9217152" cy="672084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681728" y="6515100"/>
            <a:ext cx="921715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7" name="Editable text: Serves needs around the main activities"/>
          <p:cNvSpPr txBox="1"/>
          <p:nvPr/>
        </p:nvSpPr>
        <p:spPr>
          <a:xfrm>
            <a:off x="4910328" y="6048727"/>
            <a:ext cx="3908059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Serves needs around the main activities</a:t>
            </a:r>
          </a:p>
        </p:txBody>
      </p:sp>
      <p:sp>
        <p:nvSpPr>
          <p:cNvPr id="38" name="Editable text: A tenant may serve several roles."/>
          <p:cNvSpPr txBox="1"/>
          <p:nvPr/>
        </p:nvSpPr>
        <p:spPr>
          <a:xfrm>
            <a:off x="731520" y="6763816"/>
            <a:ext cx="3284410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A tenant may serve several roles.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0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41" name="Editable text: POSITIONING &amp; TENANT STRATEGY"/>
          <p:cNvSpPr txBox="1"/>
          <p:nvPr/>
        </p:nvSpPr>
        <p:spPr>
          <a:xfrm>
            <a:off x="11751468" y="273405"/>
            <a:ext cx="2330291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3" name="Editable text: POSITIONING &amp; TENANT STRATEGY"/>
          <p:cNvSpPr txBox="1"/>
          <p:nvPr/>
        </p:nvSpPr>
        <p:spPr>
          <a:xfrm>
            <a:off x="731520" y="7891272"/>
            <a:ext cx="206768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44" name="Editable text: SOURCE: KALINDO PROJECT (1).PDF / 14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PROPOSED CATEGORY FRAMEWORK"/>
          <p:cNvSpPr txBox="1"/>
          <p:nvPr/>
        </p:nvSpPr>
        <p:spPr>
          <a:xfrm>
            <a:off x="731520" y="911656"/>
            <a:ext cx="290879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PROPOSED CATEGORY FRAMEWORK</a:t>
            </a:r>
          </a:p>
        </p:txBody>
      </p:sp>
      <p:sp>
        <p:nvSpPr>
          <p:cNvPr id="3" name="Editable text: A BALANCED MIX FOR LIFE THROUGHOUT THE DAY"/>
          <p:cNvSpPr txBox="1"/>
          <p:nvPr/>
        </p:nvSpPr>
        <p:spPr>
          <a:xfrm>
            <a:off x="731520" y="1073505"/>
            <a:ext cx="13167360" cy="148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93"/>
              </a:lnSpc>
              <a:spcBef>
                <a:spcPts val="0"/>
              </a:spcBef>
              <a:spcAft>
                <a:spcPts val="0"/>
              </a:spcAft>
            </a:pPr>
            <a:r>
              <a:rPr sz="3790" b="0" spc="-72">
                <a:solidFill>
                  <a:srgbClr val="183D32"/>
                </a:solidFill>
                <a:latin typeface="Georgia"/>
              </a:rPr>
              <a:t>A BALANCED MIX FOR LIFE THROUGHOUT THE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42032"/>
            <a:ext cx="4608576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text: Category"/>
          <p:cNvSpPr txBox="1"/>
          <p:nvPr/>
        </p:nvSpPr>
        <p:spPr>
          <a:xfrm>
            <a:off x="932688" y="2673705"/>
            <a:ext cx="847105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40096" y="2542032"/>
            <a:ext cx="5266944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text: Primary role"/>
          <p:cNvSpPr txBox="1"/>
          <p:nvPr/>
        </p:nvSpPr>
        <p:spPr>
          <a:xfrm>
            <a:off x="5541264" y="2673705"/>
            <a:ext cx="108370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Primary 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07040" y="2542032"/>
            <a:ext cx="329184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text: Planning priority"/>
          <p:cNvSpPr txBox="1"/>
          <p:nvPr/>
        </p:nvSpPr>
        <p:spPr>
          <a:xfrm>
            <a:off x="10808208" y="2673705"/>
            <a:ext cx="138703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Planning priority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517582"/>
            <a:ext cx="4608576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1" name="Editable text: Destination dining and everyday F&amp;B"/>
          <p:cNvSpPr txBox="1"/>
          <p:nvPr/>
        </p:nvSpPr>
        <p:spPr>
          <a:xfrm>
            <a:off x="932688" y="3068726"/>
            <a:ext cx="4206240" cy="4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24" b="0">
                <a:solidFill>
                  <a:srgbClr val="183D32"/>
                </a:solidFill>
                <a:latin typeface="Georgia"/>
              </a:rPr>
              <a:t>Destination dining and everyday F&amp;B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40096" y="3517582"/>
            <a:ext cx="5266944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3" name="Editable text: Attraction, dwell and spending"/>
          <p:cNvSpPr txBox="1"/>
          <p:nvPr/>
        </p:nvSpPr>
        <p:spPr>
          <a:xfrm>
            <a:off x="5541264" y="3134906"/>
            <a:ext cx="2742199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Attraction, dwell and spending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07040" y="3517582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5" name="Editable text: Very high"/>
          <p:cNvSpPr txBox="1"/>
          <p:nvPr/>
        </p:nvSpPr>
        <p:spPr>
          <a:xfrm>
            <a:off x="10808208" y="3134906"/>
            <a:ext cx="986980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Very 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17582"/>
            <a:ext cx="4608576" cy="53206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31520" y="4049649"/>
            <a:ext cx="4608576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8" name="Editable text: Family activities and learning"/>
          <p:cNvSpPr txBox="1"/>
          <p:nvPr/>
        </p:nvSpPr>
        <p:spPr>
          <a:xfrm>
            <a:off x="932688" y="3600792"/>
            <a:ext cx="4206240" cy="4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24" b="0">
                <a:solidFill>
                  <a:srgbClr val="183D32"/>
                </a:solidFill>
                <a:latin typeface="Georgia"/>
              </a:rPr>
              <a:t>Family activities and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0096" y="3517582"/>
            <a:ext cx="5266944" cy="53206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340096" y="4049649"/>
            <a:ext cx="5266944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1" name="Editable text: Frequency and shared visits"/>
          <p:cNvSpPr txBox="1"/>
          <p:nvPr/>
        </p:nvSpPr>
        <p:spPr>
          <a:xfrm>
            <a:off x="5541264" y="3666972"/>
            <a:ext cx="2572321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Frequency and shared visits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3517582"/>
            <a:ext cx="3291840" cy="53206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0607040" y="4049649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4" name="Editable text: Very high"/>
          <p:cNvSpPr txBox="1"/>
          <p:nvPr/>
        </p:nvSpPr>
        <p:spPr>
          <a:xfrm>
            <a:off x="10808208" y="3666972"/>
            <a:ext cx="986980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Very high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4581715"/>
            <a:ext cx="4608576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6" name="Editable text: Grocery and everyday services"/>
          <p:cNvSpPr txBox="1"/>
          <p:nvPr/>
        </p:nvSpPr>
        <p:spPr>
          <a:xfrm>
            <a:off x="932688" y="4132859"/>
            <a:ext cx="4206240" cy="4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24" b="0">
                <a:solidFill>
                  <a:srgbClr val="183D32"/>
                </a:solidFill>
                <a:latin typeface="Georgia"/>
              </a:rPr>
              <a:t>Grocery and everyday services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40096" y="4581715"/>
            <a:ext cx="5266944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8" name="Editable text: Routine local visits"/>
          <p:cNvSpPr txBox="1"/>
          <p:nvPr/>
        </p:nvSpPr>
        <p:spPr>
          <a:xfrm>
            <a:off x="5541264" y="4199039"/>
            <a:ext cx="1771792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Routine local visits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607040" y="4581715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0" name="Editable text: High"/>
          <p:cNvSpPr txBox="1"/>
          <p:nvPr/>
        </p:nvSpPr>
        <p:spPr>
          <a:xfrm>
            <a:off x="10808208" y="4199039"/>
            <a:ext cx="576214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581715"/>
            <a:ext cx="4608576" cy="53206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31520" y="5113782"/>
            <a:ext cx="4608576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3" name="Editable text: Sport and active lifestyle"/>
          <p:cNvSpPr txBox="1"/>
          <p:nvPr/>
        </p:nvSpPr>
        <p:spPr>
          <a:xfrm>
            <a:off x="932688" y="4664925"/>
            <a:ext cx="4206240" cy="4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24" b="0">
                <a:solidFill>
                  <a:srgbClr val="183D32"/>
                </a:solidFill>
                <a:latin typeface="Georgia"/>
              </a:rPr>
              <a:t>Sport and active lifestyle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0096" y="4581715"/>
            <a:ext cx="5266944" cy="53206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340096" y="5113782"/>
            <a:ext cx="5266944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6" name="Editable text: Membership and scheduled participation"/>
          <p:cNvSpPr txBox="1"/>
          <p:nvPr/>
        </p:nvSpPr>
        <p:spPr>
          <a:xfrm>
            <a:off x="5541264" y="4731105"/>
            <a:ext cx="3632311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Membership and scheduled participation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07040" y="4581715"/>
            <a:ext cx="3291840" cy="53206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0607040" y="5113782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9" name="Editable text: High, subject to operator fit"/>
          <p:cNvSpPr txBox="1"/>
          <p:nvPr/>
        </p:nvSpPr>
        <p:spPr>
          <a:xfrm>
            <a:off x="10808208" y="4731105"/>
            <a:ext cx="2470165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High, subject to operator fit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1520" y="5645848"/>
            <a:ext cx="4608576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1" name="Editable text: Social entertainment"/>
          <p:cNvSpPr txBox="1"/>
          <p:nvPr/>
        </p:nvSpPr>
        <p:spPr>
          <a:xfrm>
            <a:off x="932688" y="5196992"/>
            <a:ext cx="4206240" cy="4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24" b="0">
                <a:solidFill>
                  <a:srgbClr val="183D32"/>
                </a:solidFill>
                <a:latin typeface="Georgia"/>
              </a:rPr>
              <a:t>Social entertainment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340096" y="5645848"/>
            <a:ext cx="5266944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3" name="Editable text: Evening and group visits"/>
          <p:cNvSpPr txBox="1"/>
          <p:nvPr/>
        </p:nvSpPr>
        <p:spPr>
          <a:xfrm>
            <a:off x="5541264" y="5263172"/>
            <a:ext cx="2263140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Evening and group visits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607040" y="5645848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5" name="Editable text: High"/>
          <p:cNvSpPr txBox="1"/>
          <p:nvPr/>
        </p:nvSpPr>
        <p:spPr>
          <a:xfrm>
            <a:off x="10808208" y="5263172"/>
            <a:ext cx="576214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645848"/>
            <a:ext cx="4608576" cy="53206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731520" y="6177915"/>
            <a:ext cx="4608576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8" name="Editable text: Wellness and recovery"/>
          <p:cNvSpPr txBox="1"/>
          <p:nvPr/>
        </p:nvSpPr>
        <p:spPr>
          <a:xfrm>
            <a:off x="932688" y="5729058"/>
            <a:ext cx="4206240" cy="4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24" b="0">
                <a:solidFill>
                  <a:srgbClr val="183D32"/>
                </a:solidFill>
                <a:latin typeface="Georgia"/>
              </a:rPr>
              <a:t>Wellness and recovery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40096" y="5645848"/>
            <a:ext cx="5266944" cy="53206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5340096" y="6177915"/>
            <a:ext cx="5266944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1" name="Editable text: Service visits and complementary spending"/>
          <p:cNvSpPr txBox="1"/>
          <p:nvPr/>
        </p:nvSpPr>
        <p:spPr>
          <a:xfrm>
            <a:off x="5541264" y="5795238"/>
            <a:ext cx="3887057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Service visits and complementary spending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07040" y="5645848"/>
            <a:ext cx="3291840" cy="53206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0607040" y="6177915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4" name="Editable text: Test demand and space needs"/>
          <p:cNvSpPr txBox="1"/>
          <p:nvPr/>
        </p:nvSpPr>
        <p:spPr>
          <a:xfrm>
            <a:off x="10808208" y="5795238"/>
            <a:ext cx="2801350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Test demand and space needs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31520" y="6709981"/>
            <a:ext cx="4608576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6" name="Editable text: Curated lifestyle retail"/>
          <p:cNvSpPr txBox="1"/>
          <p:nvPr/>
        </p:nvSpPr>
        <p:spPr>
          <a:xfrm>
            <a:off x="932688" y="6261125"/>
            <a:ext cx="4206240" cy="4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24" b="0">
                <a:solidFill>
                  <a:srgbClr val="183D32"/>
                </a:solidFill>
                <a:latin typeface="Georgia"/>
              </a:rPr>
              <a:t>Curated lifestyle retail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340096" y="6709981"/>
            <a:ext cx="5266944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8" name="Editable text: Discovery and supporting purchases"/>
          <p:cNvSpPr txBox="1"/>
          <p:nvPr/>
        </p:nvSpPr>
        <p:spPr>
          <a:xfrm>
            <a:off x="5541264" y="6327305"/>
            <a:ext cx="3289839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Discovery and supporting purchases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0607040" y="6709981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60" name="Editable text: Selective"/>
          <p:cNvSpPr txBox="1"/>
          <p:nvPr/>
        </p:nvSpPr>
        <p:spPr>
          <a:xfrm>
            <a:off x="10808208" y="6327305"/>
            <a:ext cx="957119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Selective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62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63" name="Editable text: POSITIONING &amp; TENANT STRATEGY"/>
          <p:cNvSpPr txBox="1"/>
          <p:nvPr/>
        </p:nvSpPr>
        <p:spPr>
          <a:xfrm>
            <a:off x="11751468" y="273405"/>
            <a:ext cx="2330291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66" name="Editable text: Visual: Category cards."/>
          <p:cNvSpPr txBox="1"/>
          <p:nvPr/>
        </p:nvSpPr>
        <p:spPr>
          <a:xfrm>
            <a:off x="896112" y="7287853"/>
            <a:ext cx="169149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Category cards.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68" name="Editable text: POSITIONING &amp; TENANT STRATEGY"/>
          <p:cNvSpPr txBox="1"/>
          <p:nvPr/>
        </p:nvSpPr>
        <p:spPr>
          <a:xfrm>
            <a:off x="731520" y="7891272"/>
            <a:ext cx="206768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69" name="Editable text: SOURCE: KALINDO PROJECT (1).PDF / 15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CULINARY ANCHORS"/>
          <p:cNvSpPr txBox="1"/>
          <p:nvPr/>
        </p:nvSpPr>
        <p:spPr>
          <a:xfrm>
            <a:off x="731520" y="911656"/>
            <a:ext cx="1738074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CULINARY ANCHORS</a:t>
            </a:r>
          </a:p>
        </p:txBody>
      </p:sp>
      <p:sp>
        <p:nvSpPr>
          <p:cNvPr id="3" name="Editable text: A FEW STRONG REASONS TO COME FOR FOOD"/>
          <p:cNvSpPr txBox="1"/>
          <p:nvPr/>
        </p:nvSpPr>
        <p:spPr>
          <a:xfrm>
            <a:off x="731520" y="1070762"/>
            <a:ext cx="13167360" cy="1001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A FEW STRONG REASONS TO COME FOR FOOD</a:t>
            </a:r>
          </a:p>
        </p:txBody>
      </p:sp>
      <p:sp>
        <p:nvSpPr>
          <p:cNvPr id="4" name="Editable text: Initial sounding should test a small group of complementary conce"/>
          <p:cNvSpPr txBox="1"/>
          <p:nvPr/>
        </p:nvSpPr>
        <p:spPr>
          <a:xfrm>
            <a:off x="731520" y="2055571"/>
            <a:ext cx="638679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Initial sounding should test a small group of complementary concepts:</a:t>
            </a:r>
          </a:p>
        </p:txBody>
      </p:sp>
      <p:sp>
        <p:nvSpPr>
          <p:cNvPr id="5" name="Editable text: Indonesian destination restaurant."/>
          <p:cNvSpPr txBox="1"/>
          <p:nvPr/>
        </p:nvSpPr>
        <p:spPr>
          <a:xfrm>
            <a:off x="941832" y="2483481"/>
            <a:ext cx="3199114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Indonesian destination restaurant.</a:t>
            </a:r>
          </a:p>
        </p:txBody>
      </p:sp>
      <p:sp>
        <p:nvSpPr>
          <p:cNvPr id="6" name="Editable text: Seafood dining experience."/>
          <p:cNvSpPr txBox="1"/>
          <p:nvPr/>
        </p:nvSpPr>
        <p:spPr>
          <a:xfrm>
            <a:off x="941832" y="2847384"/>
            <a:ext cx="2607611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Seafood dining experience.</a:t>
            </a:r>
          </a:p>
        </p:txBody>
      </p:sp>
      <p:sp>
        <p:nvSpPr>
          <p:cNvPr id="7" name="Editable text: All-day social dining."/>
          <p:cNvSpPr txBox="1"/>
          <p:nvPr/>
        </p:nvSpPr>
        <p:spPr>
          <a:xfrm>
            <a:off x="941832" y="3211287"/>
            <a:ext cx="2006393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All-day social dining.</a:t>
            </a:r>
          </a:p>
        </p:txBody>
      </p:sp>
      <p:sp>
        <p:nvSpPr>
          <p:cNvPr id="8" name="Editable text: Café and bakery."/>
          <p:cNvSpPr txBox="1"/>
          <p:nvPr/>
        </p:nvSpPr>
        <p:spPr>
          <a:xfrm>
            <a:off x="941832" y="3575189"/>
            <a:ext cx="1695069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Café and bakery.</a:t>
            </a:r>
          </a:p>
        </p:txBody>
      </p:sp>
      <p:sp>
        <p:nvSpPr>
          <p:cNvPr id="9" name="Editable text: A rotating chef or culinary collaboration format."/>
          <p:cNvSpPr txBox="1"/>
          <p:nvPr/>
        </p:nvSpPr>
        <p:spPr>
          <a:xfrm>
            <a:off x="941832" y="3939092"/>
            <a:ext cx="432839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A rotating chef or culinary collaboration format.</a:t>
            </a:r>
          </a:p>
        </p:txBody>
      </p:sp>
      <p:sp>
        <p:nvSpPr>
          <p:cNvPr id="10" name="Editable text: Space considerations"/>
          <p:cNvSpPr txBox="1"/>
          <p:nvPr/>
        </p:nvSpPr>
        <p:spPr>
          <a:xfrm>
            <a:off x="731520" y="4381633"/>
            <a:ext cx="178193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Space considerations</a:t>
            </a:r>
          </a:p>
        </p:txBody>
      </p:sp>
      <p:sp>
        <p:nvSpPr>
          <p:cNvPr id="11" name="Editable text: Garden frontage, kitchen and exhaust, loading, waste handling, ac"/>
          <p:cNvSpPr txBox="1"/>
          <p:nvPr/>
        </p:nvSpPr>
        <p:spPr>
          <a:xfrm>
            <a:off x="731520" y="4687042"/>
            <a:ext cx="628650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Garden frontage, kitchen and exhaust, loading, waste handling, acoustic impact and practical terrace operation.</a:t>
            </a:r>
          </a:p>
        </p:txBody>
      </p:sp>
      <p:sp>
        <p:nvSpPr>
          <p:cNvPr id="12" name="Editable text: Commercial test"/>
          <p:cNvSpPr txBox="1"/>
          <p:nvPr/>
        </p:nvSpPr>
        <p:spPr>
          <a:xfrm>
            <a:off x="731520" y="5374614"/>
            <a:ext cx="1386601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Commercial test</a:t>
            </a:r>
          </a:p>
        </p:txBody>
      </p:sp>
      <p:sp>
        <p:nvSpPr>
          <p:cNvPr id="13" name="Editable text: Can the concept attract its own customers and support neighbourin"/>
          <p:cNvSpPr txBox="1"/>
          <p:nvPr/>
        </p:nvSpPr>
        <p:spPr>
          <a:xfrm>
            <a:off x="731520" y="5680024"/>
            <a:ext cx="628650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Can the concept attract its own customers and support neighbouring activity?</a:t>
            </a:r>
          </a:p>
        </p:txBody>
      </p:sp>
      <p:pic>
        <p:nvPicPr>
          <p:cNvPr id="14" name="Replaceable photo: slide-19-event.jpg" descr="slide-19-event.jpg"/>
          <p:cNvPicPr>
            <a:picLocks noChangeAspect="1"/>
          </p:cNvPicPr>
          <p:nvPr/>
        </p:nvPicPr>
        <p:blipFill>
          <a:blip r:embed="rId2"/>
          <a:srcRect l="13009" r="13009"/>
          <a:stretch>
            <a:fillRect/>
          </a:stretch>
        </p:blipFill>
        <p:spPr>
          <a:xfrm>
            <a:off x="7612379" y="2039112"/>
            <a:ext cx="6286500" cy="478231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612379" y="6556248"/>
            <a:ext cx="6286500" cy="265176"/>
          </a:xfrm>
          <a:prstGeom prst="rect">
            <a:avLst/>
          </a:prstGeom>
          <a:solidFill>
            <a:srgbClr val="183D32">
              <a:alpha val="9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Editable text: SUPPLIED CONCEPT VISUAL · APPROVAL STATUS UNVERIFIED"/>
          <p:cNvSpPr txBox="1"/>
          <p:nvPr/>
        </p:nvSpPr>
        <p:spPr>
          <a:xfrm>
            <a:off x="7740396" y="6639458"/>
            <a:ext cx="3136392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72">
                <a:solidFill>
                  <a:srgbClr val="F4F1E8"/>
                </a:solidFill>
                <a:latin typeface="Arial"/>
              </a:rPr>
              <a:t>SUPPLIED CONCEPT VISUAL · APPROVAL STATUS UNVERIFIED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8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19" name="Editable text: POSITIONING &amp; TENANT STRATEGY"/>
          <p:cNvSpPr txBox="1"/>
          <p:nvPr/>
        </p:nvSpPr>
        <p:spPr>
          <a:xfrm>
            <a:off x="11751468" y="273405"/>
            <a:ext cx="2330291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22" name="Editable text: Visual: Culinary frontage di sekitar The Veranda."/>
          <p:cNvSpPr txBox="1"/>
          <p:nvPr/>
        </p:nvSpPr>
        <p:spPr>
          <a:xfrm>
            <a:off x="896112" y="7287853"/>
            <a:ext cx="3319414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Culinary frontage di sekitar The Veranda.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4" name="Editable text: POSITIONING &amp; TENANT STRATEGY"/>
          <p:cNvSpPr txBox="1"/>
          <p:nvPr/>
        </p:nvSpPr>
        <p:spPr>
          <a:xfrm>
            <a:off x="731520" y="7891272"/>
            <a:ext cx="206768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25" name="Editable text: SOURCE: KALINDO PROJECT (1).PDF / 16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FAMILY ANCHORS"/>
          <p:cNvSpPr txBox="1"/>
          <p:nvPr/>
        </p:nvSpPr>
        <p:spPr>
          <a:xfrm>
            <a:off x="731520" y="911656"/>
            <a:ext cx="1507902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FAMILY ANCHORS</a:t>
            </a:r>
          </a:p>
        </p:txBody>
      </p:sp>
      <p:sp>
        <p:nvSpPr>
          <p:cNvPr id="3" name="Editable text: ACTIVITIES THAT FAMILIES CAN BUILD INTO THEIR ROUTINE"/>
          <p:cNvSpPr txBox="1"/>
          <p:nvPr/>
        </p:nvSpPr>
        <p:spPr>
          <a:xfrm>
            <a:off x="731520" y="1070762"/>
            <a:ext cx="13167360" cy="1562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ACTIVITIES THAT FAMILIES CAN BUILD INTO THEIR ROUTINE</a:t>
            </a:r>
          </a:p>
        </p:txBody>
      </p:sp>
      <p:sp>
        <p:nvSpPr>
          <p:cNvPr id="4" name="Editable text: Potential operator profiles:"/>
          <p:cNvSpPr txBox="1"/>
          <p:nvPr/>
        </p:nvSpPr>
        <p:spPr>
          <a:xfrm>
            <a:off x="731520" y="2621584"/>
            <a:ext cx="2616469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Potential operator profiles:</a:t>
            </a:r>
          </a:p>
        </p:txBody>
      </p:sp>
      <p:sp>
        <p:nvSpPr>
          <p:cNvPr id="5" name="Editable text: Indoor discovery/play."/>
          <p:cNvSpPr txBox="1"/>
          <p:nvPr/>
        </p:nvSpPr>
        <p:spPr>
          <a:xfrm>
            <a:off x="941832" y="3071355"/>
            <a:ext cx="2206418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Indoor discovery/play.</a:t>
            </a:r>
          </a:p>
        </p:txBody>
      </p:sp>
      <p:sp>
        <p:nvSpPr>
          <p:cNvPr id="6" name="Editable text: Creative learning studio."/>
          <p:cNvSpPr txBox="1"/>
          <p:nvPr/>
        </p:nvSpPr>
        <p:spPr>
          <a:xfrm>
            <a:off x="941832" y="3457117"/>
            <a:ext cx="2431018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Creative learning studio.</a:t>
            </a:r>
          </a:p>
        </p:txBody>
      </p:sp>
      <p:sp>
        <p:nvSpPr>
          <p:cNvPr id="7" name="Editable text: Scheduled academy or classes."/>
          <p:cNvSpPr txBox="1"/>
          <p:nvPr/>
        </p:nvSpPr>
        <p:spPr>
          <a:xfrm>
            <a:off x="941832" y="3842880"/>
            <a:ext cx="3146821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Scheduled academy or classes.</a:t>
            </a:r>
          </a:p>
        </p:txBody>
      </p:sp>
      <p:sp>
        <p:nvSpPr>
          <p:cNvPr id="8" name="Editable text: Family activity operator."/>
          <p:cNvSpPr txBox="1"/>
          <p:nvPr/>
        </p:nvSpPr>
        <p:spPr>
          <a:xfrm>
            <a:off x="941832" y="4228642"/>
            <a:ext cx="2378583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Family activity operator.</a:t>
            </a:r>
          </a:p>
        </p:txBody>
      </p:sp>
      <p:sp>
        <p:nvSpPr>
          <p:cNvPr id="9" name="Editable text: Experience relationship"/>
          <p:cNvSpPr txBox="1"/>
          <p:nvPr/>
        </p:nvSpPr>
        <p:spPr>
          <a:xfrm>
            <a:off x="731520" y="4684814"/>
            <a:ext cx="193152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Experience relationship</a:t>
            </a:r>
          </a:p>
        </p:txBody>
      </p:sp>
      <p:sp>
        <p:nvSpPr>
          <p:cNvPr id="10" name="Editable text: Child activity connects with nearby cafés, retail and family dini"/>
          <p:cNvSpPr txBox="1"/>
          <p:nvPr/>
        </p:nvSpPr>
        <p:spPr>
          <a:xfrm>
            <a:off x="731520" y="4989309"/>
            <a:ext cx="6213490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Child activity connects with nearby cafés, retail and family dining.</a:t>
            </a:r>
          </a:p>
        </p:txBody>
      </p:sp>
      <p:sp>
        <p:nvSpPr>
          <p:cNvPr id="11" name="Editable text: Operating requirements"/>
          <p:cNvSpPr txBox="1"/>
          <p:nvPr/>
        </p:nvSpPr>
        <p:spPr>
          <a:xfrm>
            <a:off x="731520" y="5418048"/>
            <a:ext cx="1935099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Operating requirements</a:t>
            </a:r>
          </a:p>
        </p:txBody>
      </p:sp>
      <p:sp>
        <p:nvSpPr>
          <p:cNvPr id="12" name="Editable text: Supervision, age groups, drop-off rules, toilets, stroller access"/>
          <p:cNvSpPr txBox="1"/>
          <p:nvPr/>
        </p:nvSpPr>
        <p:spPr>
          <a:xfrm>
            <a:off x="731520" y="5722543"/>
            <a:ext cx="6331362" cy="5992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Supervision, age groups, drop-off rules, toilets, stroller access and safe circulation.</a:t>
            </a:r>
          </a:p>
        </p:txBody>
      </p:sp>
      <p:pic>
        <p:nvPicPr>
          <p:cNvPr id="13" name="Replaceable photo: slide-14-kids.jpg" descr="slide-14-kids.jpg"/>
          <p:cNvPicPr>
            <a:picLocks noChangeAspect="1"/>
          </p:cNvPicPr>
          <p:nvPr/>
        </p:nvPicPr>
        <p:blipFill>
          <a:blip r:embed="rId2"/>
          <a:srcRect l="8034" r="8034"/>
          <a:stretch>
            <a:fillRect/>
          </a:stretch>
        </p:blipFill>
        <p:spPr>
          <a:xfrm>
            <a:off x="7612379" y="2606040"/>
            <a:ext cx="6286500" cy="421538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612379" y="6556248"/>
            <a:ext cx="6286500" cy="265176"/>
          </a:xfrm>
          <a:prstGeom prst="rect">
            <a:avLst/>
          </a:prstGeom>
          <a:solidFill>
            <a:srgbClr val="183D32">
              <a:alpha val="9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Editable text: SUPPLIED CONCEPT VISUAL · APPROVAL STATUS UNVERIFIED"/>
          <p:cNvSpPr txBox="1"/>
          <p:nvPr/>
        </p:nvSpPr>
        <p:spPr>
          <a:xfrm>
            <a:off x="7740396" y="6639458"/>
            <a:ext cx="3136392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72">
                <a:solidFill>
                  <a:srgbClr val="F4F1E8"/>
                </a:solidFill>
                <a:latin typeface="Arial"/>
              </a:rPr>
              <a:t>SUPPLIED CONCEPT VISUAL · APPROVAL STATUS UNVERIFIED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7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18" name="Editable text: POSITIONING &amp; TENANT STRATEGY"/>
          <p:cNvSpPr txBox="1"/>
          <p:nvPr/>
        </p:nvSpPr>
        <p:spPr>
          <a:xfrm>
            <a:off x="11751468" y="273405"/>
            <a:ext cx="2330291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21" name="Editable text: Visual: Family cluster adjacency. Frekuensi kunjungan berasal dar"/>
          <p:cNvSpPr txBox="1"/>
          <p:nvPr/>
        </p:nvSpPr>
        <p:spPr>
          <a:xfrm>
            <a:off x="896112" y="7287853"/>
            <a:ext cx="741264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Family cluster adjacency. Frekuensi kunjungan berasal dari jadwal operator, bukan angka asumsi umum.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3" name="Editable text: POSITIONING &amp; TENANT STRATEGY"/>
          <p:cNvSpPr txBox="1"/>
          <p:nvPr/>
        </p:nvSpPr>
        <p:spPr>
          <a:xfrm>
            <a:off x="731520" y="7891272"/>
            <a:ext cx="206768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24" name="Editable text: SOURCE: KALINDO PROJECT (1).PDF / 17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SPORT, WELLNESS &amp; RECOVERY"/>
          <p:cNvSpPr txBox="1"/>
          <p:nvPr/>
        </p:nvSpPr>
        <p:spPr>
          <a:xfrm>
            <a:off x="731520" y="911656"/>
            <a:ext cx="2623327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SPORT, WELLNESS &amp; RECOVERY</a:t>
            </a:r>
          </a:p>
        </p:txBody>
      </p:sp>
      <p:sp>
        <p:nvSpPr>
          <p:cNvPr id="3" name="Editable text: RECURRING PARTICIPATION WITH COMPLEMENTARY SERVICES"/>
          <p:cNvSpPr txBox="1"/>
          <p:nvPr/>
        </p:nvSpPr>
        <p:spPr>
          <a:xfrm>
            <a:off x="731520" y="1070762"/>
            <a:ext cx="13167360" cy="1562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RECURRING PARTICIPATION WITH COMPLEMENTARY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06040"/>
            <a:ext cx="3423427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text: Category"/>
          <p:cNvSpPr txBox="1"/>
          <p:nvPr/>
        </p:nvSpPr>
        <p:spPr>
          <a:xfrm>
            <a:off x="932688" y="2737713"/>
            <a:ext cx="847105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54947" y="2606040"/>
            <a:ext cx="3555158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text: Role to test"/>
          <p:cNvSpPr txBox="1"/>
          <p:nvPr/>
        </p:nvSpPr>
        <p:spPr>
          <a:xfrm>
            <a:off x="4356115" y="2737713"/>
            <a:ext cx="1026699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Role to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10106" y="2606040"/>
            <a:ext cx="6188773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text: Key requirement"/>
          <p:cNvSpPr txBox="1"/>
          <p:nvPr/>
        </p:nvSpPr>
        <p:spPr>
          <a:xfrm>
            <a:off x="7911274" y="2737713"/>
            <a:ext cx="138303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Key requirement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649313"/>
            <a:ext cx="3423427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1" name="Editable text: Fitness club"/>
          <p:cNvSpPr txBox="1"/>
          <p:nvPr/>
        </p:nvSpPr>
        <p:spPr>
          <a:xfrm>
            <a:off x="932688" y="3180283"/>
            <a:ext cx="3021091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183D32"/>
                </a:solidFill>
                <a:latin typeface="Georgia"/>
              </a:rPr>
              <a:t>Fitness club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54947" y="3649313"/>
            <a:ext cx="3555159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3" name="Editable text: Membership frequency"/>
          <p:cNvSpPr txBox="1"/>
          <p:nvPr/>
        </p:nvSpPr>
        <p:spPr>
          <a:xfrm>
            <a:off x="4356115" y="3226003"/>
            <a:ext cx="2226564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Membership frequency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10106" y="3649313"/>
            <a:ext cx="6188774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5" name="Editable text: Catchment, equipment and operating hours"/>
          <p:cNvSpPr txBox="1"/>
          <p:nvPr/>
        </p:nvSpPr>
        <p:spPr>
          <a:xfrm>
            <a:off x="7911274" y="3226003"/>
            <a:ext cx="4038361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Catchment, equipment and operating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49313"/>
            <a:ext cx="3423427" cy="599789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31520" y="4249102"/>
            <a:ext cx="3423427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8" name="Editable text: Boutique studio"/>
          <p:cNvSpPr txBox="1"/>
          <p:nvPr/>
        </p:nvSpPr>
        <p:spPr>
          <a:xfrm>
            <a:off x="932688" y="3780072"/>
            <a:ext cx="3021091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183D32"/>
                </a:solidFill>
                <a:latin typeface="Georgia"/>
              </a:rPr>
              <a:t>Boutique studio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54947" y="3649313"/>
            <a:ext cx="3555158" cy="599789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154947" y="4249102"/>
            <a:ext cx="3555159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1" name="Editable text: Scheduled classes"/>
          <p:cNvSpPr txBox="1"/>
          <p:nvPr/>
        </p:nvSpPr>
        <p:spPr>
          <a:xfrm>
            <a:off x="4356115" y="3825792"/>
            <a:ext cx="1859946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Scheduled classes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10106" y="3649313"/>
            <a:ext cx="6188773" cy="599789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710106" y="4249102"/>
            <a:ext cx="6188774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4" name="Editable text: Appropriate room sizes and customer pricing"/>
          <p:cNvSpPr txBox="1"/>
          <p:nvPr/>
        </p:nvSpPr>
        <p:spPr>
          <a:xfrm>
            <a:off x="7911274" y="3825792"/>
            <a:ext cx="4156662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Appropriate room sizes and customer pricing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4848891"/>
            <a:ext cx="3423427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6" name="Editable text: Racket/activity operator"/>
          <p:cNvSpPr txBox="1"/>
          <p:nvPr/>
        </p:nvSpPr>
        <p:spPr>
          <a:xfrm>
            <a:off x="932688" y="4379861"/>
            <a:ext cx="3021091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183D32"/>
                </a:solidFill>
                <a:latin typeface="Georgia"/>
              </a:rPr>
              <a:t>Racket/activity operator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54947" y="4848891"/>
            <a:ext cx="3555159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8" name="Editable text: Group participation"/>
          <p:cNvSpPr txBox="1"/>
          <p:nvPr/>
        </p:nvSpPr>
        <p:spPr>
          <a:xfrm>
            <a:off x="4356115" y="4425581"/>
            <a:ext cx="188237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Group participation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10106" y="4848891"/>
            <a:ext cx="6188774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0" name="Editable text: Clear height, structure, noise and access"/>
          <p:cNvSpPr txBox="1"/>
          <p:nvPr/>
        </p:nvSpPr>
        <p:spPr>
          <a:xfrm>
            <a:off x="7911274" y="4425581"/>
            <a:ext cx="3817620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Clear height, structure, noise and access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848891"/>
            <a:ext cx="3423427" cy="599789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31520" y="5448681"/>
            <a:ext cx="3423427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3" name="Editable text: Recovery/physiotherapy"/>
          <p:cNvSpPr txBox="1"/>
          <p:nvPr/>
        </p:nvSpPr>
        <p:spPr>
          <a:xfrm>
            <a:off x="932688" y="4979650"/>
            <a:ext cx="3021091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183D32"/>
                </a:solidFill>
                <a:latin typeface="Georgia"/>
              </a:rPr>
              <a:t>Recovery/physiotherapy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54947" y="4848891"/>
            <a:ext cx="3555158" cy="599789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4154947" y="5448681"/>
            <a:ext cx="3555159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6" name="Editable text: Repeat service visits"/>
          <p:cNvSpPr txBox="1"/>
          <p:nvPr/>
        </p:nvSpPr>
        <p:spPr>
          <a:xfrm>
            <a:off x="4356115" y="5025370"/>
            <a:ext cx="2028682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Repeat service visits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10106" y="4848891"/>
            <a:ext cx="6188773" cy="599789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7710106" y="5448681"/>
            <a:ext cx="6188774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9" name="Editable text: Operator capability and customer demand"/>
          <p:cNvSpPr txBox="1"/>
          <p:nvPr/>
        </p:nvSpPr>
        <p:spPr>
          <a:xfrm>
            <a:off x="7911274" y="5025370"/>
            <a:ext cx="3924919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Operator capability and customer demand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1520" y="6048470"/>
            <a:ext cx="3423427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1" name="Editable text: Spa/wellness"/>
          <p:cNvSpPr txBox="1"/>
          <p:nvPr/>
        </p:nvSpPr>
        <p:spPr>
          <a:xfrm>
            <a:off x="932688" y="5579440"/>
            <a:ext cx="3021091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183D32"/>
                </a:solidFill>
                <a:latin typeface="Georgia"/>
              </a:rPr>
              <a:t>Spa/wellness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54947" y="6048470"/>
            <a:ext cx="3555159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3" name="Editable text: Local and hotel spending"/>
          <p:cNvSpPr txBox="1"/>
          <p:nvPr/>
        </p:nvSpPr>
        <p:spPr>
          <a:xfrm>
            <a:off x="4356115" y="5625160"/>
            <a:ext cx="2413444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Local and hotel spending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10106" y="6048470"/>
            <a:ext cx="6188774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5" name="Editable text: Privacy, acoustics and service economics"/>
          <p:cNvSpPr txBox="1"/>
          <p:nvPr/>
        </p:nvSpPr>
        <p:spPr>
          <a:xfrm>
            <a:off x="7911274" y="5625160"/>
            <a:ext cx="3888057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Privacy, acoustics and service economics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7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48" name="Editable text: POSITIONING &amp; TENANT STRATEGY"/>
          <p:cNvSpPr txBox="1"/>
          <p:nvPr/>
        </p:nvSpPr>
        <p:spPr>
          <a:xfrm>
            <a:off x="11751468" y="273405"/>
            <a:ext cx="2330291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51" name="Editable text: Visual: Activity-to-café relationship, dengan quiet buffer menuju"/>
          <p:cNvSpPr txBox="1"/>
          <p:nvPr/>
        </p:nvSpPr>
        <p:spPr>
          <a:xfrm>
            <a:off x="896112" y="7287853"/>
            <a:ext cx="525165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Activity-to-café relationship, dengan quiet buffer menuju hotel/wellness.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3" name="Editable text: POSITIONING &amp; TENANT STRATEGY"/>
          <p:cNvSpPr txBox="1"/>
          <p:nvPr/>
        </p:nvSpPr>
        <p:spPr>
          <a:xfrm>
            <a:off x="731520" y="7891272"/>
            <a:ext cx="206768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54" name="Editable text: SOURCE: KALINDO PROJECT (1).PDF / 18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EVERYDAY &amp; SOCIAL ANCHORS"/>
          <p:cNvSpPr txBox="1"/>
          <p:nvPr/>
        </p:nvSpPr>
        <p:spPr>
          <a:xfrm>
            <a:off x="731520" y="911656"/>
            <a:ext cx="2533459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EVERYDAY &amp; SOCIAL ANCHORS</a:t>
            </a:r>
          </a:p>
        </p:txBody>
      </p:sp>
      <p:sp>
        <p:nvSpPr>
          <p:cNvPr id="3" name="Editable text: REASONS TO RETURN, AND REASONS TO CONTINUE THE EVENING"/>
          <p:cNvSpPr txBox="1"/>
          <p:nvPr/>
        </p:nvSpPr>
        <p:spPr>
          <a:xfrm>
            <a:off x="731520" y="1070762"/>
            <a:ext cx="13167360" cy="1562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REASONS TO RETURN, AND REASONS TO CONTINUE THE EVENING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606040"/>
            <a:ext cx="628650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5" name="Editable text: Everyday candidates"/>
          <p:cNvSpPr txBox="1"/>
          <p:nvPr/>
        </p:nvSpPr>
        <p:spPr>
          <a:xfrm>
            <a:off x="731520" y="2719425"/>
            <a:ext cx="1720072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Everyday candidates</a:t>
            </a:r>
          </a:p>
        </p:txBody>
      </p:sp>
      <p:sp>
        <p:nvSpPr>
          <p:cNvPr id="6" name="Editable text: Specialty grocery, personal services and selected useful retail."/>
          <p:cNvSpPr txBox="1"/>
          <p:nvPr/>
        </p:nvSpPr>
        <p:spPr>
          <a:xfrm>
            <a:off x="731520" y="3023006"/>
            <a:ext cx="6230635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292D29"/>
                </a:solidFill>
                <a:latin typeface="Arial"/>
              </a:rPr>
              <a:t>Specialty grocery, personal services and selected useful retail.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589877"/>
            <a:ext cx="628650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8" name="Editable text: Social candidates"/>
          <p:cNvSpPr txBox="1"/>
          <p:nvPr/>
        </p:nvSpPr>
        <p:spPr>
          <a:xfrm>
            <a:off x="731520" y="3703262"/>
            <a:ext cx="1496615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Social candidates</a:t>
            </a:r>
          </a:p>
        </p:txBody>
      </p:sp>
      <p:sp>
        <p:nvSpPr>
          <p:cNvPr id="9" name="Editable text: Participatory games, hobby concepts, social dining and managed pe"/>
          <p:cNvSpPr txBox="1"/>
          <p:nvPr/>
        </p:nvSpPr>
        <p:spPr>
          <a:xfrm>
            <a:off x="731520" y="4006843"/>
            <a:ext cx="6286500" cy="625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292D29"/>
                </a:solidFill>
                <a:latin typeface="Arial"/>
              </a:rPr>
              <a:t>Participatory games, hobby concepts, social dining and managed performance formats.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880895"/>
            <a:ext cx="628650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1" name="Editable text: Selection principle"/>
          <p:cNvSpPr txBox="1"/>
          <p:nvPr/>
        </p:nvSpPr>
        <p:spPr>
          <a:xfrm>
            <a:off x="731520" y="4994281"/>
            <a:ext cx="156076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Selection principle</a:t>
            </a:r>
          </a:p>
        </p:txBody>
      </p:sp>
      <p:sp>
        <p:nvSpPr>
          <p:cNvPr id="12" name="Editable text: Each concept must fit the customer, available space and surroundi"/>
          <p:cNvSpPr txBox="1"/>
          <p:nvPr/>
        </p:nvSpPr>
        <p:spPr>
          <a:xfrm>
            <a:off x="731520" y="5297862"/>
            <a:ext cx="6286500" cy="625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292D29"/>
                </a:solidFill>
                <a:latin typeface="Arial"/>
              </a:rPr>
              <a:t>Each concept must fit the customer, available space and surrounding uses.</a:t>
            </a:r>
          </a:p>
        </p:txBody>
      </p:sp>
      <p:pic>
        <p:nvPicPr>
          <p:cNvPr id="13" name="Replaceable photo: slide-15-vranda.jpg" descr="slide-15-vranda.jpg"/>
          <p:cNvPicPr>
            <a:picLocks noChangeAspect="1"/>
          </p:cNvPicPr>
          <p:nvPr/>
        </p:nvPicPr>
        <p:blipFill>
          <a:blip r:embed="rId2"/>
          <a:srcRect l="5321" r="5321"/>
          <a:stretch>
            <a:fillRect/>
          </a:stretch>
        </p:blipFill>
        <p:spPr>
          <a:xfrm>
            <a:off x="7612379" y="2606040"/>
            <a:ext cx="6286500" cy="395935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612379" y="6300216"/>
            <a:ext cx="6286500" cy="265176"/>
          </a:xfrm>
          <a:prstGeom prst="rect">
            <a:avLst/>
          </a:prstGeom>
          <a:solidFill>
            <a:srgbClr val="183D32">
              <a:alpha val="9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Editable text: SUPPLIED CONCEPT VISUAL · APPROVAL STATUS UNVERIFIED"/>
          <p:cNvSpPr txBox="1"/>
          <p:nvPr/>
        </p:nvSpPr>
        <p:spPr>
          <a:xfrm>
            <a:off x="7740396" y="6383426"/>
            <a:ext cx="3136392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72">
                <a:solidFill>
                  <a:srgbClr val="F4F1E8"/>
                </a:solidFill>
                <a:latin typeface="Arial"/>
              </a:rPr>
              <a:t>SUPPLIED CONCEPT VISUAL · APPROVAL STATUS UNVERIFIED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7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18" name="Editable text: POSITIONING &amp; TENANT STRATEGY"/>
          <p:cNvSpPr txBox="1"/>
          <p:nvPr/>
        </p:nvSpPr>
        <p:spPr>
          <a:xfrm>
            <a:off x="11751468" y="273405"/>
            <a:ext cx="2330291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750272"/>
            <a:ext cx="13167360" cy="83924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text: BRIEF NOTES · PRESERVED VERBATIM"/>
          <p:cNvSpPr txBox="1"/>
          <p:nvPr/>
        </p:nvSpPr>
        <p:spPr>
          <a:xfrm>
            <a:off x="896112" y="686091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21" name="Editable text: Visual: Grocery morning dan social evening."/>
          <p:cNvSpPr txBox="1"/>
          <p:nvPr/>
        </p:nvSpPr>
        <p:spPr>
          <a:xfrm>
            <a:off x="896112" y="7037393"/>
            <a:ext cx="303923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Grocery morning dan social evening.</a:t>
            </a:r>
          </a:p>
        </p:txBody>
      </p:sp>
      <p:sp>
        <p:nvSpPr>
          <p:cNvPr id="22" name="Editable text: Catatan: Cinema tetap dapat diuji bila ada operator demand. Keber"/>
          <p:cNvSpPr txBox="1"/>
          <p:nvPr/>
        </p:nvSpPr>
        <p:spPr>
          <a:xfrm>
            <a:off x="896112" y="7287853"/>
            <a:ext cx="8877823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Catatan: Cinema tetap dapat diuji bila ada operator demand. Keberadaan cinema di kompetitor tidak otomatis membuatnya tidak layak.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4" name="Editable text: POSITIONING &amp; TENANT STRATEGY"/>
          <p:cNvSpPr txBox="1"/>
          <p:nvPr/>
        </p:nvSpPr>
        <p:spPr>
          <a:xfrm>
            <a:off x="731520" y="7891272"/>
            <a:ext cx="206768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25" name="Editable text: SOURCE: KALINDO PROJECT (1).PDF / 19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TENANT ADJACENCY"/>
          <p:cNvSpPr txBox="1"/>
          <p:nvPr/>
        </p:nvSpPr>
        <p:spPr>
          <a:xfrm>
            <a:off x="731520" y="911656"/>
            <a:ext cx="1728644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TENANT ADJACENCY</a:t>
            </a:r>
          </a:p>
        </p:txBody>
      </p:sp>
      <p:sp>
        <p:nvSpPr>
          <p:cNvPr id="3" name="Editable text: THE MIX WORKS THROUGH ITS CONNECTIONS"/>
          <p:cNvSpPr txBox="1"/>
          <p:nvPr/>
        </p:nvSpPr>
        <p:spPr>
          <a:xfrm>
            <a:off x="731520" y="1070762"/>
            <a:ext cx="13167360" cy="1001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THE MIX WORKS THROUGH ITS CONNECTIONS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39112"/>
            <a:ext cx="438912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text: Relationship"/>
          <p:cNvSpPr txBox="1"/>
          <p:nvPr/>
        </p:nvSpPr>
        <p:spPr>
          <a:xfrm>
            <a:off x="932688" y="2170785"/>
            <a:ext cx="1093279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039112"/>
            <a:ext cx="438912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text: Intended outcome"/>
          <p:cNvSpPr txBox="1"/>
          <p:nvPr/>
        </p:nvSpPr>
        <p:spPr>
          <a:xfrm>
            <a:off x="5321808" y="2170785"/>
            <a:ext cx="1498044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Intended outcome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9760" y="2039112"/>
            <a:ext cx="438912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text: Design implication"/>
          <p:cNvSpPr txBox="1"/>
          <p:nvPr/>
        </p:nvSpPr>
        <p:spPr>
          <a:xfrm>
            <a:off x="9710928" y="2170785"/>
            <a:ext cx="1532191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Design implication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087814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1" name="Editable text: Family activity + café/dining"/>
          <p:cNvSpPr txBox="1"/>
          <p:nvPr/>
        </p:nvSpPr>
        <p:spPr>
          <a:xfrm>
            <a:off x="932688" y="2602382"/>
            <a:ext cx="3986784" cy="4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24" b="0">
                <a:solidFill>
                  <a:srgbClr val="183D32"/>
                </a:solidFill>
                <a:latin typeface="Georgia"/>
              </a:rPr>
              <a:t>Family activity + café/dining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0640" y="3087814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3" name="Editable text: Parents spend time nearby"/>
          <p:cNvSpPr txBox="1"/>
          <p:nvPr/>
        </p:nvSpPr>
        <p:spPr>
          <a:xfrm>
            <a:off x="5321808" y="2668562"/>
            <a:ext cx="2466308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Parents spend time nearby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09760" y="3087814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5" name="Editable text: Safe, convenient access"/>
          <p:cNvSpPr txBox="1"/>
          <p:nvPr/>
        </p:nvSpPr>
        <p:spPr>
          <a:xfrm>
            <a:off x="9710928" y="2668562"/>
            <a:ext cx="2253853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Safe, convenient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87814"/>
            <a:ext cx="4389120" cy="6052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31520" y="3693033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8" name="Editable text: Sport + café/recovery"/>
          <p:cNvSpPr txBox="1"/>
          <p:nvPr/>
        </p:nvSpPr>
        <p:spPr>
          <a:xfrm>
            <a:off x="932688" y="3207600"/>
            <a:ext cx="3986784" cy="4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24" b="0">
                <a:solidFill>
                  <a:srgbClr val="183D32"/>
                </a:solidFill>
                <a:latin typeface="Georgia"/>
              </a:rPr>
              <a:t>Sport + café/recovery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3087814"/>
            <a:ext cx="4389120" cy="6052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120640" y="3693033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1" name="Editable text: Additional visits after activity"/>
          <p:cNvSpPr txBox="1"/>
          <p:nvPr/>
        </p:nvSpPr>
        <p:spPr>
          <a:xfrm>
            <a:off x="5321808" y="3273780"/>
            <a:ext cx="2586894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Additional visits after activity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3087814"/>
            <a:ext cx="4389120" cy="6052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09760" y="3693033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4" name="Editable text: Compatible hours and frontage"/>
          <p:cNvSpPr txBox="1"/>
          <p:nvPr/>
        </p:nvSpPr>
        <p:spPr>
          <a:xfrm>
            <a:off x="9710928" y="3273780"/>
            <a:ext cx="2813065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Compatible hours and frontage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4298251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6" name="Editable text: Grocery + useful services"/>
          <p:cNvSpPr txBox="1"/>
          <p:nvPr/>
        </p:nvSpPr>
        <p:spPr>
          <a:xfrm>
            <a:off x="932688" y="3812819"/>
            <a:ext cx="3986784" cy="4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24" b="0">
                <a:solidFill>
                  <a:srgbClr val="183D32"/>
                </a:solidFill>
                <a:latin typeface="Georgia"/>
              </a:rPr>
              <a:t>Grocery + useful services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20640" y="4298251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8" name="Editable text: Several needs within one trip"/>
          <p:cNvSpPr txBox="1"/>
          <p:nvPr/>
        </p:nvSpPr>
        <p:spPr>
          <a:xfrm>
            <a:off x="5321808" y="3878999"/>
            <a:ext cx="2638329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Several needs within one trip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09760" y="4298251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0" name="Editable text: Easy access and visible connections"/>
          <p:cNvSpPr txBox="1"/>
          <p:nvPr/>
        </p:nvSpPr>
        <p:spPr>
          <a:xfrm>
            <a:off x="9710928" y="3878999"/>
            <a:ext cx="3298555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Easy access and visible connections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298251"/>
            <a:ext cx="4389120" cy="6052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31520" y="4903470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3" name="Editable text: Hotel + culinary"/>
          <p:cNvSpPr txBox="1"/>
          <p:nvPr/>
        </p:nvSpPr>
        <p:spPr>
          <a:xfrm>
            <a:off x="932688" y="4418037"/>
            <a:ext cx="3986784" cy="4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24" b="0">
                <a:solidFill>
                  <a:srgbClr val="183D32"/>
                </a:solidFill>
                <a:latin typeface="Georgia"/>
              </a:rPr>
              <a:t>Hotel + culinary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4298251"/>
            <a:ext cx="4389120" cy="6052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120640" y="4903470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6" name="Editable text: Guest spending across the district"/>
          <p:cNvSpPr txBox="1"/>
          <p:nvPr/>
        </p:nvSpPr>
        <p:spPr>
          <a:xfrm>
            <a:off x="5321808" y="4484217"/>
            <a:ext cx="3072098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Guest spending across the district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4298251"/>
            <a:ext cx="4389120" cy="6052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9509760" y="4903470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9" name="Editable text: Clear public/private transition"/>
          <p:cNvSpPr txBox="1"/>
          <p:nvPr/>
        </p:nvSpPr>
        <p:spPr>
          <a:xfrm>
            <a:off x="9710928" y="4484217"/>
            <a:ext cx="2646616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Clear public/private transition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1520" y="5508688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1" name="Editable text: The Veranda + dining"/>
          <p:cNvSpPr txBox="1"/>
          <p:nvPr/>
        </p:nvSpPr>
        <p:spPr>
          <a:xfrm>
            <a:off x="932688" y="5023256"/>
            <a:ext cx="3986784" cy="4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24" b="0">
                <a:solidFill>
                  <a:srgbClr val="183D32"/>
                </a:solidFill>
                <a:latin typeface="Georgia"/>
              </a:rPr>
              <a:t>The Veranda + dining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120640" y="5508688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3" name="Editable text: Event activity supports tenants"/>
          <p:cNvSpPr txBox="1"/>
          <p:nvPr/>
        </p:nvSpPr>
        <p:spPr>
          <a:xfrm>
            <a:off x="5321808" y="5089436"/>
            <a:ext cx="2783919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Event activity supports tenants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509760" y="5508688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5" name="Editable text: Frontage, seating and access"/>
          <p:cNvSpPr txBox="1"/>
          <p:nvPr/>
        </p:nvSpPr>
        <p:spPr>
          <a:xfrm>
            <a:off x="9710928" y="5089436"/>
            <a:ext cx="2685192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Frontage, seating and access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508688"/>
            <a:ext cx="4389120" cy="6052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731520" y="6113907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8" name="Editable text: Wellness + hotel"/>
          <p:cNvSpPr txBox="1"/>
          <p:nvPr/>
        </p:nvSpPr>
        <p:spPr>
          <a:xfrm>
            <a:off x="932688" y="5628474"/>
            <a:ext cx="3986784" cy="4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24" b="0">
                <a:solidFill>
                  <a:srgbClr val="183D32"/>
                </a:solidFill>
                <a:latin typeface="Georgia"/>
              </a:rPr>
              <a:t>Wellness + hotel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5508688"/>
            <a:ext cx="4389120" cy="6052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5120640" y="6113907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1" name="Editable text: Convenient quieter experiences"/>
          <p:cNvSpPr txBox="1"/>
          <p:nvPr/>
        </p:nvSpPr>
        <p:spPr>
          <a:xfrm>
            <a:off x="5321808" y="5694654"/>
            <a:ext cx="2867072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Convenient quieter experiences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760" y="5508688"/>
            <a:ext cx="4389120" cy="6052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509760" y="6113907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4" name="Editable text: Acoustic and privacy buffers"/>
          <p:cNvSpPr txBox="1"/>
          <p:nvPr/>
        </p:nvSpPr>
        <p:spPr>
          <a:xfrm>
            <a:off x="9710928" y="5694654"/>
            <a:ext cx="2578893" cy="278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481" b="0">
                <a:solidFill>
                  <a:srgbClr val="292D29"/>
                </a:solidFill>
                <a:latin typeface="Arial"/>
              </a:rPr>
              <a:t>Acoustic and privacy buffers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6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57" name="Editable text: POSITIONING &amp; TENANT STRATEGY"/>
          <p:cNvSpPr txBox="1"/>
          <p:nvPr/>
        </p:nvSpPr>
        <p:spPr>
          <a:xfrm>
            <a:off x="11751468" y="273405"/>
            <a:ext cx="2330291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60" name="Editable text: Visual: Annotated zoning map."/>
          <p:cNvSpPr txBox="1"/>
          <p:nvPr/>
        </p:nvSpPr>
        <p:spPr>
          <a:xfrm>
            <a:off x="896112" y="7287853"/>
            <a:ext cx="2158269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Annotated zoning map.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62" name="Editable text: POSITIONING &amp; TENANT STRATEGY"/>
          <p:cNvSpPr txBox="1"/>
          <p:nvPr/>
        </p:nvSpPr>
        <p:spPr>
          <a:xfrm>
            <a:off x="731520" y="7891272"/>
            <a:ext cx="2067687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POSITIONING &amp; TENANT STRATEGY</a:t>
            </a:r>
          </a:p>
        </p:txBody>
      </p:sp>
      <p:sp>
        <p:nvSpPr>
          <p:cNvPr id="63" name="Editable text: SOURCE: KALINDO PROJECT (1).PDF / 20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ANCHOR AREA CHECK"/>
          <p:cNvSpPr txBox="1"/>
          <p:nvPr/>
        </p:nvSpPr>
        <p:spPr>
          <a:xfrm>
            <a:off x="731520" y="911656"/>
            <a:ext cx="1851945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ANCHOR AREA CHECK</a:t>
            </a:r>
          </a:p>
        </p:txBody>
      </p:sp>
      <p:sp>
        <p:nvSpPr>
          <p:cNvPr id="3" name="Editable text: SPACE ALLOCATION FOLLOWS OPERATOR REQUIREMENTS"/>
          <p:cNvSpPr txBox="1"/>
          <p:nvPr/>
        </p:nvSpPr>
        <p:spPr>
          <a:xfrm>
            <a:off x="731520" y="1074420"/>
            <a:ext cx="13167360" cy="1462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18"/>
              </a:lnSpc>
              <a:spcBef>
                <a:spcPts val="0"/>
              </a:spcBef>
              <a:spcAft>
                <a:spcPts val="0"/>
              </a:spcAft>
            </a:pPr>
            <a:r>
              <a:rPr sz="3722" b="0" spc="-72">
                <a:solidFill>
                  <a:srgbClr val="183D32"/>
                </a:solidFill>
                <a:latin typeface="Georgia"/>
              </a:rPr>
              <a:t>SPACE ALLOCATION FOLLOWS OPERATOR REQUIREMENTS</a:t>
            </a:r>
          </a:p>
        </p:txBody>
      </p:sp>
      <p:sp>
        <p:nvSpPr>
          <p:cNvPr id="4" name="Editable text: Current working figures from the feedback document."/>
          <p:cNvSpPr txBox="1"/>
          <p:nvPr/>
        </p:nvSpPr>
        <p:spPr>
          <a:xfrm>
            <a:off x="731520" y="2539288"/>
            <a:ext cx="5126497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Current working figures from the feedback document.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19234"/>
            <a:ext cx="658368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text: Item"/>
          <p:cNvSpPr txBox="1"/>
          <p:nvPr/>
        </p:nvSpPr>
        <p:spPr>
          <a:xfrm>
            <a:off x="932688" y="3150908"/>
            <a:ext cx="502062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Item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3019234"/>
            <a:ext cx="329184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text: Alternative 1"/>
          <p:cNvSpPr txBox="1"/>
          <p:nvPr/>
        </p:nvSpPr>
        <p:spPr>
          <a:xfrm>
            <a:off x="7516368" y="3150908"/>
            <a:ext cx="110756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Alternative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07040" y="3019234"/>
            <a:ext cx="329184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Editable text: Alternative 2"/>
          <p:cNvSpPr txBox="1"/>
          <p:nvPr/>
        </p:nvSpPr>
        <p:spPr>
          <a:xfrm>
            <a:off x="10808208" y="3150908"/>
            <a:ext cx="110756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Alternative 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4230814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2" name="Editable text: Anchor area at ground level"/>
          <p:cNvSpPr txBox="1"/>
          <p:nvPr/>
        </p:nvSpPr>
        <p:spPr>
          <a:xfrm>
            <a:off x="932688" y="3657028"/>
            <a:ext cx="6181344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Anchor area at ground level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4230814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4" name="Editable text: 1,880 m²"/>
          <p:cNvSpPr txBox="1"/>
          <p:nvPr/>
        </p:nvSpPr>
        <p:spPr>
          <a:xfrm>
            <a:off x="7516368" y="3580676"/>
            <a:ext cx="2889504" cy="614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0"/>
              </a:lnSpc>
              <a:spcBef>
                <a:spcPts val="0"/>
              </a:spcBef>
              <a:spcAft>
                <a:spcPts val="0"/>
              </a:spcAft>
            </a:pPr>
            <a:r>
              <a:rPr sz="2436" b="0">
                <a:solidFill>
                  <a:srgbClr val="183D32"/>
                </a:solidFill>
                <a:latin typeface="Georgia"/>
              </a:rPr>
              <a:t>1,880 m²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607040" y="4230814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6" name="Editable text: 2,185 m²"/>
          <p:cNvSpPr txBox="1"/>
          <p:nvPr/>
        </p:nvSpPr>
        <p:spPr>
          <a:xfrm>
            <a:off x="10808208" y="3580676"/>
            <a:ext cx="2889504" cy="614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0"/>
              </a:lnSpc>
              <a:spcBef>
                <a:spcPts val="0"/>
              </a:spcBef>
              <a:spcAft>
                <a:spcPts val="0"/>
              </a:spcAft>
            </a:pPr>
            <a:r>
              <a:rPr sz="2436" b="0">
                <a:solidFill>
                  <a:srgbClr val="183D32"/>
                </a:solidFill>
                <a:latin typeface="Georgia"/>
              </a:rPr>
              <a:t>2,185 m²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30814"/>
            <a:ext cx="6583680" cy="76809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31520" y="4998910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9" name="Editable text: Anchor area at P1"/>
          <p:cNvSpPr txBox="1"/>
          <p:nvPr/>
        </p:nvSpPr>
        <p:spPr>
          <a:xfrm>
            <a:off x="932688" y="4425124"/>
            <a:ext cx="6181344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Anchor area at P1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230814"/>
            <a:ext cx="3291840" cy="76809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315200" y="4998910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2" name="Editable text: 1,880 m²"/>
          <p:cNvSpPr txBox="1"/>
          <p:nvPr/>
        </p:nvSpPr>
        <p:spPr>
          <a:xfrm>
            <a:off x="7516368" y="4348772"/>
            <a:ext cx="2889504" cy="614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0"/>
              </a:lnSpc>
              <a:spcBef>
                <a:spcPts val="0"/>
              </a:spcBef>
              <a:spcAft>
                <a:spcPts val="0"/>
              </a:spcAft>
            </a:pPr>
            <a:r>
              <a:rPr sz="2436" b="0">
                <a:solidFill>
                  <a:srgbClr val="183D32"/>
                </a:solidFill>
                <a:latin typeface="Georgia"/>
              </a:rPr>
              <a:t>1,880 m²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4230814"/>
            <a:ext cx="3291840" cy="76809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0607040" y="4998910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5" name="Editable text: 2,185 m²"/>
          <p:cNvSpPr txBox="1"/>
          <p:nvPr/>
        </p:nvSpPr>
        <p:spPr>
          <a:xfrm>
            <a:off x="10808208" y="4348772"/>
            <a:ext cx="2889504" cy="614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0"/>
              </a:lnSpc>
              <a:spcBef>
                <a:spcPts val="0"/>
              </a:spcBef>
              <a:spcAft>
                <a:spcPts val="0"/>
              </a:spcAft>
            </a:pPr>
            <a:r>
              <a:rPr sz="2436" b="0">
                <a:solidFill>
                  <a:srgbClr val="183D32"/>
                </a:solidFill>
                <a:latin typeface="Georgia"/>
              </a:rPr>
              <a:t>2,185 m²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5767006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7" name="Editable text: Combined anchor allocation"/>
          <p:cNvSpPr txBox="1"/>
          <p:nvPr/>
        </p:nvSpPr>
        <p:spPr>
          <a:xfrm>
            <a:off x="932688" y="5193220"/>
            <a:ext cx="6181344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Combined anchor allocation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0" y="5767006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9" name="Editable text: 3,760 m²"/>
          <p:cNvSpPr txBox="1"/>
          <p:nvPr/>
        </p:nvSpPr>
        <p:spPr>
          <a:xfrm>
            <a:off x="7516368" y="5116868"/>
            <a:ext cx="2889504" cy="614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0"/>
              </a:lnSpc>
              <a:spcBef>
                <a:spcPts val="0"/>
              </a:spcBef>
              <a:spcAft>
                <a:spcPts val="0"/>
              </a:spcAft>
            </a:pPr>
            <a:r>
              <a:rPr sz="2436" b="0">
                <a:solidFill>
                  <a:srgbClr val="183D32"/>
                </a:solidFill>
                <a:latin typeface="Georgia"/>
              </a:rPr>
              <a:t>3,760 m²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607040" y="5767006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1" name="Editable text: 4,370 m²"/>
          <p:cNvSpPr txBox="1"/>
          <p:nvPr/>
        </p:nvSpPr>
        <p:spPr>
          <a:xfrm>
            <a:off x="10808208" y="5116868"/>
            <a:ext cx="2889504" cy="614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0"/>
              </a:lnSpc>
              <a:spcBef>
                <a:spcPts val="0"/>
              </a:spcBef>
              <a:spcAft>
                <a:spcPts val="0"/>
              </a:spcAft>
            </a:pPr>
            <a:r>
              <a:rPr sz="2436" b="0">
                <a:solidFill>
                  <a:srgbClr val="183D32"/>
                </a:solidFill>
                <a:latin typeface="Georgia"/>
              </a:rPr>
              <a:t>4,370 m²</a:t>
            </a:r>
          </a:p>
        </p:txBody>
      </p:sp>
      <p:sp>
        <p:nvSpPr>
          <p:cNvPr id="32" name="Editable text: The commercial team must test whether operators require one large"/>
          <p:cNvSpPr txBox="1"/>
          <p:nvPr/>
        </p:nvSpPr>
        <p:spPr>
          <a:xfrm>
            <a:off x="731520" y="5970917"/>
            <a:ext cx="628650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The commercial team must test whether operators require one large unit, several subdivisions or a connected multi-level format.</a:t>
            </a:r>
          </a:p>
        </p:txBody>
      </p:sp>
      <p:sp>
        <p:nvSpPr>
          <p:cNvPr id="33" name="Editable text: Validation points"/>
          <p:cNvSpPr txBox="1"/>
          <p:nvPr/>
        </p:nvSpPr>
        <p:spPr>
          <a:xfrm>
            <a:off x="7612379" y="5948972"/>
            <a:ext cx="1416034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Validation points</a:t>
            </a:r>
          </a:p>
        </p:txBody>
      </p:sp>
      <p:sp>
        <p:nvSpPr>
          <p:cNvPr id="34" name="Editable text: Independent access, loading, visibility, vertical connection and "/>
          <p:cNvSpPr txBox="1"/>
          <p:nvPr/>
        </p:nvSpPr>
        <p:spPr>
          <a:xfrm>
            <a:off x="7612379" y="6254381"/>
            <a:ext cx="6286500" cy="573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7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Independent access, loading, visibility, vertical connection and technical fit.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6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37" name="Editable text: COMMERCIAL VALIDATION"/>
          <p:cNvSpPr txBox="1"/>
          <p:nvPr/>
        </p:nvSpPr>
        <p:spPr>
          <a:xfrm>
            <a:off x="12310110" y="273405"/>
            <a:ext cx="1771650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COMMERCIAL VALIDATION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40" name="Editable text: Visual: Kedua opsi dengan anchor allocation ditandai. Jangan meng"/>
          <p:cNvSpPr txBox="1"/>
          <p:nvPr/>
        </p:nvSpPr>
        <p:spPr>
          <a:xfrm>
            <a:off x="896112" y="7287853"/>
            <a:ext cx="8077723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Kedua opsi dengan anchor allocation ditandai. Jangan menganggap dua lantai otomatis cocok untuk satu operator.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2" name="Editable text: COMMERCIAL VALIDATION"/>
          <p:cNvSpPr txBox="1"/>
          <p:nvPr/>
        </p:nvSpPr>
        <p:spPr>
          <a:xfrm>
            <a:off x="731520" y="7891272"/>
            <a:ext cx="157848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COMMERCIAL VALIDATION</a:t>
            </a:r>
          </a:p>
        </p:txBody>
      </p:sp>
      <p:sp>
        <p:nvSpPr>
          <p:cNvPr id="43" name="Editable text: SOURCE: KALINDO PROJECT (1).PDF / 21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INITIAL SOUNDING PLAN"/>
          <p:cNvSpPr txBox="1"/>
          <p:nvPr/>
        </p:nvSpPr>
        <p:spPr>
          <a:xfrm>
            <a:off x="731520" y="911656"/>
            <a:ext cx="2035825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INITIAL SOUNDING PLAN</a:t>
            </a:r>
          </a:p>
        </p:txBody>
      </p:sp>
      <p:sp>
        <p:nvSpPr>
          <p:cNvPr id="3" name="Editable text: TWENTY FOCUSED OPERATOR CONVERSATIONS"/>
          <p:cNvSpPr txBox="1"/>
          <p:nvPr/>
        </p:nvSpPr>
        <p:spPr>
          <a:xfrm>
            <a:off x="731520" y="1070762"/>
            <a:ext cx="13167360" cy="1562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TWENTY FOCUSED OPERATOR CONVERSATIONS</a:t>
            </a:r>
          </a:p>
        </p:txBody>
      </p:sp>
      <p:sp>
        <p:nvSpPr>
          <p:cNvPr id="4" name="Editable text: Proposed outreach allocation."/>
          <p:cNvSpPr txBox="1"/>
          <p:nvPr/>
        </p:nvSpPr>
        <p:spPr>
          <a:xfrm>
            <a:off x="731520" y="2621584"/>
            <a:ext cx="2957369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Proposed outreach allocation.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64954"/>
            <a:ext cx="3208972" cy="393192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text: Category"/>
          <p:cNvSpPr txBox="1"/>
          <p:nvPr/>
        </p:nvSpPr>
        <p:spPr>
          <a:xfrm>
            <a:off x="960120" y="3169196"/>
            <a:ext cx="847105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940492" y="3064954"/>
            <a:ext cx="3209115" cy="393192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text: Conversations"/>
          <p:cNvSpPr txBox="1"/>
          <p:nvPr/>
        </p:nvSpPr>
        <p:spPr>
          <a:xfrm>
            <a:off x="4169092" y="3169196"/>
            <a:ext cx="123001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Conversations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833907"/>
            <a:ext cx="320897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0" name="Editable text: Culinary"/>
          <p:cNvSpPr txBox="1"/>
          <p:nvPr/>
        </p:nvSpPr>
        <p:spPr>
          <a:xfrm>
            <a:off x="960120" y="3474605"/>
            <a:ext cx="2751772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183D32"/>
                </a:solidFill>
                <a:latin typeface="Georgia"/>
              </a:rPr>
              <a:t>Culinary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40492" y="3833907"/>
            <a:ext cx="3209115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2" name="Editable text: 5"/>
          <p:cNvSpPr txBox="1"/>
          <p:nvPr/>
        </p:nvSpPr>
        <p:spPr>
          <a:xfrm>
            <a:off x="5485542" y="3443516"/>
            <a:ext cx="2751915" cy="445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759" b="0">
                <a:solidFill>
                  <a:srgbClr val="183D32"/>
                </a:solidFill>
                <a:latin typeface="Georgia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33907"/>
            <a:ext cx="3208972" cy="380333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31520" y="4214241"/>
            <a:ext cx="320897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5" name="Editable text: Family and learning"/>
          <p:cNvSpPr txBox="1"/>
          <p:nvPr/>
        </p:nvSpPr>
        <p:spPr>
          <a:xfrm>
            <a:off x="960120" y="3854938"/>
            <a:ext cx="2751772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183D32"/>
                </a:solidFill>
                <a:latin typeface="Georgia"/>
              </a:rPr>
              <a:t>Family and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40492" y="3833907"/>
            <a:ext cx="3209115" cy="380333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940492" y="4214241"/>
            <a:ext cx="3209115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8" name="Editable text: 3"/>
          <p:cNvSpPr txBox="1"/>
          <p:nvPr/>
        </p:nvSpPr>
        <p:spPr>
          <a:xfrm>
            <a:off x="5485542" y="3823849"/>
            <a:ext cx="2751915" cy="445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759" b="0">
                <a:solidFill>
                  <a:srgbClr val="183D32"/>
                </a:solidFill>
                <a:latin typeface="Georgia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4594574"/>
            <a:ext cx="320897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0" name="Editable text: Sport and fitness"/>
          <p:cNvSpPr txBox="1"/>
          <p:nvPr/>
        </p:nvSpPr>
        <p:spPr>
          <a:xfrm>
            <a:off x="960120" y="4235272"/>
            <a:ext cx="2751772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183D32"/>
                </a:solidFill>
                <a:latin typeface="Georgia"/>
              </a:rPr>
              <a:t>Sport and fitness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40492" y="4594574"/>
            <a:ext cx="3209115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2" name="Editable text: 4"/>
          <p:cNvSpPr txBox="1"/>
          <p:nvPr/>
        </p:nvSpPr>
        <p:spPr>
          <a:xfrm>
            <a:off x="5485542" y="4204182"/>
            <a:ext cx="2751915" cy="445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759" b="0">
                <a:solidFill>
                  <a:srgbClr val="183D32"/>
                </a:solidFill>
                <a:latin typeface="Georgia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94574"/>
            <a:ext cx="3208972" cy="380333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31520" y="4974907"/>
            <a:ext cx="320897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5" name="Editable text: Wellness and recovery"/>
          <p:cNvSpPr txBox="1"/>
          <p:nvPr/>
        </p:nvSpPr>
        <p:spPr>
          <a:xfrm>
            <a:off x="960120" y="4615605"/>
            <a:ext cx="2751772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183D32"/>
                </a:solidFill>
                <a:latin typeface="Georgia"/>
              </a:rPr>
              <a:t>Wellness and recovery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40492" y="4594574"/>
            <a:ext cx="3209115" cy="380333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940492" y="4974907"/>
            <a:ext cx="3209115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8" name="Editable text: 3"/>
          <p:cNvSpPr txBox="1"/>
          <p:nvPr/>
        </p:nvSpPr>
        <p:spPr>
          <a:xfrm>
            <a:off x="5485542" y="4584515"/>
            <a:ext cx="2751915" cy="445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759" b="0">
                <a:solidFill>
                  <a:srgbClr val="183D32"/>
                </a:solidFill>
                <a:latin typeface="Georgia"/>
              </a:rP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5355240"/>
            <a:ext cx="320897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0" name="Editable text: Grocery"/>
          <p:cNvSpPr txBox="1"/>
          <p:nvPr/>
        </p:nvSpPr>
        <p:spPr>
          <a:xfrm>
            <a:off x="960120" y="4995938"/>
            <a:ext cx="2751772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183D32"/>
                </a:solidFill>
                <a:latin typeface="Georgia"/>
              </a:rPr>
              <a:t>Grocery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40492" y="5355240"/>
            <a:ext cx="3209115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2" name="Editable text: 2"/>
          <p:cNvSpPr txBox="1"/>
          <p:nvPr/>
        </p:nvSpPr>
        <p:spPr>
          <a:xfrm>
            <a:off x="5485542" y="4964849"/>
            <a:ext cx="2751915" cy="445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759" b="0">
                <a:solidFill>
                  <a:srgbClr val="183D32"/>
                </a:solidFill>
                <a:latin typeface="Georgia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355240"/>
            <a:ext cx="3208972" cy="380333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31520" y="5735574"/>
            <a:ext cx="320897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5" name="Editable text: Social entertainment"/>
          <p:cNvSpPr txBox="1"/>
          <p:nvPr/>
        </p:nvSpPr>
        <p:spPr>
          <a:xfrm>
            <a:off x="960120" y="5376271"/>
            <a:ext cx="2751772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183D32"/>
                </a:solidFill>
                <a:latin typeface="Georgia"/>
              </a:rPr>
              <a:t>Social entertainment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40492" y="5355240"/>
            <a:ext cx="3209115" cy="380333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3940492" y="5735574"/>
            <a:ext cx="3209115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8" name="Editable text: 3"/>
          <p:cNvSpPr txBox="1"/>
          <p:nvPr/>
        </p:nvSpPr>
        <p:spPr>
          <a:xfrm>
            <a:off x="5485542" y="5345182"/>
            <a:ext cx="2751915" cy="445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759" b="0">
                <a:solidFill>
                  <a:srgbClr val="183D32"/>
                </a:solidFill>
                <a:latin typeface="Georgia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735574"/>
            <a:ext cx="3208972" cy="380333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731520" y="6115907"/>
            <a:ext cx="320897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1" name="Editable text: Total"/>
          <p:cNvSpPr txBox="1"/>
          <p:nvPr/>
        </p:nvSpPr>
        <p:spPr>
          <a:xfrm>
            <a:off x="960120" y="5756605"/>
            <a:ext cx="2751772" cy="3739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488" b="0">
                <a:solidFill>
                  <a:srgbClr val="183D32"/>
                </a:solidFill>
                <a:latin typeface="Georgia"/>
              </a:rPr>
              <a:t>Total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40492" y="5735574"/>
            <a:ext cx="3209115" cy="380333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3940492" y="6115907"/>
            <a:ext cx="3209115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4" name="Editable text: 20"/>
          <p:cNvSpPr txBox="1"/>
          <p:nvPr/>
        </p:nvSpPr>
        <p:spPr>
          <a:xfrm>
            <a:off x="5426106" y="5725515"/>
            <a:ext cx="2751915" cy="445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759" b="0">
                <a:solidFill>
                  <a:srgbClr val="183D32"/>
                </a:solidFill>
                <a:latin typeface="Georgia"/>
              </a:rPr>
              <a:t>20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064007" y="2660761"/>
            <a:ext cx="5834873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46" name="Editable text: 20"/>
          <p:cNvSpPr txBox="1"/>
          <p:nvPr/>
        </p:nvSpPr>
        <p:spPr>
          <a:xfrm>
            <a:off x="8201167" y="2505313"/>
            <a:ext cx="5560552" cy="29032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40"/>
              </a:lnSpc>
              <a:spcBef>
                <a:spcPts val="0"/>
              </a:spcBef>
              <a:spcAft>
                <a:spcPts val="0"/>
              </a:spcAft>
            </a:pPr>
            <a:r>
              <a:rPr sz="11505" b="0">
                <a:solidFill>
                  <a:srgbClr val="183D32"/>
                </a:solidFill>
                <a:latin typeface="Georgia"/>
              </a:rPr>
              <a:t>20</a:t>
            </a:r>
          </a:p>
        </p:txBody>
      </p:sp>
      <p:sp>
        <p:nvSpPr>
          <p:cNvPr id="47" name="Editable text: The first round tests interest and requirements before formal lea"/>
          <p:cNvSpPr txBox="1"/>
          <p:nvPr/>
        </p:nvSpPr>
        <p:spPr>
          <a:xfrm>
            <a:off x="8201167" y="4884581"/>
            <a:ext cx="5560552" cy="729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22"/>
              </a:lnSpc>
              <a:spcBef>
                <a:spcPts val="0"/>
              </a:spcBef>
              <a:spcAft>
                <a:spcPts val="0"/>
              </a:spcAft>
            </a:pPr>
            <a:r>
              <a:rPr sz="1975" b="0">
                <a:solidFill>
                  <a:srgbClr val="292D29"/>
                </a:solidFill>
                <a:latin typeface="Arial"/>
              </a:rPr>
              <a:t>The first round tests interest and requirements before formal leasing proposals.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9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50" name="Editable text: COMMERCIAL VALIDATION"/>
          <p:cNvSpPr txBox="1"/>
          <p:nvPr/>
        </p:nvSpPr>
        <p:spPr>
          <a:xfrm>
            <a:off x="12310110" y="273405"/>
            <a:ext cx="1771650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COMMERCIAL VALIDATION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6750272"/>
            <a:ext cx="13167360" cy="83924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Editable text: BRIEF NOTES · PRESERVED VERBATIM"/>
          <p:cNvSpPr txBox="1"/>
          <p:nvPr/>
        </p:nvSpPr>
        <p:spPr>
          <a:xfrm>
            <a:off x="896112" y="686091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53" name="Editable text: Visual: Priority pipeline."/>
          <p:cNvSpPr txBox="1"/>
          <p:nvPr/>
        </p:nvSpPr>
        <p:spPr>
          <a:xfrm>
            <a:off x="896112" y="7037393"/>
            <a:ext cx="1701355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Priority pipeline.</a:t>
            </a:r>
          </a:p>
        </p:txBody>
      </p:sp>
      <p:sp>
        <p:nvSpPr>
          <p:cNvPr id="54" name="Editable text: Catatan: Ini target conversations, bukan jumlah tenant final atau"/>
          <p:cNvSpPr txBox="1"/>
          <p:nvPr/>
        </p:nvSpPr>
        <p:spPr>
          <a:xfrm>
            <a:off x="896112" y="7287853"/>
            <a:ext cx="5088921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Catatan: Ini target conversations, bukan jumlah tenant final atau bukti minat.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6" name="Editable text: COMMERCIAL VALIDATION"/>
          <p:cNvSpPr txBox="1"/>
          <p:nvPr/>
        </p:nvSpPr>
        <p:spPr>
          <a:xfrm>
            <a:off x="731520" y="7891272"/>
            <a:ext cx="157848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COMMERCIAL VALIDATION</a:t>
            </a:r>
          </a:p>
        </p:txBody>
      </p:sp>
      <p:sp>
        <p:nvSpPr>
          <p:cNvPr id="57" name="Editable text: SOURCE: KALINDO PROJECT (1).PDF / 22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SOUNDING MATRIX"/>
          <p:cNvSpPr txBox="1"/>
          <p:nvPr/>
        </p:nvSpPr>
        <p:spPr>
          <a:xfrm>
            <a:off x="731520" y="911656"/>
            <a:ext cx="160162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DCE4D5"/>
                </a:solidFill>
                <a:latin typeface="Arial"/>
              </a:rPr>
              <a:t>SOUNDING MATRIX</a:t>
            </a:r>
          </a:p>
        </p:txBody>
      </p:sp>
      <p:sp>
        <p:nvSpPr>
          <p:cNvPr id="3" name="Editable text: INTEREST BECOMES A COMMERCIAL REQUIREMENT"/>
          <p:cNvSpPr txBox="1"/>
          <p:nvPr/>
        </p:nvSpPr>
        <p:spPr>
          <a:xfrm>
            <a:off x="731520" y="1070762"/>
            <a:ext cx="13167360" cy="1562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F4F1E8"/>
                </a:solidFill>
                <a:latin typeface="Georgia"/>
              </a:rPr>
              <a:t>INTEREST BECOMES A COMMERCIAL REQUIREMENT</a:t>
            </a:r>
          </a:p>
        </p:txBody>
      </p:sp>
      <p:sp>
        <p:nvSpPr>
          <p:cNvPr id="4" name="Editable text: Capture for each operator:"/>
          <p:cNvSpPr txBox="1"/>
          <p:nvPr/>
        </p:nvSpPr>
        <p:spPr>
          <a:xfrm>
            <a:off x="731520" y="2625242"/>
            <a:ext cx="3266979" cy="3845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3"/>
              </a:lnSpc>
              <a:spcBef>
                <a:spcPts val="0"/>
              </a:spcBef>
              <a:spcAft>
                <a:spcPts val="0"/>
              </a:spcAft>
            </a:pPr>
            <a:r>
              <a:rPr sz="2046" b="0">
                <a:solidFill>
                  <a:srgbClr val="F4F1E8"/>
                </a:solidFill>
                <a:latin typeface="Arial"/>
              </a:rPr>
              <a:t>Capture for each operator:</a:t>
            </a:r>
          </a:p>
        </p:txBody>
      </p:sp>
      <p:sp>
        <p:nvSpPr>
          <p:cNvPr id="5" name="Editable text: Interest level and target customer."/>
          <p:cNvSpPr txBox="1"/>
          <p:nvPr/>
        </p:nvSpPr>
        <p:spPr>
          <a:xfrm>
            <a:off x="941832" y="3201257"/>
            <a:ext cx="3599449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F4F1E8"/>
                </a:solidFill>
                <a:latin typeface="Arial"/>
              </a:rPr>
              <a:t>Interest level and target customer.</a:t>
            </a:r>
          </a:p>
        </p:txBody>
      </p:sp>
      <p:sp>
        <p:nvSpPr>
          <p:cNvPr id="6" name="Editable text: Preferred area and location."/>
          <p:cNvSpPr txBox="1"/>
          <p:nvPr/>
        </p:nvSpPr>
        <p:spPr>
          <a:xfrm>
            <a:off x="941832" y="3704177"/>
            <a:ext cx="3000517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F4F1E8"/>
                </a:solidFill>
                <a:latin typeface="Arial"/>
              </a:rPr>
              <a:t>Preferred area and location.</a:t>
            </a:r>
          </a:p>
        </p:txBody>
      </p:sp>
      <p:sp>
        <p:nvSpPr>
          <p:cNvPr id="7" name="Editable text: Indicative rent and total occupancy cost."/>
          <p:cNvSpPr txBox="1"/>
          <p:nvPr/>
        </p:nvSpPr>
        <p:spPr>
          <a:xfrm>
            <a:off x="941832" y="4207097"/>
            <a:ext cx="4233529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F4F1E8"/>
                </a:solidFill>
                <a:latin typeface="Arial"/>
              </a:rPr>
              <a:t>Indicative rent and total occupancy cost.</a:t>
            </a:r>
          </a:p>
        </p:txBody>
      </p:sp>
      <p:sp>
        <p:nvSpPr>
          <p:cNvPr id="8" name="Editable text: Lease structure and duration."/>
          <p:cNvSpPr txBox="1"/>
          <p:nvPr/>
        </p:nvSpPr>
        <p:spPr>
          <a:xfrm>
            <a:off x="941832" y="4710017"/>
            <a:ext cx="3144678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F4F1E8"/>
                </a:solidFill>
                <a:latin typeface="Arial"/>
              </a:rPr>
              <a:t>Lease structure and duration.</a:t>
            </a:r>
          </a:p>
        </p:txBody>
      </p:sp>
      <p:sp>
        <p:nvSpPr>
          <p:cNvPr id="9" name="Editable text: Technical and opening requirements."/>
          <p:cNvSpPr txBox="1"/>
          <p:nvPr/>
        </p:nvSpPr>
        <p:spPr>
          <a:xfrm>
            <a:off x="941832" y="5212937"/>
            <a:ext cx="3917346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F4F1E8"/>
                </a:solidFill>
                <a:latin typeface="Arial"/>
              </a:rPr>
              <a:t>Technical and opening requirements.</a:t>
            </a:r>
          </a:p>
        </p:txBody>
      </p:sp>
      <p:sp>
        <p:nvSpPr>
          <p:cNvPr id="10" name="Editable text: Fit-out responsibilities."/>
          <p:cNvSpPr txBox="1"/>
          <p:nvPr/>
        </p:nvSpPr>
        <p:spPr>
          <a:xfrm>
            <a:off x="941832" y="5715857"/>
            <a:ext cx="2443305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F4F1E8"/>
                </a:solidFill>
                <a:latin typeface="Arial"/>
              </a:rPr>
              <a:t>Fit-out responsibilities.</a:t>
            </a:r>
          </a:p>
        </p:txBody>
      </p:sp>
      <p:sp>
        <p:nvSpPr>
          <p:cNvPr id="11" name="Editable text: Main concerns and decision timeline."/>
          <p:cNvSpPr txBox="1"/>
          <p:nvPr/>
        </p:nvSpPr>
        <p:spPr>
          <a:xfrm>
            <a:off x="941832" y="6218777"/>
            <a:ext cx="3926776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F4F1E8"/>
                </a:solidFill>
                <a:latin typeface="Arial"/>
              </a:rPr>
              <a:t>Main concerns and decision timeline.</a:t>
            </a:r>
          </a:p>
        </p:txBody>
      </p:sp>
      <p:sp>
        <p:nvSpPr>
          <p:cNvPr id="12" name="Editable text: Required output"/>
          <p:cNvSpPr txBox="1"/>
          <p:nvPr/>
        </p:nvSpPr>
        <p:spPr>
          <a:xfrm>
            <a:off x="7726679" y="2600553"/>
            <a:ext cx="1372171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DCE4D5"/>
                </a:solidFill>
                <a:latin typeface="Arial"/>
              </a:rPr>
              <a:t>Required output</a:t>
            </a:r>
          </a:p>
        </p:txBody>
      </p:sp>
      <p:sp>
        <p:nvSpPr>
          <p:cNvPr id="13" name="Editable text: A traceable operator matrix with dates, contact details and suppo"/>
          <p:cNvSpPr txBox="1"/>
          <p:nvPr/>
        </p:nvSpPr>
        <p:spPr>
          <a:xfrm>
            <a:off x="7726679" y="2908706"/>
            <a:ext cx="6172200" cy="7556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3"/>
              </a:lnSpc>
              <a:spcBef>
                <a:spcPts val="0"/>
              </a:spcBef>
              <a:spcAft>
                <a:spcPts val="0"/>
              </a:spcAft>
            </a:pPr>
            <a:r>
              <a:rPr sz="2046" b="0">
                <a:solidFill>
                  <a:srgbClr val="F4F1E8"/>
                </a:solidFill>
                <a:latin typeface="Arial"/>
              </a:rPr>
              <a:t>A traceable operator matrix with dates, contact details and supporting records.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4043362"/>
            <a:ext cx="3017521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7726679" y="4694301"/>
            <a:ext cx="3017521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726679" y="4043362"/>
            <a:ext cx="0" cy="650939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0744200" y="4043362"/>
            <a:ext cx="0" cy="650939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8" name="Editable text: Interest level and target customer."/>
          <p:cNvSpPr txBox="1"/>
          <p:nvPr/>
        </p:nvSpPr>
        <p:spPr>
          <a:xfrm>
            <a:off x="7936992" y="4264647"/>
            <a:ext cx="2642758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F4F1E8"/>
                </a:solidFill>
                <a:latin typeface="Arial"/>
              </a:rPr>
              <a:t>Interest level and target customer.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81360" y="4043362"/>
            <a:ext cx="301752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10881360" y="4694301"/>
            <a:ext cx="301752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10881360" y="4043362"/>
            <a:ext cx="0" cy="650939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13898880" y="4043362"/>
            <a:ext cx="0" cy="650939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23" name="Editable text: Preferred area and location."/>
          <p:cNvSpPr txBox="1"/>
          <p:nvPr/>
        </p:nvSpPr>
        <p:spPr>
          <a:xfrm>
            <a:off x="11091672" y="4264647"/>
            <a:ext cx="2211562" cy="238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F4F1E8"/>
                </a:solidFill>
                <a:latin typeface="Arial"/>
              </a:rPr>
              <a:t>Preferred area and location.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26679" y="4831461"/>
            <a:ext cx="3017521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7726679" y="5712714"/>
            <a:ext cx="3017521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726679" y="4831461"/>
            <a:ext cx="0" cy="881253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10744200" y="4831461"/>
            <a:ext cx="0" cy="881253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28" name="Editable text: Indicative rent and total occupancy cost."/>
          <p:cNvSpPr txBox="1"/>
          <p:nvPr/>
        </p:nvSpPr>
        <p:spPr>
          <a:xfrm>
            <a:off x="7936992" y="5052745"/>
            <a:ext cx="2707767" cy="4689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F4F1E8"/>
                </a:solidFill>
                <a:latin typeface="Arial"/>
              </a:rPr>
              <a:t>Indicative rent and total occupancy cost.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881360" y="4831461"/>
            <a:ext cx="301752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10881360" y="5712714"/>
            <a:ext cx="301752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10881360" y="4831461"/>
            <a:ext cx="0" cy="881253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13898880" y="4831461"/>
            <a:ext cx="0" cy="881253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33" name="Editable text: Main concerns and decision timeline."/>
          <p:cNvSpPr txBox="1"/>
          <p:nvPr/>
        </p:nvSpPr>
        <p:spPr>
          <a:xfrm>
            <a:off x="11091672" y="5052745"/>
            <a:ext cx="2615184" cy="4689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F4F1E8"/>
                </a:solidFill>
                <a:latin typeface="Arial"/>
              </a:rPr>
              <a:t>Main concerns and decision timeline.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35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F4F1E8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36" name="Editable text: COMMERCIAL VALIDATION"/>
          <p:cNvSpPr txBox="1"/>
          <p:nvPr/>
        </p:nvSpPr>
        <p:spPr>
          <a:xfrm>
            <a:off x="12310110" y="273405"/>
            <a:ext cx="1771650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F4F1E8"/>
                </a:solidFill>
                <a:latin typeface="Arial"/>
              </a:rPr>
              <a:t>COMMERCIAL VALIDATION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354A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F4F1E8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39" name="Editable text: Visual: Contoh satu baris matrix. Hindari label “Done” tanpa hasi"/>
          <p:cNvSpPr txBox="1"/>
          <p:nvPr/>
        </p:nvSpPr>
        <p:spPr>
          <a:xfrm>
            <a:off x="896112" y="7287853"/>
            <a:ext cx="5666994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F4F1E8"/>
                </a:solidFill>
                <a:latin typeface="Arial"/>
              </a:rPr>
              <a:t>Visual: Contoh satu baris matrix. Hindari label “Done” tanpa hasil yang dapat ditinjau.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41" name="Editable text: COMMERCIAL VALIDATION"/>
          <p:cNvSpPr txBox="1"/>
          <p:nvPr/>
        </p:nvSpPr>
        <p:spPr>
          <a:xfrm>
            <a:off x="731520" y="7891272"/>
            <a:ext cx="157848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F4F1E8"/>
                </a:solidFill>
                <a:latin typeface="Arial"/>
              </a:rPr>
              <a:t>COMMERCIAL VALIDATION</a:t>
            </a:r>
          </a:p>
        </p:txBody>
      </p:sp>
      <p:sp>
        <p:nvSpPr>
          <p:cNvPr id="42" name="Editable text: SOURCE: KALINDO PROJECT (1).PDF / 23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F4F1E8"/>
                </a:solidFill>
                <a:latin typeface="Arial"/>
              </a:rPr>
              <a:t>SOURCE: KALINDO PROJECT (1).PDF /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LEASE STRUCTURE"/>
          <p:cNvSpPr txBox="1"/>
          <p:nvPr/>
        </p:nvSpPr>
        <p:spPr>
          <a:xfrm>
            <a:off x="731520" y="911656"/>
            <a:ext cx="1630489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LEASE STRUCTURE</a:t>
            </a:r>
          </a:p>
        </p:txBody>
      </p:sp>
      <p:sp>
        <p:nvSpPr>
          <p:cNvPr id="3" name="Editable text: COMMERCIAL TERMS REFLECT THE OPERATOR MODEL"/>
          <p:cNvSpPr txBox="1"/>
          <p:nvPr/>
        </p:nvSpPr>
        <p:spPr>
          <a:xfrm>
            <a:off x="731520" y="1070762"/>
            <a:ext cx="13265658" cy="1562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COMMERCIAL TERMS REFLECT THE OPERATOR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06040"/>
            <a:ext cx="438912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text: Model"/>
          <p:cNvSpPr txBox="1"/>
          <p:nvPr/>
        </p:nvSpPr>
        <p:spPr>
          <a:xfrm>
            <a:off x="932688" y="2737713"/>
            <a:ext cx="62650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606040"/>
            <a:ext cx="438912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text: Potential application"/>
          <p:cNvSpPr txBox="1"/>
          <p:nvPr/>
        </p:nvSpPr>
        <p:spPr>
          <a:xfrm>
            <a:off x="5321808" y="2737713"/>
            <a:ext cx="167506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Potential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9760" y="2606040"/>
            <a:ext cx="438912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text: Validation"/>
          <p:cNvSpPr txBox="1"/>
          <p:nvPr/>
        </p:nvSpPr>
        <p:spPr>
          <a:xfrm>
            <a:off x="9710928" y="2737713"/>
            <a:ext cx="905398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Validation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770042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1" name="Editable text: Fixed rent"/>
          <p:cNvSpPr txBox="1"/>
          <p:nvPr/>
        </p:nvSpPr>
        <p:spPr>
          <a:xfrm>
            <a:off x="932688" y="3213201"/>
            <a:ext cx="3986784" cy="445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3"/>
              </a:lnSpc>
              <a:spcBef>
                <a:spcPts val="0"/>
              </a:spcBef>
              <a:spcAft>
                <a:spcPts val="0"/>
              </a:spcAft>
            </a:pPr>
            <a:r>
              <a:rPr sz="1759" b="0">
                <a:solidFill>
                  <a:srgbClr val="183D32"/>
                </a:solidFill>
                <a:latin typeface="Georgia"/>
              </a:rPr>
              <a:t>Fixed rent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0640" y="3770042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3" name="Editable text: Established retail and service operators"/>
          <p:cNvSpPr txBox="1"/>
          <p:nvPr/>
        </p:nvSpPr>
        <p:spPr>
          <a:xfrm>
            <a:off x="5321808" y="3286296"/>
            <a:ext cx="3699748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Established retail and service operators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09760" y="3770042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5" name="Editable text: Affordability and comparable terms"/>
          <p:cNvSpPr txBox="1"/>
          <p:nvPr/>
        </p:nvSpPr>
        <p:spPr>
          <a:xfrm>
            <a:off x="9710928" y="3286296"/>
            <a:ext cx="3291411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Affordability and comparable terms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70042"/>
            <a:ext cx="4389120" cy="7205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31520" y="4490561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8" name="Editable text: Minimum guarantee + turnover rent"/>
          <p:cNvSpPr txBox="1"/>
          <p:nvPr/>
        </p:nvSpPr>
        <p:spPr>
          <a:xfrm>
            <a:off x="932688" y="3933720"/>
            <a:ext cx="3996356" cy="445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3"/>
              </a:lnSpc>
              <a:spcBef>
                <a:spcPts val="0"/>
              </a:spcBef>
              <a:spcAft>
                <a:spcPts val="0"/>
              </a:spcAft>
            </a:pPr>
            <a:r>
              <a:rPr sz="1759" b="0">
                <a:solidFill>
                  <a:srgbClr val="183D32"/>
                </a:solidFill>
                <a:latin typeface="Georgia"/>
              </a:rPr>
              <a:t>Minimum guarantee + turnover rent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3770042"/>
            <a:ext cx="4389120" cy="7205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120640" y="4490561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1" name="Editable text: Selected F&amp;B and experience concepts"/>
          <p:cNvSpPr txBox="1"/>
          <p:nvPr/>
        </p:nvSpPr>
        <p:spPr>
          <a:xfrm>
            <a:off x="5321808" y="4006815"/>
            <a:ext cx="3700319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Selected F&amp;B and experience concepts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3770042"/>
            <a:ext cx="4389120" cy="7205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09760" y="4490561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4" name="Editable text: Sales reporting and agreed calculation"/>
          <p:cNvSpPr txBox="1"/>
          <p:nvPr/>
        </p:nvSpPr>
        <p:spPr>
          <a:xfrm>
            <a:off x="9710928" y="4006815"/>
            <a:ext cx="3609451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Sales reporting and agreed calculation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5211079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6" name="Editable text: Revenue share"/>
          <p:cNvSpPr txBox="1"/>
          <p:nvPr/>
        </p:nvSpPr>
        <p:spPr>
          <a:xfrm>
            <a:off x="932688" y="4654238"/>
            <a:ext cx="3986784" cy="445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3"/>
              </a:lnSpc>
              <a:spcBef>
                <a:spcPts val="0"/>
              </a:spcBef>
              <a:spcAft>
                <a:spcPts val="0"/>
              </a:spcAft>
            </a:pPr>
            <a:r>
              <a:rPr sz="1759" b="0">
                <a:solidFill>
                  <a:srgbClr val="183D32"/>
                </a:solidFill>
                <a:latin typeface="Georgia"/>
              </a:rPr>
              <a:t>Revenue share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20640" y="5211079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8" name="Editable text: Selected operating partnerships"/>
          <p:cNvSpPr txBox="1"/>
          <p:nvPr/>
        </p:nvSpPr>
        <p:spPr>
          <a:xfrm>
            <a:off x="5321808" y="4727333"/>
            <a:ext cx="3021663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Selected operating partnerships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09760" y="5211079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0" name="Editable text: Risk allocation, costs and audit rights"/>
          <p:cNvSpPr txBox="1"/>
          <p:nvPr/>
        </p:nvSpPr>
        <p:spPr>
          <a:xfrm>
            <a:off x="9710928" y="4727333"/>
            <a:ext cx="3489721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Risk allocation, costs and audit rights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211079"/>
            <a:ext cx="4389120" cy="7205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31520" y="5931598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3" name="Editable text: Short-term licence"/>
          <p:cNvSpPr txBox="1"/>
          <p:nvPr/>
        </p:nvSpPr>
        <p:spPr>
          <a:xfrm>
            <a:off x="932688" y="5374757"/>
            <a:ext cx="3986784" cy="445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3"/>
              </a:lnSpc>
              <a:spcBef>
                <a:spcPts val="0"/>
              </a:spcBef>
              <a:spcAft>
                <a:spcPts val="0"/>
              </a:spcAft>
            </a:pPr>
            <a:r>
              <a:rPr sz="1759" b="0">
                <a:solidFill>
                  <a:srgbClr val="183D32"/>
                </a:solidFill>
                <a:latin typeface="Georgia"/>
              </a:rPr>
              <a:t>Short-term licence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5211079"/>
            <a:ext cx="4389120" cy="7205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120640" y="5931598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6" name="Editable text: Pop-ups and activation"/>
          <p:cNvSpPr txBox="1"/>
          <p:nvPr/>
        </p:nvSpPr>
        <p:spPr>
          <a:xfrm>
            <a:off x="5321808" y="5447852"/>
            <a:ext cx="2217705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Pop-ups and activation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5211079"/>
            <a:ext cx="4389120" cy="720518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9509760" y="5931598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9" name="Editable text: Inventory, booked days and operating rules"/>
          <p:cNvSpPr txBox="1"/>
          <p:nvPr/>
        </p:nvSpPr>
        <p:spPr>
          <a:xfrm>
            <a:off x="9710928" y="5447852"/>
            <a:ext cx="4004500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Inventory, booked days and operating rules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1520" y="6652117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1" name="Editable text: Strategic partnership"/>
          <p:cNvSpPr txBox="1"/>
          <p:nvPr/>
        </p:nvSpPr>
        <p:spPr>
          <a:xfrm>
            <a:off x="932688" y="6095276"/>
            <a:ext cx="3986784" cy="445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3"/>
              </a:lnSpc>
              <a:spcBef>
                <a:spcPts val="0"/>
              </a:spcBef>
              <a:spcAft>
                <a:spcPts val="0"/>
              </a:spcAft>
            </a:pPr>
            <a:r>
              <a:rPr sz="1759" b="0">
                <a:solidFill>
                  <a:srgbClr val="183D32"/>
                </a:solidFill>
                <a:latin typeface="Georgia"/>
              </a:rPr>
              <a:t>Strategic partnership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120640" y="6652117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3" name="Editable text: Tourism and distribution"/>
          <p:cNvSpPr txBox="1"/>
          <p:nvPr/>
        </p:nvSpPr>
        <p:spPr>
          <a:xfrm>
            <a:off x="5321808" y="6168370"/>
            <a:ext cx="2308860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Tourism and distribution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509760" y="6652117"/>
            <a:ext cx="438912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5" name="Editable text: Acquisition cost and contribution"/>
          <p:cNvSpPr txBox="1"/>
          <p:nvPr/>
        </p:nvSpPr>
        <p:spPr>
          <a:xfrm>
            <a:off x="9710928" y="6168370"/>
            <a:ext cx="3065526" cy="2916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9"/>
              </a:lnSpc>
              <a:spcBef>
                <a:spcPts val="0"/>
              </a:spcBef>
              <a:spcAft>
                <a:spcPts val="0"/>
              </a:spcAft>
            </a:pPr>
            <a:r>
              <a:rPr sz="1552" b="0">
                <a:solidFill>
                  <a:srgbClr val="292D29"/>
                </a:solidFill>
                <a:latin typeface="Arial"/>
              </a:rPr>
              <a:t>Acquisition cost and contribution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7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48" name="Editable text: COMMERCIAL VALIDATION"/>
          <p:cNvSpPr txBox="1"/>
          <p:nvPr/>
        </p:nvSpPr>
        <p:spPr>
          <a:xfrm>
            <a:off x="12310110" y="273405"/>
            <a:ext cx="1771650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COMMERCIAL VALIDATION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6750272"/>
            <a:ext cx="13167360" cy="83924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Editable text: BRIEF NOTES · PRESERVED VERBATIM"/>
          <p:cNvSpPr txBox="1"/>
          <p:nvPr/>
        </p:nvSpPr>
        <p:spPr>
          <a:xfrm>
            <a:off x="896112" y="686091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51" name="Editable text: Visual: Commercial model table."/>
          <p:cNvSpPr txBox="1"/>
          <p:nvPr/>
        </p:nvSpPr>
        <p:spPr>
          <a:xfrm>
            <a:off x="896112" y="7037393"/>
            <a:ext cx="2274712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Commercial model table.</a:t>
            </a:r>
          </a:p>
        </p:txBody>
      </p:sp>
      <p:sp>
        <p:nvSpPr>
          <p:cNvPr id="52" name="Editable text: Catatan: Anchor lease duration harus dibahas bersama investasi fi"/>
          <p:cNvSpPr txBox="1"/>
          <p:nvPr/>
        </p:nvSpPr>
        <p:spPr>
          <a:xfrm>
            <a:off x="896112" y="7287853"/>
            <a:ext cx="8632793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Catatan: Anchor lease duration harus dibahas bersama investasi fit-out, break clauses, opening obligations dan operator capability.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54" name="Editable text: COMMERCIAL VALIDATION"/>
          <p:cNvSpPr txBox="1"/>
          <p:nvPr/>
        </p:nvSpPr>
        <p:spPr>
          <a:xfrm>
            <a:off x="731520" y="7891272"/>
            <a:ext cx="157848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COMMERCIAL VALIDATION</a:t>
            </a:r>
          </a:p>
        </p:txBody>
      </p:sp>
      <p:sp>
        <p:nvSpPr>
          <p:cNvPr id="55" name="Editable text: SOURCE: KALINDO PROJECT (1).PDF / 24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TENANT SELECTION &amp; PHASING"/>
          <p:cNvSpPr txBox="1"/>
          <p:nvPr/>
        </p:nvSpPr>
        <p:spPr>
          <a:xfrm>
            <a:off x="731520" y="911656"/>
            <a:ext cx="2570178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TENANT SELECTION &amp; PHASING</a:t>
            </a:r>
          </a:p>
        </p:txBody>
      </p:sp>
      <p:sp>
        <p:nvSpPr>
          <p:cNvPr id="3" name="Editable text: AN OPENING MIX THAT CAN OPERATE AS A DESTINATION"/>
          <p:cNvSpPr txBox="1"/>
          <p:nvPr/>
        </p:nvSpPr>
        <p:spPr>
          <a:xfrm>
            <a:off x="731520" y="1070762"/>
            <a:ext cx="13167360" cy="1562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AN OPENING MIX THAT CAN OPERATE AS A DESTINATION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606040"/>
            <a:ext cx="628650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5" name="Editable text: Selection criteria"/>
          <p:cNvSpPr txBox="1"/>
          <p:nvPr/>
        </p:nvSpPr>
        <p:spPr>
          <a:xfrm>
            <a:off x="731520" y="2719425"/>
            <a:ext cx="144303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Selection criteria</a:t>
            </a:r>
          </a:p>
        </p:txBody>
      </p:sp>
      <p:sp>
        <p:nvSpPr>
          <p:cNvPr id="6" name="Editable text: Customer relevance, operator capability, commercial contribution,"/>
          <p:cNvSpPr txBox="1"/>
          <p:nvPr/>
        </p:nvSpPr>
        <p:spPr>
          <a:xfrm>
            <a:off x="731520" y="3023006"/>
            <a:ext cx="6286500" cy="625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292D29"/>
                </a:solidFill>
                <a:latin typeface="Arial"/>
              </a:rPr>
              <a:t>Customer relevance, operator capability, commercial contribution, technical fit and willingness to participate.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897058"/>
            <a:ext cx="628650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8" name="Editable text: Phase-one priorities"/>
          <p:cNvSpPr txBox="1"/>
          <p:nvPr/>
        </p:nvSpPr>
        <p:spPr>
          <a:xfrm>
            <a:off x="731520" y="4010444"/>
            <a:ext cx="1682781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Phase-one priorities</a:t>
            </a:r>
          </a:p>
        </p:txBody>
      </p:sp>
      <p:sp>
        <p:nvSpPr>
          <p:cNvPr id="9" name="Editable text: A complete everyday visit, a credible culinary offer, family acti"/>
          <p:cNvSpPr txBox="1"/>
          <p:nvPr/>
        </p:nvSpPr>
        <p:spPr>
          <a:xfrm>
            <a:off x="731520" y="4314024"/>
            <a:ext cx="6460950" cy="625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292D29"/>
                </a:solidFill>
                <a:latin typeface="Arial"/>
              </a:rPr>
              <a:t>A complete everyday visit, a credible culinary offer, family activity and a functioning The Veranda.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5188077"/>
            <a:ext cx="628650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1" name="Editable text: Later additions"/>
          <p:cNvSpPr txBox="1"/>
          <p:nvPr/>
        </p:nvSpPr>
        <p:spPr>
          <a:xfrm>
            <a:off x="731520" y="5301462"/>
            <a:ext cx="128944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6D8767"/>
                </a:solidFill>
                <a:latin typeface="Arial"/>
              </a:rPr>
              <a:t>Later additions</a:t>
            </a:r>
          </a:p>
        </p:txBody>
      </p:sp>
      <p:sp>
        <p:nvSpPr>
          <p:cNvPr id="12" name="Editable text: Categories that need stronger demand evidence or specialist infra"/>
          <p:cNvSpPr txBox="1"/>
          <p:nvPr/>
        </p:nvSpPr>
        <p:spPr>
          <a:xfrm>
            <a:off x="731520" y="5605043"/>
            <a:ext cx="6286500" cy="625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292D29"/>
                </a:solidFill>
                <a:latin typeface="Arial"/>
              </a:rPr>
              <a:t>Categories that need stronger demand evidence or specialist infrastructure.</a:t>
            </a:r>
          </a:p>
        </p:txBody>
      </p:sp>
      <p:pic>
        <p:nvPicPr>
          <p:cNvPr id="13" name="Replaceable photo: slide-10-the-veranda.jpg" descr="slide-10-the-veranda.jpg"/>
          <p:cNvPicPr>
            <a:picLocks noChangeAspect="1"/>
          </p:cNvPicPr>
          <p:nvPr/>
        </p:nvPicPr>
        <p:blipFill>
          <a:blip r:embed="rId2"/>
          <a:srcRect l="5321" r="5321"/>
          <a:stretch>
            <a:fillRect/>
          </a:stretch>
        </p:blipFill>
        <p:spPr>
          <a:xfrm>
            <a:off x="7612379" y="2606040"/>
            <a:ext cx="6286500" cy="395935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612379" y="6300216"/>
            <a:ext cx="6286500" cy="265176"/>
          </a:xfrm>
          <a:prstGeom prst="rect">
            <a:avLst/>
          </a:prstGeom>
          <a:solidFill>
            <a:srgbClr val="183D32">
              <a:alpha val="9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Editable text: SUPPLIED CONCEPT VISUAL · APPROVAL STATUS UNVERIFIED"/>
          <p:cNvSpPr txBox="1"/>
          <p:nvPr/>
        </p:nvSpPr>
        <p:spPr>
          <a:xfrm>
            <a:off x="7740396" y="6383426"/>
            <a:ext cx="3136392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72">
                <a:solidFill>
                  <a:srgbClr val="F4F1E8"/>
                </a:solidFill>
                <a:latin typeface="Arial"/>
              </a:rPr>
              <a:t>SUPPLIED CONCEPT VISUAL · APPROVAL STATUS UNVERIFIED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7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18" name="Editable text: COMMERCIAL VALIDATION"/>
          <p:cNvSpPr txBox="1"/>
          <p:nvPr/>
        </p:nvSpPr>
        <p:spPr>
          <a:xfrm>
            <a:off x="12310110" y="273405"/>
            <a:ext cx="1771650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COMMERCIAL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750272"/>
            <a:ext cx="13167360" cy="83924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text: BRIEF NOTES · PRESERVED VERBATIM"/>
          <p:cNvSpPr txBox="1"/>
          <p:nvPr/>
        </p:nvSpPr>
        <p:spPr>
          <a:xfrm>
            <a:off x="896112" y="686091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21" name="Editable text: Visual: Phase-one experience map."/>
          <p:cNvSpPr txBox="1"/>
          <p:nvPr/>
        </p:nvSpPr>
        <p:spPr>
          <a:xfrm>
            <a:off x="896112" y="7037393"/>
            <a:ext cx="2487168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Phase-one experience map.</a:t>
            </a:r>
          </a:p>
        </p:txBody>
      </p:sp>
      <p:sp>
        <p:nvSpPr>
          <p:cNvPr id="22" name="Editable text: Catatan: Jadwal final mengikuti controlled masterplan, QS dan ten"/>
          <p:cNvSpPr txBox="1"/>
          <p:nvPr/>
        </p:nvSpPr>
        <p:spPr>
          <a:xfrm>
            <a:off x="896112" y="7287853"/>
            <a:ext cx="5369528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Catatan: Jadwal final mengikuti controlled masterplan, QS dan tenant readiness.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4" name="Editable text: COMMERCIAL VALIDATION"/>
          <p:cNvSpPr txBox="1"/>
          <p:nvPr/>
        </p:nvSpPr>
        <p:spPr>
          <a:xfrm>
            <a:off x="731520" y="7891272"/>
            <a:ext cx="157848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COMMERCIAL VALIDATION</a:t>
            </a:r>
          </a:p>
        </p:txBody>
      </p:sp>
      <p:sp>
        <p:nvSpPr>
          <p:cNvPr id="25" name="Editable text: SOURCE: KALINDO PROJECT (1).PDF / 25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REVENUE SCENARIOS"/>
          <p:cNvSpPr txBox="1"/>
          <p:nvPr/>
        </p:nvSpPr>
        <p:spPr>
          <a:xfrm>
            <a:off x="731520" y="911656"/>
            <a:ext cx="1837086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DCE4D5"/>
                </a:solidFill>
                <a:latin typeface="Arial"/>
              </a:rPr>
              <a:t>REVENUE SCENARIOS</a:t>
            </a:r>
          </a:p>
        </p:txBody>
      </p:sp>
      <p:sp>
        <p:nvSpPr>
          <p:cNvPr id="3" name="Editable text: THREE SCENARIOS, BUILT FROM THE SAME INVENTORY"/>
          <p:cNvSpPr txBox="1"/>
          <p:nvPr/>
        </p:nvSpPr>
        <p:spPr>
          <a:xfrm>
            <a:off x="731520" y="1070762"/>
            <a:ext cx="13167360" cy="1562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F4F1E8"/>
                </a:solidFill>
                <a:latin typeface="Georgia"/>
              </a:rPr>
              <a:t>THREE SCENARIOS, BUILT FROM THE SAME INVENTORY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06040"/>
            <a:ext cx="1697355" cy="448056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text: Scenario"/>
          <p:cNvSpPr txBox="1"/>
          <p:nvPr/>
        </p:nvSpPr>
        <p:spPr>
          <a:xfrm>
            <a:off x="932688" y="2737713"/>
            <a:ext cx="83439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183D32"/>
                </a:solidFill>
                <a:latin typeface="Arial"/>
              </a:rPr>
              <a:t>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8875" y="2606040"/>
            <a:ext cx="4589145" cy="448056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text: Working basis"/>
          <p:cNvSpPr txBox="1"/>
          <p:nvPr/>
        </p:nvSpPr>
        <p:spPr>
          <a:xfrm>
            <a:off x="2630043" y="2737713"/>
            <a:ext cx="1218152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183D32"/>
                </a:solidFill>
                <a:latin typeface="Arial"/>
              </a:rPr>
              <a:t>Working basis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4086225"/>
            <a:ext cx="1697355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9" name="Editable text: Conservative"/>
          <p:cNvSpPr txBox="1"/>
          <p:nvPr/>
        </p:nvSpPr>
        <p:spPr>
          <a:xfrm>
            <a:off x="960120" y="3343846"/>
            <a:ext cx="1716643" cy="516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sz="2030" b="0">
                <a:solidFill>
                  <a:srgbClr val="F4F1E8"/>
                </a:solidFill>
                <a:latin typeface="Georgia"/>
              </a:rPr>
              <a:t>Conservative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8875" y="4086225"/>
            <a:ext cx="4589145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1" name="Editable text: Slower occupancy, lower achieved rents and lower activation utili"/>
          <p:cNvSpPr txBox="1"/>
          <p:nvPr/>
        </p:nvSpPr>
        <p:spPr>
          <a:xfrm>
            <a:off x="2657475" y="3288182"/>
            <a:ext cx="4131945" cy="6033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Slower occupancy, lower achieved rents and lower activation utilisation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86225"/>
            <a:ext cx="1697355" cy="1036701"/>
          </a:xfrm>
          <a:prstGeom prst="rect">
            <a:avLst/>
          </a:prstGeom>
          <a:solidFill>
            <a:srgbClr val="354A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31520" y="5122926"/>
            <a:ext cx="1697355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4" name="Editable text: Base"/>
          <p:cNvSpPr txBox="1"/>
          <p:nvPr/>
        </p:nvSpPr>
        <p:spPr>
          <a:xfrm>
            <a:off x="960120" y="4380547"/>
            <a:ext cx="1240155" cy="516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sz="2030" b="0">
                <a:solidFill>
                  <a:srgbClr val="F4F1E8"/>
                </a:solidFill>
                <a:latin typeface="Georgia"/>
              </a:rPr>
              <a:t>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8875" y="4086225"/>
            <a:ext cx="4589145" cy="1036701"/>
          </a:xfrm>
          <a:prstGeom prst="rect">
            <a:avLst/>
          </a:prstGeom>
          <a:solidFill>
            <a:srgbClr val="354A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428875" y="5122926"/>
            <a:ext cx="4589145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7" name="Editable text: Current assumptions, adjusted as evidence becomes available"/>
          <p:cNvSpPr txBox="1"/>
          <p:nvPr/>
        </p:nvSpPr>
        <p:spPr>
          <a:xfrm>
            <a:off x="2657475" y="4324883"/>
            <a:ext cx="4131945" cy="6033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Current assumptions, adjusted as evidence becomes available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6159627"/>
            <a:ext cx="1697355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9" name="Editable text: Upside"/>
          <p:cNvSpPr txBox="1"/>
          <p:nvPr/>
        </p:nvSpPr>
        <p:spPr>
          <a:xfrm>
            <a:off x="960120" y="5417248"/>
            <a:ext cx="1240155" cy="516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sz="2030" b="0">
                <a:solidFill>
                  <a:srgbClr val="F4F1E8"/>
                </a:solidFill>
                <a:latin typeface="Georgia"/>
              </a:rPr>
              <a:t>Upside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28875" y="6159627"/>
            <a:ext cx="4589145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21" name="Editable text: Supported improvements in occupancy, rent and commercial utilisat"/>
          <p:cNvSpPr txBox="1"/>
          <p:nvPr/>
        </p:nvSpPr>
        <p:spPr>
          <a:xfrm>
            <a:off x="2657475" y="5361584"/>
            <a:ext cx="4131945" cy="6033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6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Supported improvements in occupancy, rent and commercial utilisation</a:t>
            </a:r>
          </a:p>
        </p:txBody>
      </p:sp>
      <p:sp>
        <p:nvSpPr>
          <p:cNvPr id="22" name="Editable text: Bottom-up additional revenue"/>
          <p:cNvSpPr txBox="1"/>
          <p:nvPr/>
        </p:nvSpPr>
        <p:spPr>
          <a:xfrm>
            <a:off x="7612379" y="2600553"/>
            <a:ext cx="2368296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9">
                <a:solidFill>
                  <a:srgbClr val="DCE4D5"/>
                </a:solidFill>
                <a:latin typeface="Arial"/>
              </a:rPr>
              <a:t>Bottom-up additional revenue</a:t>
            </a:r>
          </a:p>
        </p:txBody>
      </p:sp>
      <p:sp>
        <p:nvSpPr>
          <p:cNvPr id="23" name="Editable text: Events: available booking slots × booked share × fee."/>
          <p:cNvSpPr txBox="1"/>
          <p:nvPr/>
        </p:nvSpPr>
        <p:spPr>
          <a:xfrm>
            <a:off x="7822692" y="2995574"/>
            <a:ext cx="5343239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Events: available booking slots × booked share × fee.</a:t>
            </a:r>
          </a:p>
        </p:txBody>
      </p:sp>
      <p:sp>
        <p:nvSpPr>
          <p:cNvPr id="24" name="Editable text: Media: assets × rate × sell-through."/>
          <p:cNvSpPr txBox="1"/>
          <p:nvPr/>
        </p:nvSpPr>
        <p:spPr>
          <a:xfrm>
            <a:off x="7822692" y="3531355"/>
            <a:ext cx="3608879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Media: assets × rate × sell-through.</a:t>
            </a:r>
          </a:p>
        </p:txBody>
      </p:sp>
      <p:sp>
        <p:nvSpPr>
          <p:cNvPr id="25" name="Editable text: Activations: locations × booked days × rate."/>
          <p:cNvSpPr txBox="1"/>
          <p:nvPr/>
        </p:nvSpPr>
        <p:spPr>
          <a:xfrm>
            <a:off x="7822692" y="4067136"/>
            <a:ext cx="4376975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Activations: locations × booked days × rate.</a:t>
            </a:r>
          </a:p>
        </p:txBody>
      </p:sp>
      <p:sp>
        <p:nvSpPr>
          <p:cNvPr id="26" name="Editable text: Sponsorship: contracted packages and recognised period."/>
          <p:cNvSpPr txBox="1"/>
          <p:nvPr/>
        </p:nvSpPr>
        <p:spPr>
          <a:xfrm>
            <a:off x="7822692" y="4602918"/>
            <a:ext cx="5836729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Sponsorship: contracted packages and recognised period.</a:t>
            </a:r>
          </a:p>
        </p:txBody>
      </p:sp>
      <p:sp>
        <p:nvSpPr>
          <p:cNvPr id="27" name="Editable text: Tourism: fulfilled bookings × net fee or commission."/>
          <p:cNvSpPr txBox="1"/>
          <p:nvPr/>
        </p:nvSpPr>
        <p:spPr>
          <a:xfrm>
            <a:off x="7822692" y="5138699"/>
            <a:ext cx="5154501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F4F1E8"/>
                </a:solidFill>
                <a:latin typeface="Arial"/>
              </a:rPr>
              <a:t>Tourism: fulfilled bookings × net fee or commission.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29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F4F1E8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30" name="Editable text: COMMERCIAL VALIDATION"/>
          <p:cNvSpPr txBox="1"/>
          <p:nvPr/>
        </p:nvSpPr>
        <p:spPr>
          <a:xfrm>
            <a:off x="12310110" y="273405"/>
            <a:ext cx="1771650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F4F1E8"/>
                </a:solidFill>
                <a:latin typeface="Arial"/>
              </a:rPr>
              <a:t>COMMERCIAL VALIDATION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795992"/>
            <a:ext cx="13167360" cy="793527"/>
          </a:xfrm>
          <a:prstGeom prst="rect">
            <a:avLst/>
          </a:prstGeom>
          <a:solidFill>
            <a:srgbClr val="354A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Editable text: BRIEF NOTES · PRESERVED VERBATIM"/>
          <p:cNvSpPr txBox="1"/>
          <p:nvPr/>
        </p:nvSpPr>
        <p:spPr>
          <a:xfrm>
            <a:off x="896112" y="690663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F4F1E8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33" name="Editable text: Catatan: Pendapatan event, sponsorship dan activation harus dicek"/>
          <p:cNvSpPr txBox="1"/>
          <p:nvPr/>
        </p:nvSpPr>
        <p:spPr>
          <a:xfrm>
            <a:off x="896112" y="7083113"/>
            <a:ext cx="12914328" cy="416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F4F1E8"/>
                </a:solidFill>
                <a:latin typeface="Arial"/>
              </a:rPr>
              <a:t>Catatan: Pendapatan event, sponsorship dan activation harus dicek agar tidak menghitung paket yang sama dua kali. Inventory amphitheatre pada feedback perlu diselaraskan dengan The Veranda dan layout terbaru.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35" name="Editable text: COMMERCIAL VALIDATION"/>
          <p:cNvSpPr txBox="1"/>
          <p:nvPr/>
        </p:nvSpPr>
        <p:spPr>
          <a:xfrm>
            <a:off x="731520" y="7891272"/>
            <a:ext cx="157848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F4F1E8"/>
                </a:solidFill>
                <a:latin typeface="Arial"/>
              </a:rPr>
              <a:t>COMMERCIAL VALIDATION</a:t>
            </a:r>
          </a:p>
        </p:txBody>
      </p:sp>
      <p:sp>
        <p:nvSpPr>
          <p:cNvPr id="36" name="Editable text: SOURCE: KALINDO PROJECT (1).PDF / 26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F4F1E8"/>
                </a:solidFill>
                <a:latin typeface="Arial"/>
              </a:rPr>
              <a:t>SOURCE: KALINDO PROJECT (1).PDF /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THE VERANDA ECONOMICS"/>
          <p:cNvSpPr txBox="1"/>
          <p:nvPr/>
        </p:nvSpPr>
        <p:spPr>
          <a:xfrm>
            <a:off x="731520" y="911656"/>
            <a:ext cx="2222277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THE VERANDA ECONOMICS</a:t>
            </a:r>
          </a:p>
        </p:txBody>
      </p:sp>
      <p:sp>
        <p:nvSpPr>
          <p:cNvPr id="3" name="Editable text: PROGRAMMING NEEDS A NET CONTRIBUTION"/>
          <p:cNvSpPr txBox="1"/>
          <p:nvPr/>
        </p:nvSpPr>
        <p:spPr>
          <a:xfrm>
            <a:off x="731520" y="1070762"/>
            <a:ext cx="13167360" cy="1001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17"/>
              </a:lnSpc>
              <a:spcBef>
                <a:spcPts val="0"/>
              </a:spcBef>
              <a:spcAft>
                <a:spcPts val="0"/>
              </a:spcAft>
            </a:pPr>
            <a:r>
              <a:rPr sz="3993" b="0" spc="-72">
                <a:solidFill>
                  <a:srgbClr val="183D32"/>
                </a:solidFill>
                <a:latin typeface="Georgia"/>
              </a:rPr>
              <a:t>PROGRAMMING NEEDS A NET CONTRIBUTION</a:t>
            </a:r>
          </a:p>
        </p:txBody>
      </p:sp>
      <p:sp>
        <p:nvSpPr>
          <p:cNvPr id="4" name="Editable text: Evaluate each programme through:"/>
          <p:cNvSpPr txBox="1"/>
          <p:nvPr/>
        </p:nvSpPr>
        <p:spPr>
          <a:xfrm>
            <a:off x="731520" y="2054656"/>
            <a:ext cx="3455574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Evaluate each programme through: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43746"/>
            <a:ext cx="3555158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text: Item"/>
          <p:cNvSpPr txBox="1"/>
          <p:nvPr/>
        </p:nvSpPr>
        <p:spPr>
          <a:xfrm>
            <a:off x="932688" y="2675420"/>
            <a:ext cx="502062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Item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6678" y="2543746"/>
            <a:ext cx="9612201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text: Measure"/>
          <p:cNvSpPr txBox="1"/>
          <p:nvPr/>
        </p:nvSpPr>
        <p:spPr>
          <a:xfrm>
            <a:off x="4487846" y="2675420"/>
            <a:ext cx="813530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Measure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641026"/>
            <a:ext cx="3555158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0" name="Editable text: Direct income"/>
          <p:cNvSpPr txBox="1"/>
          <p:nvPr/>
        </p:nvSpPr>
        <p:spPr>
          <a:xfrm>
            <a:off x="960120" y="3124390"/>
            <a:ext cx="3097958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Direct income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86678" y="3641026"/>
            <a:ext cx="961220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2" name="Editable text: Tickets, rental, sponsorship or participation fees"/>
          <p:cNvSpPr txBox="1"/>
          <p:nvPr/>
        </p:nvSpPr>
        <p:spPr>
          <a:xfrm>
            <a:off x="4515278" y="3170110"/>
            <a:ext cx="5006911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292D29"/>
                </a:solidFill>
                <a:latin typeface="Arial"/>
              </a:rPr>
              <a:t>Tickets, rental, sponsorship or participation fees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41026"/>
            <a:ext cx="3555158" cy="65379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31520" y="4294822"/>
            <a:ext cx="3555158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5" name="Editable text: Direct cost"/>
          <p:cNvSpPr txBox="1"/>
          <p:nvPr/>
        </p:nvSpPr>
        <p:spPr>
          <a:xfrm>
            <a:off x="960120" y="3778186"/>
            <a:ext cx="3097958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Direct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6678" y="3641026"/>
            <a:ext cx="9612201" cy="65379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286678" y="4294822"/>
            <a:ext cx="961220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8" name="Editable text: Production, staffing, security, cleaning and utilities"/>
          <p:cNvSpPr txBox="1"/>
          <p:nvPr/>
        </p:nvSpPr>
        <p:spPr>
          <a:xfrm>
            <a:off x="4515278" y="3823906"/>
            <a:ext cx="5216937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292D29"/>
                </a:solidFill>
                <a:latin typeface="Arial"/>
              </a:rPr>
              <a:t>Production, staffing, security, cleaning and utilities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4948618"/>
            <a:ext cx="3555158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0" name="Editable text: Tenant contribution"/>
          <p:cNvSpPr txBox="1"/>
          <p:nvPr/>
        </p:nvSpPr>
        <p:spPr>
          <a:xfrm>
            <a:off x="960120" y="4431982"/>
            <a:ext cx="3097958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Tenant contribution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6678" y="4948618"/>
            <a:ext cx="961220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2" name="Editable text: Participation and measurable commercial uplift"/>
          <p:cNvSpPr txBox="1"/>
          <p:nvPr/>
        </p:nvSpPr>
        <p:spPr>
          <a:xfrm>
            <a:off x="4515278" y="4477702"/>
            <a:ext cx="4920472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292D29"/>
                </a:solidFill>
                <a:latin typeface="Arial"/>
              </a:rPr>
              <a:t>Participation and measurable commercial uplift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48618"/>
            <a:ext cx="3555158" cy="65379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31520" y="5602414"/>
            <a:ext cx="3555158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5" name="Editable text: Destination benefit"/>
          <p:cNvSpPr txBox="1"/>
          <p:nvPr/>
        </p:nvSpPr>
        <p:spPr>
          <a:xfrm>
            <a:off x="960120" y="5085778"/>
            <a:ext cx="3097958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Destination benefit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86678" y="4948618"/>
            <a:ext cx="9612201" cy="653796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286678" y="5602414"/>
            <a:ext cx="961220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8" name="Editable text: Repeat participation and new visitor acquisition"/>
          <p:cNvSpPr txBox="1"/>
          <p:nvPr/>
        </p:nvSpPr>
        <p:spPr>
          <a:xfrm>
            <a:off x="4515278" y="5131498"/>
            <a:ext cx="4936474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292D29"/>
                </a:solidFill>
                <a:latin typeface="Arial"/>
              </a:rPr>
              <a:t>Repeat participation and new visitor acquisition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6256210"/>
            <a:ext cx="3555158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0" name="Editable text: Space impact"/>
          <p:cNvSpPr txBox="1"/>
          <p:nvPr/>
        </p:nvSpPr>
        <p:spPr>
          <a:xfrm>
            <a:off x="960120" y="5739574"/>
            <a:ext cx="3097958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Space impact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286678" y="6256210"/>
            <a:ext cx="9612202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2" name="Editable text: Access, disruption and displaced activity"/>
          <p:cNvSpPr txBox="1"/>
          <p:nvPr/>
        </p:nvSpPr>
        <p:spPr>
          <a:xfrm>
            <a:off x="4515278" y="5785294"/>
            <a:ext cx="4276963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64" b="0">
                <a:solidFill>
                  <a:srgbClr val="292D29"/>
                </a:solidFill>
                <a:latin typeface="Arial"/>
              </a:rPr>
              <a:t>Access, disruption and displaced activity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6489382"/>
            <a:ext cx="1316736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34" name="Editable text: Free community programmes require a defined budget and purpose."/>
          <p:cNvSpPr txBox="1"/>
          <p:nvPr/>
        </p:nvSpPr>
        <p:spPr>
          <a:xfrm>
            <a:off x="731520" y="6678663"/>
            <a:ext cx="6534816" cy="304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622" b="0">
                <a:solidFill>
                  <a:srgbClr val="292D29"/>
                </a:solidFill>
                <a:latin typeface="Arial"/>
              </a:rPr>
              <a:t>Free community programmes require a defined budget and purpose.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6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37" name="Editable text: COMMERCIAL VALIDATION"/>
          <p:cNvSpPr txBox="1"/>
          <p:nvPr/>
        </p:nvSpPr>
        <p:spPr>
          <a:xfrm>
            <a:off x="12310110" y="273405"/>
            <a:ext cx="1771650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COMMERCIAL VALIDATION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7000732"/>
            <a:ext cx="13167360" cy="58878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Editable text: BRIEF NOTES · PRESERVED VERBATIM"/>
          <p:cNvSpPr txBox="1"/>
          <p:nvPr/>
        </p:nvSpPr>
        <p:spPr>
          <a:xfrm>
            <a:off x="896112" y="711137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40" name="Editable text: Visual: Event contribution worksheet, tanpa revenue target yang b"/>
          <p:cNvSpPr txBox="1"/>
          <p:nvPr/>
        </p:nvSpPr>
        <p:spPr>
          <a:xfrm>
            <a:off x="896112" y="7287853"/>
            <a:ext cx="5482399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Visual: Event contribution worksheet, tanpa revenue target yang belum tervalidasi.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2" name="Editable text: COMMERCIAL VALIDATION"/>
          <p:cNvSpPr txBox="1"/>
          <p:nvPr/>
        </p:nvSpPr>
        <p:spPr>
          <a:xfrm>
            <a:off x="731520" y="7891272"/>
            <a:ext cx="157848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COMMERCIAL VALIDATION</a:t>
            </a:r>
          </a:p>
        </p:txBody>
      </p:sp>
      <p:sp>
        <p:nvSpPr>
          <p:cNvPr id="43" name="Editable text: SOURCE: KALINDO PROJECT (1).PDF / 27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text: OPEX &amp; RETURN VALIDATION"/>
          <p:cNvSpPr txBox="1"/>
          <p:nvPr/>
        </p:nvSpPr>
        <p:spPr>
          <a:xfrm>
            <a:off x="731520" y="911656"/>
            <a:ext cx="2362295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6D8767"/>
                </a:solidFill>
                <a:latin typeface="Arial"/>
              </a:rPr>
              <a:t>OPEX &amp; RETURN VALIDATION</a:t>
            </a:r>
          </a:p>
        </p:txBody>
      </p:sp>
      <p:sp>
        <p:nvSpPr>
          <p:cNvPr id="3" name="Editable text: THE INVESTMENT CASE FOLLOWS VERIFIED OPERATING ASSUMPTIONS"/>
          <p:cNvSpPr txBox="1"/>
          <p:nvPr/>
        </p:nvSpPr>
        <p:spPr>
          <a:xfrm>
            <a:off x="731520" y="1075334"/>
            <a:ext cx="12344400" cy="14397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43"/>
              </a:lnSpc>
              <a:spcBef>
                <a:spcPts val="0"/>
              </a:spcBef>
              <a:spcAft>
                <a:spcPts val="0"/>
              </a:spcAft>
            </a:pPr>
            <a:r>
              <a:rPr sz="3654" b="0" spc="-72">
                <a:solidFill>
                  <a:srgbClr val="183D32"/>
                </a:solidFill>
                <a:latin typeface="Georgia"/>
              </a:rPr>
              <a:t>THE INVESTMENT CASE FOLLOWS VERIFIED OPERATING ASSUMPTIONS</a:t>
            </a:r>
          </a:p>
        </p:txBody>
      </p:sp>
      <p:sp>
        <p:nvSpPr>
          <p:cNvPr id="4" name="Editable text: OPEX should reflect manpower, shifts, technical loads, service st"/>
          <p:cNvSpPr txBox="1"/>
          <p:nvPr/>
        </p:nvSpPr>
        <p:spPr>
          <a:xfrm>
            <a:off x="731520" y="2520086"/>
            <a:ext cx="11370564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292D29"/>
                </a:solidFill>
                <a:latin typeface="Arial"/>
              </a:rPr>
              <a:t>OPEX should reflect manpower, shifts, technical loads, service standards, contracts and the programming calendar.</a:t>
            </a:r>
          </a:p>
        </p:txBody>
      </p:sp>
      <p:sp>
        <p:nvSpPr>
          <p:cNvPr id="5" name="Editable text: The feedback’s working NOI and construction investment imply appr"/>
          <p:cNvSpPr txBox="1"/>
          <p:nvPr/>
        </p:nvSpPr>
        <p:spPr>
          <a:xfrm>
            <a:off x="731520" y="2973571"/>
            <a:ext cx="7754397" cy="318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93" b="0">
                <a:solidFill>
                  <a:srgbClr val="292D29"/>
                </a:solidFill>
                <a:latin typeface="Arial"/>
              </a:rPr>
              <a:t>The feedback’s working NOI and construction investment imply approximately: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67290"/>
            <a:ext cx="658368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text: Metric"/>
          <p:cNvSpPr txBox="1"/>
          <p:nvPr/>
        </p:nvSpPr>
        <p:spPr>
          <a:xfrm>
            <a:off x="932688" y="3598964"/>
            <a:ext cx="634222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3467290"/>
            <a:ext cx="329184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text: Alternative 1"/>
          <p:cNvSpPr txBox="1"/>
          <p:nvPr/>
        </p:nvSpPr>
        <p:spPr>
          <a:xfrm>
            <a:off x="7516368" y="3598964"/>
            <a:ext cx="110756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Alternative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3467290"/>
            <a:ext cx="3291840" cy="448056"/>
          </a:xfrm>
          <a:prstGeom prst="rect">
            <a:avLst/>
          </a:prstGeom>
          <a:solidFill>
            <a:srgbClr val="183D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text: Alternative 2"/>
          <p:cNvSpPr txBox="1"/>
          <p:nvPr/>
        </p:nvSpPr>
        <p:spPr>
          <a:xfrm>
            <a:off x="10808208" y="3598964"/>
            <a:ext cx="1107567" cy="212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128" b="0" spc="72">
                <a:solidFill>
                  <a:srgbClr val="F4F1E8"/>
                </a:solidFill>
                <a:latin typeface="Arial"/>
              </a:rPr>
              <a:t>Alternative 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4806886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3" name="Editable text: Annual NOI"/>
          <p:cNvSpPr txBox="1"/>
          <p:nvPr/>
        </p:nvSpPr>
        <p:spPr>
          <a:xfrm>
            <a:off x="941832" y="4169092"/>
            <a:ext cx="6163056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Annual NOI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4806886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5" name="Editable text: Rp22.835bn"/>
          <p:cNvSpPr txBox="1"/>
          <p:nvPr/>
        </p:nvSpPr>
        <p:spPr>
          <a:xfrm>
            <a:off x="7525512" y="4092740"/>
            <a:ext cx="2871216" cy="614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0"/>
              </a:lnSpc>
              <a:spcBef>
                <a:spcPts val="0"/>
              </a:spcBef>
              <a:spcAft>
                <a:spcPts val="0"/>
              </a:spcAft>
            </a:pPr>
            <a:r>
              <a:rPr sz="2436" b="0">
                <a:solidFill>
                  <a:srgbClr val="183D32"/>
                </a:solidFill>
                <a:latin typeface="Georgia"/>
              </a:rPr>
              <a:t>Rp22.835bn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607040" y="4806886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17" name="Editable text: Rp20.929bn"/>
          <p:cNvSpPr txBox="1"/>
          <p:nvPr/>
        </p:nvSpPr>
        <p:spPr>
          <a:xfrm>
            <a:off x="10817352" y="4092740"/>
            <a:ext cx="2871216" cy="614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0"/>
              </a:lnSpc>
              <a:spcBef>
                <a:spcPts val="0"/>
              </a:spcBef>
              <a:spcAft>
                <a:spcPts val="0"/>
              </a:spcAft>
            </a:pPr>
            <a:r>
              <a:rPr sz="2436" b="0">
                <a:solidFill>
                  <a:srgbClr val="183D32"/>
                </a:solidFill>
                <a:latin typeface="Georgia"/>
              </a:rPr>
              <a:t>Rp20.929bn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06886"/>
            <a:ext cx="6583680" cy="896112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31520" y="5702998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0" name="Editable text: Construction investment"/>
          <p:cNvSpPr txBox="1"/>
          <p:nvPr/>
        </p:nvSpPr>
        <p:spPr>
          <a:xfrm>
            <a:off x="941832" y="5065204"/>
            <a:ext cx="6163056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Construction investment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4806886"/>
            <a:ext cx="3291840" cy="896112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315200" y="5702998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3" name="Editable text: Rp278.947bn"/>
          <p:cNvSpPr txBox="1"/>
          <p:nvPr/>
        </p:nvSpPr>
        <p:spPr>
          <a:xfrm>
            <a:off x="7525512" y="4988852"/>
            <a:ext cx="2871216" cy="614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0"/>
              </a:lnSpc>
              <a:spcBef>
                <a:spcPts val="0"/>
              </a:spcBef>
              <a:spcAft>
                <a:spcPts val="0"/>
              </a:spcAft>
            </a:pPr>
            <a:r>
              <a:rPr sz="2436" b="0">
                <a:solidFill>
                  <a:srgbClr val="183D32"/>
                </a:solidFill>
                <a:latin typeface="Georgia"/>
              </a:rPr>
              <a:t>Rp278.947bn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0" y="4806886"/>
            <a:ext cx="3291840" cy="896112"/>
          </a:xfrm>
          <a:prstGeom prst="rect">
            <a:avLst/>
          </a:prstGeom>
          <a:solidFill>
            <a:srgbClr val="E8E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0607040" y="5702998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6" name="Editable text: Rp259.378bn"/>
          <p:cNvSpPr txBox="1"/>
          <p:nvPr/>
        </p:nvSpPr>
        <p:spPr>
          <a:xfrm>
            <a:off x="10817352" y="4988852"/>
            <a:ext cx="2871216" cy="614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0"/>
              </a:lnSpc>
              <a:spcBef>
                <a:spcPts val="0"/>
              </a:spcBef>
              <a:spcAft>
                <a:spcPts val="0"/>
              </a:spcAft>
            </a:pPr>
            <a:r>
              <a:rPr sz="2436" b="0">
                <a:solidFill>
                  <a:srgbClr val="183D32"/>
                </a:solidFill>
                <a:latin typeface="Georgia"/>
              </a:rPr>
              <a:t>Rp259.378bn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702998"/>
            <a:ext cx="6583680" cy="896112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31520" y="6599110"/>
            <a:ext cx="658368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29" name="Editable text: NOI ÷ construction investment"/>
          <p:cNvSpPr txBox="1"/>
          <p:nvPr/>
        </p:nvSpPr>
        <p:spPr>
          <a:xfrm>
            <a:off x="941832" y="5961316"/>
            <a:ext cx="6163056" cy="4229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91" b="0">
                <a:solidFill>
                  <a:srgbClr val="183D32"/>
                </a:solidFill>
                <a:latin typeface="Georgia"/>
              </a:rPr>
              <a:t>NOI ÷ construction investment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5702998"/>
            <a:ext cx="3291840" cy="896112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315200" y="6599110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2" name="Editable text: 8.19%"/>
          <p:cNvSpPr txBox="1"/>
          <p:nvPr/>
        </p:nvSpPr>
        <p:spPr>
          <a:xfrm>
            <a:off x="7525512" y="5884964"/>
            <a:ext cx="2871216" cy="614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0"/>
              </a:lnSpc>
              <a:spcBef>
                <a:spcPts val="0"/>
              </a:spcBef>
              <a:spcAft>
                <a:spcPts val="0"/>
              </a:spcAft>
            </a:pPr>
            <a:r>
              <a:rPr sz="2436" b="0">
                <a:solidFill>
                  <a:srgbClr val="183D32"/>
                </a:solidFill>
                <a:latin typeface="Georgia"/>
              </a:rPr>
              <a:t>8.19%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07040" y="5702998"/>
            <a:ext cx="3291840" cy="896112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0607040" y="6599110"/>
            <a:ext cx="329184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5" name="Editable text: 8.07%"/>
          <p:cNvSpPr txBox="1"/>
          <p:nvPr/>
        </p:nvSpPr>
        <p:spPr>
          <a:xfrm>
            <a:off x="10817352" y="5884964"/>
            <a:ext cx="2871216" cy="614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0"/>
              </a:lnSpc>
              <a:spcBef>
                <a:spcPts val="0"/>
              </a:spcBef>
              <a:spcAft>
                <a:spcPts val="0"/>
              </a:spcAft>
            </a:pPr>
            <a:r>
              <a:rPr sz="2436" b="0">
                <a:solidFill>
                  <a:srgbClr val="183D32"/>
                </a:solidFill>
                <a:latin typeface="Georgia"/>
              </a:rPr>
              <a:t>8.07%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37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38" name="Editable text: COMMERCIAL VALIDATION"/>
          <p:cNvSpPr txBox="1"/>
          <p:nvPr/>
        </p:nvSpPr>
        <p:spPr>
          <a:xfrm>
            <a:off x="12310110" y="273405"/>
            <a:ext cx="1771650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292D29"/>
                </a:solidFill>
                <a:latin typeface="Arial"/>
              </a:rPr>
              <a:t>COMMERCIAL VALIDATION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6795992"/>
            <a:ext cx="13167360" cy="793527"/>
          </a:xfrm>
          <a:prstGeom prst="rect">
            <a:avLst/>
          </a:prstGeom>
          <a:solidFill>
            <a:srgbClr val="DCE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Editable text: BRIEF NOTES · PRESERVED VERBATIM"/>
          <p:cNvSpPr txBox="1"/>
          <p:nvPr/>
        </p:nvSpPr>
        <p:spPr>
          <a:xfrm>
            <a:off x="896112" y="6906634"/>
            <a:ext cx="2153697" cy="1193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35" b="0" spc="108">
                <a:solidFill>
                  <a:srgbClr val="183D32"/>
                </a:solidFill>
                <a:latin typeface="Arial"/>
              </a:rPr>
              <a:t>BRIEF NOTES · PRESERVED VERBATIM</a:t>
            </a:r>
          </a:p>
        </p:txBody>
      </p:sp>
      <p:sp>
        <p:nvSpPr>
          <p:cNvPr id="41" name="Editable text: Catatan: Rasio ini merupakan perhitungan sederhana dari angka fee"/>
          <p:cNvSpPr txBox="1"/>
          <p:nvPr/>
        </p:nvSpPr>
        <p:spPr>
          <a:xfrm>
            <a:off x="896112" y="7083113"/>
            <a:ext cx="12838176" cy="416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128" b="0">
                <a:solidFill>
                  <a:srgbClr val="183D32"/>
                </a:solidFill>
                <a:latin typeface="Arial"/>
              </a:rPr>
              <a:t>Catatan: Rasio ini merupakan perhitungan sederhana dari angka feedback, bukan IRR atau return atas total project cost. Angka “10–11% return” perlu dijelaskan metrik dan basisnya sebelum dibandingkan.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D8D1C4"/>
            </a:solidFill>
          </a:ln>
        </p:spPr>
      </p:cxnSp>
      <p:sp>
        <p:nvSpPr>
          <p:cNvPr id="43" name="Editable text: COMMERCIAL VALIDATION"/>
          <p:cNvSpPr txBox="1"/>
          <p:nvPr/>
        </p:nvSpPr>
        <p:spPr>
          <a:xfrm>
            <a:off x="731520" y="7891272"/>
            <a:ext cx="1578483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COMMERCIAL VALIDATION</a:t>
            </a:r>
          </a:p>
        </p:txBody>
      </p:sp>
      <p:sp>
        <p:nvSpPr>
          <p:cNvPr id="44" name="Editable text: SOURCE: KALINDO PROJECT (1).PDF / 28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292D29"/>
                </a:solidFill>
                <a:latin typeface="Arial"/>
              </a:rPr>
              <a:t>SOURCE: KALINDO PROJECT (1).PDF /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eplaceable photo: slide-10-night.jpg" descr="slide-10-night.jpg"/>
          <p:cNvPicPr>
            <a:picLocks noChangeAspect="1"/>
          </p:cNvPicPr>
          <p:nvPr/>
        </p:nvPicPr>
        <p:blipFill>
          <a:blip r:embed="rId2"/>
          <a:srcRect l="27" r="2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  <a:gradFill>
            <a:gsLst>
              <a:gs pos="0">
                <a:srgbClr val="0A2019">
                  <a:alpha val="90000"/>
                </a:srgbClr>
              </a:gs>
              <a:gs pos="100000">
                <a:srgbClr val="0A2019">
                  <a:alpha val="12000"/>
                </a:srgbClr>
              </a:gs>
            </a:gsLst>
            <a:lin ang="0" scaled="1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text: Closing copy"/>
          <p:cNvSpPr txBox="1"/>
          <p:nvPr/>
        </p:nvSpPr>
        <p:spPr>
          <a:xfrm>
            <a:off x="822960" y="2831896"/>
            <a:ext cx="1328166" cy="1723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17" b="0" spc="165">
                <a:solidFill>
                  <a:srgbClr val="DCE4D5"/>
                </a:solidFill>
                <a:latin typeface="Arial"/>
              </a:rPr>
              <a:t>Closing copy</a:t>
            </a:r>
          </a:p>
        </p:txBody>
      </p:sp>
      <p:sp>
        <p:nvSpPr>
          <p:cNvPr id="5" name="Editable text: LIFE COMES TOGETHER."/>
          <p:cNvSpPr txBox="1"/>
          <p:nvPr/>
        </p:nvSpPr>
        <p:spPr>
          <a:xfrm>
            <a:off x="822960" y="2965399"/>
            <a:ext cx="12893040" cy="1313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209"/>
              </a:lnSpc>
              <a:spcBef>
                <a:spcPts val="0"/>
              </a:spcBef>
              <a:spcAft>
                <a:spcPts val="0"/>
              </a:spcAft>
            </a:pPr>
            <a:r>
              <a:rPr sz="5211" b="0" spc="-72">
                <a:solidFill>
                  <a:srgbClr val="F4F1E8"/>
                </a:solidFill>
                <a:latin typeface="Georgia"/>
              </a:rPr>
              <a:t>LIFE COMES TOGETHER.</a:t>
            </a:r>
          </a:p>
        </p:txBody>
      </p:sp>
      <p:sp>
        <p:nvSpPr>
          <p:cNvPr id="6" name="Editable text: THE VERANDA BRINGS IT INTO VIEW."/>
          <p:cNvSpPr txBox="1"/>
          <p:nvPr/>
        </p:nvSpPr>
        <p:spPr>
          <a:xfrm>
            <a:off x="822960" y="3753926"/>
            <a:ext cx="12893040" cy="21020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209"/>
              </a:lnSpc>
              <a:spcBef>
                <a:spcPts val="0"/>
              </a:spcBef>
              <a:spcAft>
                <a:spcPts val="0"/>
              </a:spcAft>
            </a:pPr>
            <a:r>
              <a:rPr sz="5211" b="0" spc="-72">
                <a:solidFill>
                  <a:srgbClr val="F4F1E8"/>
                </a:solidFill>
                <a:latin typeface="Georgia"/>
              </a:rPr>
              <a:t>THE VERANDA BRINGS IT INTO VIEW.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539496"/>
            <a:ext cx="1316736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8" name="Editable text: KALINDO / THE COMPLETE BRIEF"/>
          <p:cNvSpPr txBox="1"/>
          <p:nvPr/>
        </p:nvSpPr>
        <p:spPr>
          <a:xfrm>
            <a:off x="731520" y="273405"/>
            <a:ext cx="2214133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F4F1E8"/>
                </a:solidFill>
                <a:latin typeface="Arial"/>
              </a:rPr>
              <a:t>KALINDO / THE COMPLETE BRIEF</a:t>
            </a:r>
          </a:p>
        </p:txBody>
      </p:sp>
      <p:sp>
        <p:nvSpPr>
          <p:cNvPr id="9" name="Editable text: CLOSING"/>
          <p:cNvSpPr txBox="1"/>
          <p:nvPr/>
        </p:nvSpPr>
        <p:spPr>
          <a:xfrm>
            <a:off x="13348954" y="273405"/>
            <a:ext cx="732805" cy="1458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776" b="0" spc="115">
                <a:solidFill>
                  <a:srgbClr val="F4F1E8"/>
                </a:solidFill>
                <a:latin typeface="Arial"/>
              </a:rPr>
              <a:t>CLOSING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7754112"/>
            <a:ext cx="13167360" cy="0"/>
          </a:xfrm>
          <a:prstGeom prst="line">
            <a:avLst/>
          </a:prstGeom>
          <a:ln w="9144">
            <a:solidFill>
              <a:srgbClr val="6D8767"/>
            </a:solidFill>
          </a:ln>
        </p:spPr>
      </p:cxnSp>
      <p:sp>
        <p:nvSpPr>
          <p:cNvPr id="11" name="Editable text: CLOSING"/>
          <p:cNvSpPr txBox="1"/>
          <p:nvPr/>
        </p:nvSpPr>
        <p:spPr>
          <a:xfrm>
            <a:off x="731520" y="7891272"/>
            <a:ext cx="666511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F4F1E8"/>
                </a:solidFill>
                <a:latin typeface="Arial"/>
              </a:rPr>
              <a:t>CLOSING</a:t>
            </a:r>
          </a:p>
        </p:txBody>
      </p:sp>
      <p:sp>
        <p:nvSpPr>
          <p:cNvPr id="12" name="Editable text: SOURCE: KALINDO PROJECT (1).PDF / 29"/>
          <p:cNvSpPr txBox="1"/>
          <p:nvPr/>
        </p:nvSpPr>
        <p:spPr>
          <a:xfrm>
            <a:off x="11552301" y="7891272"/>
            <a:ext cx="2529459" cy="132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05" b="0" spc="86">
                <a:solidFill>
                  <a:srgbClr val="F4F1E8"/>
                </a:solidFill>
                <a:latin typeface="Arial"/>
              </a:rPr>
              <a:t>SOURCE: KALINDO PROJECT (1).PDF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KALINDO — Complete Brief, 29 Editable Slides</dc:title>
  <dc:subject/>
  <dc:creator>KALINDO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