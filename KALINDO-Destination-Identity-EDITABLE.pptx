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A new address for life in Batam.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Concept, Brand Positioning &amp; Destination Naming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A place Batam returns to. A destination the region discovers.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Everyday life, with a wider horizon.</a:t>
            </a:r>
          </a:p>
          <a:p/>
          <a:p>
            <a:r>
              <a:t>Local belonging / Everyday convenience creates familiarity. A district that becomes part of life in Batam.</a:t>
            </a:r>
          </a:p>
          <a:p/>
          <a:p>
            <a:r>
              <a:t>Regional discovery / Culinary discovery, shared experiences and hospitality give visitors more reasons to stay.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Life comes together.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One visit opens into another experience.</a:t>
            </a:r>
          </a:p>
          <a:p/>
          <a:p>
            <a:r>
              <a:t>family / A family afternoon / becomes dinner.</a:t>
            </a:r>
          </a:p>
          <a:p/>
          <a:p>
            <a:r>
              <a:t>friends / A shopping visit / becomes a catch-up.</a:t>
            </a:r>
          </a:p>
          <a:p/>
          <a:p>
            <a:r>
              <a:t>hotel / A hotel stay / becomes a discovery of Batam.</a:t>
            </a:r>
          </a:p>
          <a:p/>
          <a:p>
            <a:r>
              <a:t>night / An ordinary evening / becomes a shared celebration.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Batam’s tropical lifestyle district.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More to discover.</a:t>
            </a:r>
          </a:p>
          <a:p>
            <a:r>
              <a:t>More reasons to stay.</a:t>
            </a:r>
          </a:p>
          <a:p/>
          <a:p>
            <a:r>
              <a:t>For whom / Batam residents and regional leisure visitors.</a:t>
            </a:r>
          </a:p>
          <a:p/>
          <a:p>
            <a:r>
              <a:t>Our proposition / Indonesian culinary discovery, curated retail, family experiences and hospitality in a walkable tropical setting, centred on The Veranda.</a:t>
            </a:r>
          </a:p>
          <a:p/>
          <a:p>
            <a:r>
              <a:t>Our position / Middle-to-upper lifestyle: quality spaces, welcoming service and a considered range of prices.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Everyday ease. A day worth spending.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Take care of an everyday need. Enjoy the time around it.</a:t>
            </a:r>
          </a:p>
          <a:p/>
          <a:p>
            <a:r>
              <a:t>bag / Everyday convenience / Useful tenants that encourage repeat visits.</a:t>
            </a:r>
          </a:p>
          <a:p/>
          <a:p>
            <a:r>
              <a:t>dish / Culinary discovery / Food experiences that reward curiosity.</a:t>
            </a:r>
          </a:p>
          <a:p/>
          <a:p>
            <a:r>
              <a:t>leaf / Gardens and terraces / Places to pause, dine and linger.</a:t>
            </a:r>
          </a:p>
          <a:p/>
          <a:p>
            <a:r>
              <a:t>people / A central gathering place / Shared space with a changing calendar.</a:t>
            </a:r>
          </a:p>
          <a:p/>
          <a:p>
            <a:r>
              <a:t>door / Hospitality / An invitation to extend a visit into a stay.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The life between.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Life is rarely about just one thing.</a:t>
            </a:r>
          </a:p>
          <a:p/>
          <a:p>
            <a:r>
              <a:t>We meet for coffee, but stay for lunch. We come to shop, but end up meeting friends. We bring our children to play, then sit down for dinner.</a:t>
            </a:r>
          </a:p>
          <a:p/>
          <a:p>
            <a:r>
              <a:t>Batam is shaped by movement: between Indonesia and the region, work and leisure, local life and new experiences. The district brings those different sides of life together.</a:t>
            </a:r>
          </a:p>
          <a:p/>
          <a:p>
            <a:r>
              <a:t>One place. Many ways</a:t>
            </a:r>
          </a:p>
          <a:p>
            <a:r>
              <a:t>to spend the day.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The brand in one frame.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Purpose / To enrich everyday life in Batam through places and experiences people share.</a:t>
            </a:r>
          </a:p>
          <a:p/>
          <a:p>
            <a:r>
              <a:t>Promise / More to discover. More reasons to stay.</a:t>
            </a:r>
          </a:p>
          <a:p/>
          <a:p>
            <a:r>
              <a:t>Philosophy / The Life Between</a:t>
            </a:r>
          </a:p>
          <a:p/>
          <a:p>
            <a:r>
              <a:t>Emotional benefit / The freedom to spend time your way, with the people who matter.</a:t>
            </a:r>
          </a:p>
          <a:p/>
          <a:p>
            <a:r>
              <a:t>Personality / Warm. Contemporary. Confident. Sociable. Curious.</a:t>
            </a:r>
          </a:p>
          <a:p/>
          <a:p>
            <a:r>
              <a:t>Experience line / One Place. Many Ways to Spend the Day.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Four reasons to belong.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Brand pillars organise the experience story; zoning follows architectural requirements.</a:t>
            </a:r>
          </a:p>
          <a:p/>
          <a:p>
            <a:r>
              <a:t>retail / Everyday Ease / A convenient place that fits real routines. / Grocery · services · cafés · fitness · useful retail</a:t>
            </a:r>
          </a:p>
          <a:p/>
          <a:p>
            <a:r>
              <a:t>table / Culinary Discovery / Something worth tasting and sharing. / Nusantara food · seafood · producers · chef collaborations</a:t>
            </a:r>
          </a:p>
          <a:p/>
          <a:p>
            <a:r>
              <a:t>pets / Shared Experiences / Time together with more possibilities. / The Veranda · families · markets · culture · events</a:t>
            </a:r>
          </a:p>
          <a:p/>
          <a:p>
            <a:r>
              <a:t>leisure / Time to Stay / The comfort to extend a visit. / Hotel · garden dining · leisure · spa · quieter spaces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Where the district connects.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Everyday interactions become shared experiences.</a:t>
            </a:r>
          </a:p>
          <a:p/>
          <a:p>
            <a:r>
              <a:t>Community activities. Markets. Performances. Celebrations. A connected district gives each encounter room to grow.</a:t>
            </a:r>
          </a:p>
          <a:p/>
          <a:p>
            <a:r>
              <a:t>“The Promenide” retained from the brief; spelling to be confirmed.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The heart of the destination.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One shared place. Four ways to come together.</a:t>
            </a:r>
          </a:p>
          <a:p/>
          <a:p>
            <a:r>
              <a:t>Proposed modes of use. Keep circulation and surrounding tenants accessible; the court is not a permanent event venue.</a:t>
            </a:r>
          </a:p>
          <a:p/>
          <a:p>
            <a:r>
              <a:t>brunch / Everyday Veranda / Casual meetings, comfortable seating and cafés.</a:t>
            </a:r>
          </a:p>
          <a:p/>
          <a:p>
            <a:r>
              <a:t>market / Market Veranda / Curated food, local makers and lifestyle markets.</a:t>
            </a:r>
          </a:p>
          <a:p/>
          <a:p>
            <a:r>
              <a:t>night / Evening Veranda / Dining, intimate performances and social gatherings.</a:t>
            </a:r>
          </a:p>
          <a:p/>
          <a:p>
            <a:r>
              <a:t>veranda / Celebration Veranda / Cultural occasions, seasonal events and destination programming.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Connected places. Different rhythms.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The spatial experience</a:t>
            </a:r>
          </a:p>
          <a:p/>
          <a:p>
            <a:r>
              <a:t>Conceptual relationship diagram, not a site plan or to scale. Based on the brief and supplied spatial overlay; routes and privacy buffers require architectural coordination.</a:t>
            </a:r>
          </a:p>
          <a:p/>
          <a:p>
            <a:r>
              <a:t>Arrival Garden / A welcoming entrance with clear orientation.</a:t>
            </a:r>
          </a:p>
          <a:p/>
          <a:p>
            <a:r>
              <a:t>Pedestrian Promenades / Comfortable connections between tenants, activities and levels.</a:t>
            </a:r>
          </a:p>
          <a:p/>
          <a:p>
            <a:r>
              <a:t>Garden Terraces / Places to pause, dine and observe district life.</a:t>
            </a:r>
          </a:p>
          <a:p/>
          <a:p>
            <a:r>
              <a:t>The Veranda / The shared gathering place and event setting.</a:t>
            </a:r>
          </a:p>
          <a:p/>
          <a:p>
            <a:r>
              <a:t>Hospitality &amp; Retreat Spaces / A quieter layer for guests to stay and unwind.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Comfort makes the experience possible.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The tropical character comes from how a visit feels.</a:t>
            </a:r>
          </a:p>
          <a:p/>
          <a:p>
            <a:r>
              <a:t>Design requirements for architectural validation. Building comfort and performance are not verified.</a:t>
            </a:r>
          </a:p>
          <a:p/>
          <a:p>
            <a:r>
              <a:t>Covered connections / Protect essential journeys.</a:t>
            </a:r>
          </a:p>
          <a:p/>
          <a:p>
            <a:r>
              <a:t>Shade &amp; air movement / Support comfortable walking and seating.</a:t>
            </a:r>
          </a:p>
          <a:p/>
          <a:p>
            <a:r>
              <a:t>Vertical access / Connect the different levels clearly.</a:t>
            </a:r>
          </a:p>
          <a:p/>
          <a:p>
            <a:r>
              <a:t>Family facilities / Make longer visits easier.</a:t>
            </a:r>
          </a:p>
          <a:p/>
          <a:p>
            <a:r>
              <a:t>Evening lighting / Create an inviting atmosphere.</a:t>
            </a:r>
          </a:p>
          <a:p/>
          <a:p>
            <a:r>
              <a:t>Rain alternatives / Give events a workable wet-weather plan.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Local life builds the foundation. Regional leisure extends the opportunity.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family / Batam families / Easy, enjoyable time together. / Family activities, dining, grocery and events.</a:t>
            </a:r>
          </a:p>
          <a:p/>
          <a:p>
            <a:r>
              <a:t>friends / Professionals &amp; social groups / Places to meet and unwind. / Cafés, lunch, fitness and evening dining.</a:t>
            </a:r>
          </a:p>
          <a:p/>
          <a:p>
            <a:r>
              <a:t>pets / Local communities / A welcoming place to return to. / Workshops, markets, gatherings and performances.</a:t>
            </a:r>
          </a:p>
          <a:p/>
          <a:p>
            <a:r>
              <a:t>hotel / Regional visitors &amp; hotel guests / A worthwhile short stay. / Culinary discovery, hospitality and signature programmes.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A family afternoon that grows into an evening.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Proposed journey. Distinguish shared family activities from children’s activities requiring managed supervision.</a:t>
            </a:r>
          </a:p>
          <a:p/>
          <a:p>
            <a:r>
              <a:t>cover / Arrival / Clear parking access and an easy route in.</a:t>
            </a:r>
          </a:p>
          <a:p/>
          <a:p>
            <a:r>
              <a:t>kids / Activity / Appropriate play or learning experiences.</a:t>
            </a:r>
          </a:p>
          <a:p/>
          <a:p>
            <a:r>
              <a:t>parents / Time Nearby / Parents enjoy a café or browse nearby retail.</a:t>
            </a:r>
          </a:p>
          <a:p/>
          <a:p>
            <a:r>
              <a:t>family / Reunion / Meet again for a meal.</a:t>
            </a:r>
          </a:p>
          <a:p/>
          <a:p>
            <a:r>
              <a:t>pets / Shared Moment / A programme at The Veranda extends the day.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A stay with more of Batam in it.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Proposed journey; tourism partner arrangements remain to be developed. Final image is a supplied city reference, not a KALINDO facility.</a:t>
            </a:r>
          </a:p>
          <a:p/>
          <a:p>
            <a:r>
              <a:t>hotel / Check In / Settle in and discover the district programme.</a:t>
            </a:r>
          </a:p>
          <a:p/>
          <a:p>
            <a:r>
              <a:t>table / Taste / Explore Indonesian food and seafood.</a:t>
            </a:r>
          </a:p>
          <a:p/>
          <a:p>
            <a:r>
              <a:t>evening / Gather / Enjoy an evening at The Veranda.</a:t>
            </a:r>
          </a:p>
          <a:p/>
          <a:p>
            <a:r>
              <a:t>leisure / Unwind / Choose quieter leisure or wellness.</a:t>
            </a:r>
          </a:p>
          <a:p/>
          <a:p>
            <a:r>
              <a:t>context2 / Discover Further / Explore a curated Batam itinerary.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Different reasons to visit throughout the day.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Strategic dayparts, not approved operating hours. Timing follows tenant and operator readiness.</a:t>
            </a:r>
          </a:p>
          <a:p/>
          <a:p>
            <a:r>
              <a:t>cafe / Morning / Breakfast · coffee · fitness · everyday shopping / Build recurring routines.</a:t>
            </a:r>
          </a:p>
          <a:p/>
          <a:p>
            <a:r>
              <a:t>retail / Midday / Lunch · retail · hotel guest activity / Support daytime transactions.</a:t>
            </a:r>
          </a:p>
          <a:p/>
          <a:p>
            <a:r>
              <a:t>kids / Afternoon / Families · cafés · workshops / Encourage longer visits.</a:t>
            </a:r>
          </a:p>
          <a:p/>
          <a:p>
            <a:r>
              <a:t>night / Evening / Dinner · The Veranda programmes / Strengthen social and culinary appeal.</a:t>
            </a:r>
          </a:p>
          <a:p/>
          <a:p>
            <a:r>
              <a:t>market / Selected weekends / Markets · collaborations · visitor packages / Attract leisure visits.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Anchors attract. The district extends the visit.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A considered mix, connected by shared experiences.</a:t>
            </a:r>
          </a:p>
          <a:p/>
          <a:p>
            <a:r>
              <a:t>Strategic tenant roles; no confirmed tenants. Selection considers customer fit, price range, hours, frontage and neighbouring experiences.</a:t>
            </a:r>
          </a:p>
          <a:p/>
          <a:p>
            <a:r>
              <a:t>Everyday anchors / Establish dependable repeat visitation.</a:t>
            </a:r>
          </a:p>
          <a:p/>
          <a:p>
            <a:r>
              <a:t>Destination anchors / Give people a clear reason to choose the district.</a:t>
            </a:r>
          </a:p>
          <a:p/>
          <a:p>
            <a:r>
              <a:t>Experience tenants / Extend time through activities, dining and leisure.</a:t>
            </a:r>
          </a:p>
          <a:p/>
          <a:p>
            <a:r>
              <a:t>Discovery tenants / Add distinctive products and changing content.</a:t>
            </a:r>
          </a:p>
          <a:p/>
          <a:p>
            <a:r>
              <a:t>Hospitality partners / Connect overnight guests with the wider district.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The Veranda calendar.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Proposed programming concepts</a:t>
            </a:r>
          </a:p>
          <a:p/>
          <a:p>
            <a:r>
              <a:t>Frequency, scale, capacity, cost and operational plans remain to be developed and approved.</a:t>
            </a:r>
          </a:p>
          <a:p/>
          <a:p>
            <a:r>
              <a:t>evening / Veranda Sessions / Selected music and performance, paired with dining.</a:t>
            </a:r>
          </a:p>
          <a:p/>
          <a:p>
            <a:r>
              <a:t>market / The Weekend Edit / A curated market of food, makers and rotating brands.</a:t>
            </a:r>
          </a:p>
          <a:p/>
          <a:p>
            <a:r>
              <a:t>table / Batam Table / Indonesian chefs and local producers, with opportunities for regional exchange.</a:t>
            </a:r>
          </a:p>
          <a:p/>
          <a:p>
            <a:r>
              <a:t>kids / The Family Social / Creative activities and shared family experiences.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Batam Table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A shared table at The Veranda.</a:t>
            </a:r>
          </a:p>
          <a:p/>
          <a:p>
            <a:r>
              <a:t>A changing edition can spotlight an Indonesian region, a local ingredient, a chef collaboration or a regional exchange. Bookable dining is complemented by activities neighbouring tenants can join.</a:t>
            </a:r>
          </a:p>
          <a:p/>
          <a:p>
            <a:r>
              <a:t>Proposed culinary concept. Potential collaborators and regional exchanges are not confirmed partnerships.</a:t>
            </a:r>
          </a:p>
          <a:p/>
          <a:p>
            <a:r>
              <a:t>01 / Shared dinner</a:t>
            </a:r>
          </a:p>
          <a:p/>
          <a:p>
            <a:r>
              <a:t>02 / Tasting market</a:t>
            </a:r>
          </a:p>
          <a:p/>
          <a:p>
            <a:r>
              <a:t>03 / Chef demonstration</a:t>
            </a:r>
          </a:p>
          <a:p/>
          <a:p>
            <a:r>
              <a:t>04 / Producer showcase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Contemporary tropical. Warm and confident.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Visual identity / Architectural proportions, generous spacing, a recognisable graphic system.</a:t>
            </a:r>
          </a:p>
          <a:p/>
          <a:p>
            <a:r>
              <a:t>Photography / Real interactions, food, discovery and the changing atmosphere of the district.</a:t>
            </a:r>
          </a:p>
          <a:p/>
          <a:p>
            <a:r>
              <a:t>Tone of voice / Inviting and clear, with specific reasons to visit.</a:t>
            </a:r>
          </a:p>
          <a:p/>
          <a:p>
            <a:r>
              <a:t>Service character / Approachable hospitality at arrival, information, family support and events.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One destination. A recognisable heart.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Masterbrand remains unselected. The Veranda names the central gathering and event experience, not the whole destination.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A name with the presence of a destination.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Established enough for hospitality and regional appeal. Welcoming enough for everyday life.</a:t>
            </a:r>
          </a:p>
          <a:p/>
          <a:p>
            <a:r>
              <a:t>01 / Broad enough / Represent the entire district.</a:t>
            </a:r>
          </a:p>
          <a:p/>
          <a:p>
            <a:r>
              <a:t>02 / Memorable / Easy to speak and write.</a:t>
            </a:r>
          </a:p>
          <a:p/>
          <a:p>
            <a:r>
              <a:t>03 / Locally &amp; regionally relevant / Work across local and regional communication.</a:t>
            </a:r>
          </a:p>
          <a:p/>
          <a:p>
            <a:r>
              <a:t>04 / Flexible / Span retail, dining, events and hospitality.</a:t>
            </a:r>
          </a:p>
          <a:p/>
          <a:p>
            <a:r>
              <a:t>05 / Distinctive / Support a recognisable identity.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Four routes. One shared ambition.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Creative recommendation from the brief, not an approved final name. Availability, legal and linguistic checks remain required.</a:t>
            </a:r>
          </a:p>
          <a:p/>
          <a:p>
            <a:r>
              <a:t>Canopy Quarter / Tropical architecture and destination presence.</a:t>
            </a:r>
          </a:p>
          <a:p/>
          <a:p>
            <a:r>
              <a:t>Garden Quarter / Landscape, hospitality and relaxed lifestyle.</a:t>
            </a:r>
          </a:p>
          <a:p/>
          <a:p>
            <a:r>
              <a:t>The Courtyard / A central place for dining, community and social interaction.</a:t>
            </a:r>
          </a:p>
          <a:p/>
          <a:p>
            <a:r>
              <a:t>Batam Commons / City belonging and shared experiences.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Life comes together. Across the district.</a:t>
            </a:r>
          </a:p>
          <a:p/>
          <a:p>
            <a:r>
              <a:t>EDITABLE VERSION: text, photos, rules, diagrams and backgrounds are native PowerPoint objects. Click an element to edit, replace or delete it. All assets are embedded. Fonts use Georgia and Arial for portability.</a:t>
            </a:r>
          </a:p>
          <a:p/>
          <a:p>
            <a:r>
              <a:t>One Place. Many Ways to Spend the Day.</a:t>
            </a:r>
          </a:p>
          <a:p/>
          <a:p>
            <a:r>
              <a:t>Source: KALINDO PROJECT.pdf. Concepts, programmes and naming recommendations are not approvals. See presentation/CONTENT-REVIEW.md.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6.jpg"/><Relationship Id="rId5" Type="http://schemas.openxmlformats.org/officeDocument/2006/relationships/image" Target="../media/image15.jp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11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3.jpg"/><Relationship Id="rId6" Type="http://schemas.openxmlformats.org/officeDocument/2006/relationships/image" Target="../media/image11.jp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0.jpg"/><Relationship Id="rId4" Type="http://schemas.openxmlformats.org/officeDocument/2006/relationships/image" Target="../media/image18.jpg"/><Relationship Id="rId5" Type="http://schemas.openxmlformats.org/officeDocument/2006/relationships/image" Target="../media/image12.jpg"/><Relationship Id="rId6" Type="http://schemas.openxmlformats.org/officeDocument/2006/relationships/image" Target="../media/image19.jp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7.jpg"/><Relationship Id="rId4" Type="http://schemas.openxmlformats.org/officeDocument/2006/relationships/image" Target="../media/image16.jpg"/><Relationship Id="rId5" Type="http://schemas.openxmlformats.org/officeDocument/2006/relationships/image" Target="../media/image6.jpg"/><Relationship Id="rId6" Type="http://schemas.openxmlformats.org/officeDocument/2006/relationships/image" Target="../media/image14.jp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4.jpg"/><Relationship Id="rId4" Type="http://schemas.openxmlformats.org/officeDocument/2006/relationships/image" Target="../media/image10.jpg"/><Relationship Id="rId5" Type="http://schemas.openxmlformats.org/officeDocument/2006/relationships/image" Target="../media/image16.jp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placeable photo: slide-1-cover-cover.jpg" descr="slide-1-cover-cover.jpg"/>
          <p:cNvPicPr>
            <a:picLocks noChangeAspect="1"/>
          </p:cNvPicPr>
          <p:nvPr/>
        </p:nvPicPr>
        <p:blipFill>
          <a:blip r:embed="rId2"/>
          <a:srcRect l="18733" r="18733"/>
          <a:stretch>
            <a:fillRect/>
          </a:stretch>
        </p:blipFill>
        <p:spPr>
          <a:xfrm>
            <a:off x="5486400" y="0"/>
            <a:ext cx="91440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97880" cy="8229600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text: KALINDO PROJECT"/>
          <p:cNvSpPr txBox="1"/>
          <p:nvPr/>
        </p:nvSpPr>
        <p:spPr>
          <a:xfrm>
            <a:off x="585216" y="1140256"/>
            <a:ext cx="169406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DCE4D5"/>
                </a:solidFill>
                <a:latin typeface="Arial"/>
              </a:rPr>
              <a:t>KALINDO PROJECT</a:t>
            </a:r>
          </a:p>
        </p:txBody>
      </p:sp>
      <p:sp>
        <p:nvSpPr>
          <p:cNvPr id="5" name="Editable text: K"/>
          <p:cNvSpPr txBox="1"/>
          <p:nvPr/>
        </p:nvSpPr>
        <p:spPr>
          <a:xfrm>
            <a:off x="585216" y="1161288"/>
            <a:ext cx="4727448" cy="18790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20"/>
              </a:lnSpc>
              <a:spcBef>
                <a:spcPts val="0"/>
              </a:spcBef>
              <a:spcAft>
                <a:spcPts val="0"/>
              </a:spcAft>
            </a:pPr>
            <a:r>
              <a:rPr sz="7444" b="0">
                <a:solidFill>
                  <a:srgbClr val="F4F1E8"/>
                </a:solidFill>
                <a:latin typeface="Georgia"/>
              </a:rPr>
              <a:t>K</a:t>
            </a:r>
          </a:p>
        </p:txBody>
      </p:sp>
      <p:sp>
        <p:nvSpPr>
          <p:cNvPr id="6" name="Editable text: ／"/>
          <p:cNvSpPr txBox="1"/>
          <p:nvPr/>
        </p:nvSpPr>
        <p:spPr>
          <a:xfrm>
            <a:off x="1367885" y="1161288"/>
            <a:ext cx="1188720" cy="18790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20"/>
              </a:lnSpc>
              <a:spcBef>
                <a:spcPts val="0"/>
              </a:spcBef>
              <a:spcAft>
                <a:spcPts val="0"/>
              </a:spcAft>
            </a:pPr>
            <a:r>
              <a:rPr sz="7444" b="0">
                <a:solidFill>
                  <a:srgbClr val="6D8767"/>
                </a:solidFill>
                <a:latin typeface="Georgia"/>
              </a:rPr>
              <a:t>／</a:t>
            </a:r>
          </a:p>
        </p:txBody>
      </p:sp>
      <p:sp>
        <p:nvSpPr>
          <p:cNvPr id="7" name="Editable text: A new address"/>
          <p:cNvSpPr txBox="1"/>
          <p:nvPr/>
        </p:nvSpPr>
        <p:spPr>
          <a:xfrm>
            <a:off x="585216" y="2626156"/>
            <a:ext cx="4727448" cy="13359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28"/>
              </a:lnSpc>
              <a:spcBef>
                <a:spcPts val="0"/>
              </a:spcBef>
              <a:spcAft>
                <a:spcPts val="0"/>
              </a:spcAft>
            </a:pPr>
            <a:r>
              <a:rPr sz="5279" b="0" spc="-108">
                <a:solidFill>
                  <a:srgbClr val="F4F1E8"/>
                </a:solidFill>
                <a:latin typeface="Georgia"/>
              </a:rPr>
              <a:t>A new address</a:t>
            </a:r>
          </a:p>
        </p:txBody>
      </p:sp>
      <p:sp>
        <p:nvSpPr>
          <p:cNvPr id="8" name="Editable text: for life in Batam."/>
          <p:cNvSpPr txBox="1"/>
          <p:nvPr/>
        </p:nvSpPr>
        <p:spPr>
          <a:xfrm>
            <a:off x="585216" y="3353533"/>
            <a:ext cx="4727448" cy="2063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28"/>
              </a:lnSpc>
              <a:spcBef>
                <a:spcPts val="0"/>
              </a:spcBef>
              <a:spcAft>
                <a:spcPts val="0"/>
              </a:spcAft>
            </a:pPr>
            <a:r>
              <a:rPr sz="5279" b="0" spc="-108">
                <a:solidFill>
                  <a:srgbClr val="F4F1E8"/>
                </a:solidFill>
                <a:latin typeface="Georgia"/>
              </a:rPr>
              <a:t>for life in Batam.</a:t>
            </a:r>
          </a:p>
        </p:txBody>
      </p:sp>
      <p:sp>
        <p:nvSpPr>
          <p:cNvPr id="9" name="Editable text: Concept, Brand Positioning &amp; Destination Naming"/>
          <p:cNvSpPr txBox="1"/>
          <p:nvPr/>
        </p:nvSpPr>
        <p:spPr>
          <a:xfrm>
            <a:off x="585216" y="5319436"/>
            <a:ext cx="3566160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F4F1E8"/>
                </a:solidFill>
                <a:latin typeface="Arial"/>
              </a:rPr>
              <a:t>Concept, Brand Positioning &amp; Destination Naming</a:t>
            </a:r>
          </a:p>
        </p:txBody>
      </p:sp>
      <p:sp>
        <p:nvSpPr>
          <p:cNvPr id="10" name="Editable text: BATAM, INDONESIA"/>
          <p:cNvSpPr txBox="1"/>
          <p:nvPr/>
        </p:nvSpPr>
        <p:spPr>
          <a:xfrm>
            <a:off x="585216" y="6323447"/>
            <a:ext cx="1405175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F4F1E8"/>
                </a:solidFill>
                <a:latin typeface="Arial"/>
              </a:rPr>
              <a:t>BATAM, INDONESIA</a:t>
            </a:r>
          </a:p>
        </p:txBody>
      </p:sp>
      <p:sp>
        <p:nvSpPr>
          <p:cNvPr id="11" name="Editable text: DESTINATION CONCEPT / 01"/>
          <p:cNvSpPr txBox="1"/>
          <p:nvPr/>
        </p:nvSpPr>
        <p:spPr>
          <a:xfrm>
            <a:off x="585216" y="6533759"/>
            <a:ext cx="1988534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DCE4D5"/>
                </a:solidFill>
                <a:latin typeface="Arial"/>
              </a:rPr>
              <a:t>DESTINATION CONCEPT /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10896"/>
            <a:ext cx="7680960" cy="347472"/>
          </a:xfrm>
          <a:prstGeom prst="rect">
            <a:avLst/>
          </a:prstGeom>
          <a:solidFill>
            <a:srgbClr val="183D32">
              <a:alpha val="66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text: KALINDO / DESTINATION IDENTITY"/>
          <p:cNvSpPr txBox="1"/>
          <p:nvPr/>
        </p:nvSpPr>
        <p:spPr>
          <a:xfrm>
            <a:off x="6327648" y="418795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FFFFF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14" name="Editable text: DESTINATION AMBITION"/>
          <p:cNvSpPr txBox="1"/>
          <p:nvPr/>
        </p:nvSpPr>
        <p:spPr>
          <a:xfrm>
            <a:off x="12153376" y="418795"/>
            <a:ext cx="181865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FFFFF"/>
                </a:solidFill>
                <a:latin typeface="Arial"/>
              </a:rPr>
              <a:t>DESTINATION AMBITION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653527"/>
            <a:ext cx="7680960" cy="338328"/>
          </a:xfrm>
          <a:prstGeom prst="rect">
            <a:avLst/>
          </a:prstGeom>
          <a:solidFill>
            <a:srgbClr val="183D32">
              <a:alpha val="86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217920" y="7653527"/>
            <a:ext cx="7680960" cy="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itable text: CONCEPT, BRAND POSITIONING &amp; DESTINATION NAMING"/>
          <p:cNvSpPr txBox="1"/>
          <p:nvPr/>
        </p:nvSpPr>
        <p:spPr>
          <a:xfrm>
            <a:off x="6327648" y="7772400"/>
            <a:ext cx="335056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FFFFF"/>
                </a:solidFill>
                <a:latin typeface="Arial"/>
              </a:rPr>
              <a:t>CONCEPT, BRAND POSITIONING &amp; DESTINATION NAMING</a:t>
            </a:r>
          </a:p>
        </p:txBody>
      </p:sp>
      <p:sp>
        <p:nvSpPr>
          <p:cNvPr id="18" name="Editable text: SUPPLIED CONCEPT IMAGERY · NOT VERIFIED AS BUILT / 01"/>
          <p:cNvSpPr txBox="1"/>
          <p:nvPr/>
        </p:nvSpPr>
        <p:spPr>
          <a:xfrm>
            <a:off x="10241994" y="7772400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FFFFF"/>
                </a:solidFill>
                <a:latin typeface="Arial"/>
              </a:rPr>
              <a:t>SUPPLIED CONCEPT IMAGERY · NOT VERIFIED AS BUILT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Destination ambition"/>
          <p:cNvSpPr txBox="1"/>
          <p:nvPr/>
        </p:nvSpPr>
        <p:spPr>
          <a:xfrm>
            <a:off x="731520" y="911656"/>
            <a:ext cx="210740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Destination ambition</a:t>
            </a:r>
          </a:p>
        </p:txBody>
      </p:sp>
      <p:sp>
        <p:nvSpPr>
          <p:cNvPr id="3" name="Editable text: A place Batam returns to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A place Batam returns to.</a:t>
            </a:r>
          </a:p>
        </p:txBody>
      </p:sp>
      <p:sp>
        <p:nvSpPr>
          <p:cNvPr id="4" name="Editable text: A destination the region discovers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A destination the region discovers.</a:t>
            </a:r>
          </a:p>
        </p:txBody>
      </p:sp>
      <p:sp>
        <p:nvSpPr>
          <p:cNvPr id="5" name="Editable text: Everyday life, with a wider horizon."/>
          <p:cNvSpPr txBox="1"/>
          <p:nvPr/>
        </p:nvSpPr>
        <p:spPr>
          <a:xfrm>
            <a:off x="731520" y="2738799"/>
            <a:ext cx="325354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Everyday life, with a wider horizon.</a:t>
            </a:r>
          </a:p>
        </p:txBody>
      </p:sp>
      <p:pic>
        <p:nvPicPr>
          <p:cNvPr id="6" name="Replaceable photo: slide-9-promenide-2.jpg" descr="slide-9-promenide-2.jpg"/>
          <p:cNvPicPr>
            <a:picLocks noChangeAspect="1"/>
          </p:cNvPicPr>
          <p:nvPr/>
        </p:nvPicPr>
        <p:blipFill>
          <a:blip r:embed="rId2"/>
          <a:srcRect t="6172" b="6172"/>
          <a:stretch>
            <a:fillRect/>
          </a:stretch>
        </p:blipFill>
        <p:spPr>
          <a:xfrm>
            <a:off x="731520" y="3380708"/>
            <a:ext cx="7414069" cy="3657600"/>
          </a:xfrm>
          <a:prstGeom prst="rect">
            <a:avLst/>
          </a:prstGeom>
        </p:spPr>
      </p:pic>
      <p:sp>
        <p:nvSpPr>
          <p:cNvPr id="7" name="Editable text: Local belonging"/>
          <p:cNvSpPr txBox="1"/>
          <p:nvPr/>
        </p:nvSpPr>
        <p:spPr>
          <a:xfrm>
            <a:off x="8785669" y="3479463"/>
            <a:ext cx="5113210" cy="5431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5" b="0" spc="-36">
                <a:solidFill>
                  <a:srgbClr val="292D29"/>
                </a:solidFill>
                <a:latin typeface="Georgia"/>
              </a:rPr>
              <a:t>Local belonging</a:t>
            </a:r>
          </a:p>
        </p:txBody>
      </p:sp>
      <p:sp>
        <p:nvSpPr>
          <p:cNvPr id="8" name="Editable text: Everyday convenience creates familiarity. A district that becomes"/>
          <p:cNvSpPr txBox="1"/>
          <p:nvPr/>
        </p:nvSpPr>
        <p:spPr>
          <a:xfrm>
            <a:off x="8785669" y="4049134"/>
            <a:ext cx="5150643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Everyday convenience creates familiarity. A district that becomes part of life in Batam.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669" y="4734020"/>
            <a:ext cx="5113211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ditable text: Regional discovery"/>
          <p:cNvSpPr txBox="1"/>
          <p:nvPr/>
        </p:nvSpPr>
        <p:spPr>
          <a:xfrm>
            <a:off x="8785669" y="4896783"/>
            <a:ext cx="5113210" cy="5431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5" b="0" spc="-36">
                <a:solidFill>
                  <a:srgbClr val="292D29"/>
                </a:solidFill>
                <a:latin typeface="Georgia"/>
              </a:rPr>
              <a:t>Regional discovery</a:t>
            </a:r>
          </a:p>
        </p:txBody>
      </p:sp>
      <p:sp>
        <p:nvSpPr>
          <p:cNvPr id="11" name="Editable text: Culinary discovery, shared experiences and hospitality give visit"/>
          <p:cNvSpPr txBox="1"/>
          <p:nvPr/>
        </p:nvSpPr>
        <p:spPr>
          <a:xfrm>
            <a:off x="8785669" y="5466454"/>
            <a:ext cx="5113210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Culinary discovery, shared experiences and hospitality give visitors more reasons to stay.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85669" y="6334220"/>
            <a:ext cx="5113211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itable text: EVERYDAY LIFE ↔ REGIONAL LEISURE"/>
          <p:cNvSpPr txBox="1"/>
          <p:nvPr/>
        </p:nvSpPr>
        <p:spPr>
          <a:xfrm>
            <a:off x="8785669" y="6523501"/>
            <a:ext cx="301166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44">
                <a:solidFill>
                  <a:srgbClr val="292D29"/>
                </a:solidFill>
                <a:latin typeface="Arial"/>
              </a:rPr>
              <a:t>EVERYDAY LIFE ↔ REGIONAL LEISURE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16" name="Editable text: DESTINATION AMBITION"/>
          <p:cNvSpPr txBox="1"/>
          <p:nvPr/>
        </p:nvSpPr>
        <p:spPr>
          <a:xfrm>
            <a:off x="12263104" y="309067"/>
            <a:ext cx="181865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itable text: DESTINATION AMBITION"/>
          <p:cNvSpPr txBox="1"/>
          <p:nvPr/>
        </p:nvSpPr>
        <p:spPr>
          <a:xfrm>
            <a:off x="731520" y="7882127"/>
            <a:ext cx="1515618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sp>
        <p:nvSpPr>
          <p:cNvPr id="19" name="Editable text: SUPPLIED CONCEPT IMAGERY · NOT VERIFIED AS BUILT / 02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Destination ambition"/>
          <p:cNvSpPr txBox="1"/>
          <p:nvPr/>
        </p:nvSpPr>
        <p:spPr>
          <a:xfrm>
            <a:off x="731520" y="911656"/>
            <a:ext cx="210740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Destination ambition</a:t>
            </a:r>
          </a:p>
        </p:txBody>
      </p:sp>
      <p:sp>
        <p:nvSpPr>
          <p:cNvPr id="3" name="Editable text: Life comes together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Life comes together.</a:t>
            </a:r>
          </a:p>
        </p:txBody>
      </p:sp>
      <p:sp>
        <p:nvSpPr>
          <p:cNvPr id="4" name="Editable text: One visit opens into another experience."/>
          <p:cNvSpPr txBox="1"/>
          <p:nvPr/>
        </p:nvSpPr>
        <p:spPr>
          <a:xfrm>
            <a:off x="731520" y="2104577"/>
            <a:ext cx="376904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One visit opens into another experience.</a:t>
            </a:r>
          </a:p>
        </p:txBody>
      </p:sp>
      <p:pic>
        <p:nvPicPr>
          <p:cNvPr id="5" name="Replaceable photo: slide-3-family-slide-3.jpg" descr="slide-3-family-slide-3.jpg"/>
          <p:cNvPicPr>
            <a:picLocks noChangeAspect="1"/>
          </p:cNvPicPr>
          <p:nvPr/>
        </p:nvPicPr>
        <p:blipFill>
          <a:blip r:embed="rId2"/>
          <a:srcRect l="19515" r="19515"/>
          <a:stretch>
            <a:fillRect/>
          </a:stretch>
        </p:blipFill>
        <p:spPr>
          <a:xfrm>
            <a:off x="731520" y="2746486"/>
            <a:ext cx="3120390" cy="2880360"/>
          </a:xfrm>
          <a:prstGeom prst="rect">
            <a:avLst/>
          </a:prstGeom>
        </p:spPr>
      </p:pic>
      <p:sp>
        <p:nvSpPr>
          <p:cNvPr id="6" name="Editable text: 01"/>
          <p:cNvSpPr txBox="1"/>
          <p:nvPr/>
        </p:nvSpPr>
        <p:spPr>
          <a:xfrm>
            <a:off x="731520" y="58078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7" name="Editable text: A family afternoon"/>
          <p:cNvSpPr txBox="1"/>
          <p:nvPr/>
        </p:nvSpPr>
        <p:spPr>
          <a:xfrm>
            <a:off x="731520" y="6004493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A family afternoon</a:t>
            </a:r>
          </a:p>
        </p:txBody>
      </p:sp>
      <p:sp>
        <p:nvSpPr>
          <p:cNvPr id="8" name="Editable text: becomes dinner."/>
          <p:cNvSpPr txBox="1"/>
          <p:nvPr/>
        </p:nvSpPr>
        <p:spPr>
          <a:xfrm>
            <a:off x="731520" y="6469008"/>
            <a:ext cx="3120390" cy="3250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292D29"/>
                </a:solidFill>
                <a:latin typeface="Georgia"/>
              </a:rPr>
              <a:t>becomes dinner.</a:t>
            </a:r>
          </a:p>
        </p:txBody>
      </p:sp>
      <p:pic>
        <p:nvPicPr>
          <p:cNvPr id="9" name="Replaceable photo: slide-3-slide-3-lg-lg.jpg" descr="slide-3-slide-3-lg-lg.jpg"/>
          <p:cNvPicPr>
            <a:picLocks noChangeAspect="1"/>
          </p:cNvPicPr>
          <p:nvPr/>
        </p:nvPicPr>
        <p:blipFill>
          <a:blip r:embed="rId3"/>
          <a:srcRect l="19515" r="19515"/>
          <a:stretch>
            <a:fillRect/>
          </a:stretch>
        </p:blipFill>
        <p:spPr>
          <a:xfrm>
            <a:off x="4080510" y="2746486"/>
            <a:ext cx="3120390" cy="2880360"/>
          </a:xfrm>
          <a:prstGeom prst="rect">
            <a:avLst/>
          </a:prstGeom>
        </p:spPr>
      </p:pic>
      <p:sp>
        <p:nvSpPr>
          <p:cNvPr id="10" name="Editable text: 02"/>
          <p:cNvSpPr txBox="1"/>
          <p:nvPr/>
        </p:nvSpPr>
        <p:spPr>
          <a:xfrm>
            <a:off x="4080510" y="58078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1" name="Editable text: A shopping visit"/>
          <p:cNvSpPr txBox="1"/>
          <p:nvPr/>
        </p:nvSpPr>
        <p:spPr>
          <a:xfrm>
            <a:off x="4080510" y="6004493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A shopping visit</a:t>
            </a:r>
          </a:p>
        </p:txBody>
      </p:sp>
      <p:sp>
        <p:nvSpPr>
          <p:cNvPr id="12" name="Editable text: becomes a catch-up."/>
          <p:cNvSpPr txBox="1"/>
          <p:nvPr/>
        </p:nvSpPr>
        <p:spPr>
          <a:xfrm>
            <a:off x="4080510" y="6469008"/>
            <a:ext cx="3120390" cy="3250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292D29"/>
                </a:solidFill>
                <a:latin typeface="Georgia"/>
              </a:rPr>
              <a:t>becomes a catch-up.</a:t>
            </a:r>
          </a:p>
        </p:txBody>
      </p:sp>
      <p:pic>
        <p:nvPicPr>
          <p:cNvPr id="13" name="Replaceable photo: slide-15-kmkl.jpg" descr="slide-15-kmkl.jpg"/>
          <p:cNvPicPr>
            <a:picLocks noChangeAspect="1"/>
          </p:cNvPicPr>
          <p:nvPr/>
        </p:nvPicPr>
        <p:blipFill>
          <a:blip r:embed="rId4"/>
          <a:srcRect l="19515" r="19515"/>
          <a:stretch>
            <a:fillRect/>
          </a:stretch>
        </p:blipFill>
        <p:spPr>
          <a:xfrm>
            <a:off x="7429500" y="2746486"/>
            <a:ext cx="3120390" cy="2880360"/>
          </a:xfrm>
          <a:prstGeom prst="rect">
            <a:avLst/>
          </a:prstGeom>
        </p:spPr>
      </p:pic>
      <p:sp>
        <p:nvSpPr>
          <p:cNvPr id="14" name="Editable text: 03"/>
          <p:cNvSpPr txBox="1"/>
          <p:nvPr/>
        </p:nvSpPr>
        <p:spPr>
          <a:xfrm>
            <a:off x="7429500" y="58078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5" name="Editable text: A hotel stay"/>
          <p:cNvSpPr txBox="1"/>
          <p:nvPr/>
        </p:nvSpPr>
        <p:spPr>
          <a:xfrm>
            <a:off x="7429500" y="6004493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A hotel stay</a:t>
            </a:r>
          </a:p>
        </p:txBody>
      </p:sp>
      <p:sp>
        <p:nvSpPr>
          <p:cNvPr id="16" name="Editable text: becomes a discovery of Batam."/>
          <p:cNvSpPr txBox="1"/>
          <p:nvPr/>
        </p:nvSpPr>
        <p:spPr>
          <a:xfrm>
            <a:off x="7429500" y="6469008"/>
            <a:ext cx="3120390" cy="3250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292D29"/>
                </a:solidFill>
                <a:latin typeface="Georgia"/>
              </a:rPr>
              <a:t>becomes a discovery of Batam.</a:t>
            </a:r>
          </a:p>
        </p:txBody>
      </p:sp>
      <p:pic>
        <p:nvPicPr>
          <p:cNvPr id="17" name="Replaceable photo: slide-10-night.jpg" descr="slide-10-night.jpg"/>
          <p:cNvPicPr>
            <a:picLocks noChangeAspect="1"/>
          </p:cNvPicPr>
          <p:nvPr/>
        </p:nvPicPr>
        <p:blipFill>
          <a:blip r:embed="rId5"/>
          <a:srcRect l="19547" r="19547"/>
          <a:stretch>
            <a:fillRect/>
          </a:stretch>
        </p:blipFill>
        <p:spPr>
          <a:xfrm>
            <a:off x="10778490" y="2746486"/>
            <a:ext cx="3120390" cy="2880360"/>
          </a:xfrm>
          <a:prstGeom prst="rect">
            <a:avLst/>
          </a:prstGeom>
        </p:spPr>
      </p:pic>
      <p:sp>
        <p:nvSpPr>
          <p:cNvPr id="18" name="Editable text: 04"/>
          <p:cNvSpPr txBox="1"/>
          <p:nvPr/>
        </p:nvSpPr>
        <p:spPr>
          <a:xfrm>
            <a:off x="10778490" y="58078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19" name="Editable text: An ordinary evening"/>
          <p:cNvSpPr txBox="1"/>
          <p:nvPr/>
        </p:nvSpPr>
        <p:spPr>
          <a:xfrm>
            <a:off x="10778490" y="6004493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An ordinary evening</a:t>
            </a:r>
          </a:p>
        </p:txBody>
      </p:sp>
      <p:sp>
        <p:nvSpPr>
          <p:cNvPr id="20" name="Editable text: becomes a shared celebration."/>
          <p:cNvSpPr txBox="1"/>
          <p:nvPr/>
        </p:nvSpPr>
        <p:spPr>
          <a:xfrm>
            <a:off x="10778490" y="6469008"/>
            <a:ext cx="3120390" cy="3250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292D29"/>
                </a:solidFill>
                <a:latin typeface="Georgia"/>
              </a:rPr>
              <a:t>becomes a shared celebration.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721790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 text: Connected places. Connected experiences."/>
          <p:cNvSpPr txBox="1"/>
          <p:nvPr/>
        </p:nvSpPr>
        <p:spPr>
          <a:xfrm>
            <a:off x="731520" y="7411754"/>
            <a:ext cx="3722465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270" b="0" spc="72">
                <a:solidFill>
                  <a:srgbClr val="292D29"/>
                </a:solidFill>
                <a:latin typeface="Arial"/>
              </a:rPr>
              <a:t>Connected places. Connected experiences.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5" name="Editable text: DESTINATION AMBITION"/>
          <p:cNvSpPr txBox="1"/>
          <p:nvPr/>
        </p:nvSpPr>
        <p:spPr>
          <a:xfrm>
            <a:off x="12263104" y="309067"/>
            <a:ext cx="181865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itable text: DESTINATION AMBITION"/>
          <p:cNvSpPr txBox="1"/>
          <p:nvPr/>
        </p:nvSpPr>
        <p:spPr>
          <a:xfrm>
            <a:off x="731520" y="7882127"/>
            <a:ext cx="1515618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sp>
        <p:nvSpPr>
          <p:cNvPr id="28" name="Editable text: SUPPLIED CONCEPT IMAGERY · NOT VERIFIED AS BUILT / 03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Destination ambition"/>
          <p:cNvSpPr txBox="1"/>
          <p:nvPr/>
        </p:nvSpPr>
        <p:spPr>
          <a:xfrm>
            <a:off x="731520" y="911656"/>
            <a:ext cx="210740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Destination ambition</a:t>
            </a:r>
          </a:p>
        </p:txBody>
      </p:sp>
      <p:sp>
        <p:nvSpPr>
          <p:cNvPr id="3" name="Editable text: Batam’s tropical"/>
          <p:cNvSpPr txBox="1"/>
          <p:nvPr/>
        </p:nvSpPr>
        <p:spPr>
          <a:xfrm>
            <a:off x="731520" y="1064361"/>
            <a:ext cx="6583680" cy="1121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47"/>
              </a:lnSpc>
              <a:spcBef>
                <a:spcPts val="0"/>
              </a:spcBef>
              <a:spcAft>
                <a:spcPts val="0"/>
              </a:spcAft>
            </a:pPr>
            <a:r>
              <a:rPr sz="4466" b="0" spc="-108">
                <a:solidFill>
                  <a:srgbClr val="183D32"/>
                </a:solidFill>
                <a:latin typeface="Georgia"/>
              </a:rPr>
              <a:t>Batam’s tropical</a:t>
            </a:r>
          </a:p>
        </p:txBody>
      </p:sp>
      <p:sp>
        <p:nvSpPr>
          <p:cNvPr id="4" name="Editable text: lifestyle district."/>
          <p:cNvSpPr txBox="1"/>
          <p:nvPr/>
        </p:nvSpPr>
        <p:spPr>
          <a:xfrm>
            <a:off x="731520" y="1679867"/>
            <a:ext cx="6583680" cy="1121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47"/>
              </a:lnSpc>
              <a:spcBef>
                <a:spcPts val="0"/>
              </a:spcBef>
              <a:spcAft>
                <a:spcPts val="0"/>
              </a:spcAft>
            </a:pPr>
            <a:r>
              <a:rPr sz="4466" b="0" spc="-108">
                <a:solidFill>
                  <a:srgbClr val="183D32"/>
                </a:solidFill>
                <a:latin typeface="Georgia"/>
              </a:rPr>
              <a:t>lifestyle district.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730627"/>
            <a:ext cx="6583680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ditable text: For whom"/>
          <p:cNvSpPr txBox="1"/>
          <p:nvPr/>
        </p:nvSpPr>
        <p:spPr>
          <a:xfrm>
            <a:off x="731520" y="2861386"/>
            <a:ext cx="834104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199" b="0" spc="-36">
                <a:solidFill>
                  <a:srgbClr val="292D29"/>
                </a:solidFill>
                <a:latin typeface="Arial"/>
              </a:rPr>
              <a:t>For whom</a:t>
            </a:r>
          </a:p>
        </p:txBody>
      </p:sp>
      <p:sp>
        <p:nvSpPr>
          <p:cNvPr id="7" name="Editable text: Batam residents and regional leisure visitors."/>
          <p:cNvSpPr txBox="1"/>
          <p:nvPr/>
        </p:nvSpPr>
        <p:spPr>
          <a:xfrm>
            <a:off x="2331720" y="2886989"/>
            <a:ext cx="3628596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Batam residents and regional leisure visitors.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288411"/>
            <a:ext cx="6583680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itable text: Our proposition"/>
          <p:cNvSpPr txBox="1"/>
          <p:nvPr/>
        </p:nvSpPr>
        <p:spPr>
          <a:xfrm>
            <a:off x="731520" y="3419170"/>
            <a:ext cx="1175289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199" b="0" spc="-36">
                <a:solidFill>
                  <a:srgbClr val="292D29"/>
                </a:solidFill>
                <a:latin typeface="Arial"/>
              </a:rPr>
              <a:t>Our proposition</a:t>
            </a:r>
          </a:p>
        </p:txBody>
      </p:sp>
      <p:sp>
        <p:nvSpPr>
          <p:cNvPr id="10" name="Editable text: Indonesian culinary discovery, curated retail, family experiences"/>
          <p:cNvSpPr txBox="1"/>
          <p:nvPr/>
        </p:nvSpPr>
        <p:spPr>
          <a:xfrm>
            <a:off x="2331720" y="3444773"/>
            <a:ext cx="5069347" cy="773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Indonesian culinary discovery, curated retail, family experiences and hospitality in a walkable tropical setting, centred on The Veranda.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4335399"/>
            <a:ext cx="6583680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itable text: Our position"/>
          <p:cNvSpPr txBox="1"/>
          <p:nvPr/>
        </p:nvSpPr>
        <p:spPr>
          <a:xfrm>
            <a:off x="731520" y="4466158"/>
            <a:ext cx="965263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199" b="0" spc="-36">
                <a:solidFill>
                  <a:srgbClr val="292D29"/>
                </a:solidFill>
                <a:latin typeface="Arial"/>
              </a:rPr>
              <a:t>Our position</a:t>
            </a:r>
          </a:p>
        </p:txBody>
      </p:sp>
      <p:sp>
        <p:nvSpPr>
          <p:cNvPr id="13" name="Editable text: Middle-to-upper lifestyle: quality spaces, welcoming service and "/>
          <p:cNvSpPr txBox="1"/>
          <p:nvPr/>
        </p:nvSpPr>
        <p:spPr>
          <a:xfrm>
            <a:off x="2331720" y="4491761"/>
            <a:ext cx="5080206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Middle-to-upper lifestyle: quality spaces, welcoming service and a considered range of prices.</a:t>
            </a:r>
          </a:p>
        </p:txBody>
      </p:sp>
      <p:pic>
        <p:nvPicPr>
          <p:cNvPr id="14" name="Replaceable photo: slide-4-tropica.jpg" descr="slide-4-tropica.jpg"/>
          <p:cNvPicPr>
            <a:picLocks noChangeAspect="1"/>
          </p:cNvPicPr>
          <p:nvPr/>
        </p:nvPicPr>
        <p:blipFill>
          <a:blip r:embed="rId2"/>
          <a:srcRect l="12085" r="12085"/>
          <a:stretch>
            <a:fillRect/>
          </a:stretch>
        </p:blipFill>
        <p:spPr>
          <a:xfrm>
            <a:off x="8046720" y="914400"/>
            <a:ext cx="5852160" cy="43434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046720" y="5257800"/>
            <a:ext cx="5852160" cy="1596771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BRAND PROMISE"/>
          <p:cNvSpPr txBox="1"/>
          <p:nvPr/>
        </p:nvSpPr>
        <p:spPr>
          <a:xfrm>
            <a:off x="8366760" y="5557723"/>
            <a:ext cx="133688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183D32"/>
                </a:solidFill>
                <a:latin typeface="Arial"/>
              </a:rPr>
              <a:t>BRAND PROMISE</a:t>
            </a:r>
          </a:p>
        </p:txBody>
      </p:sp>
      <p:sp>
        <p:nvSpPr>
          <p:cNvPr id="17" name="Editable text: More to discover."/>
          <p:cNvSpPr txBox="1"/>
          <p:nvPr/>
        </p:nvSpPr>
        <p:spPr>
          <a:xfrm>
            <a:off x="8366760" y="5695797"/>
            <a:ext cx="5212080" cy="6990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1"/>
              </a:lnSpc>
              <a:spcBef>
                <a:spcPts val="0"/>
              </a:spcBef>
              <a:spcAft>
                <a:spcPts val="0"/>
              </a:spcAft>
            </a:pPr>
            <a:r>
              <a:rPr sz="2774" b="0" spc="-108">
                <a:solidFill>
                  <a:srgbClr val="183D32"/>
                </a:solidFill>
                <a:latin typeface="Georgia"/>
              </a:rPr>
              <a:t>More to discover.</a:t>
            </a:r>
          </a:p>
        </p:txBody>
      </p:sp>
      <p:sp>
        <p:nvSpPr>
          <p:cNvPr id="18" name="Editable text: More reasons to stay."/>
          <p:cNvSpPr txBox="1"/>
          <p:nvPr/>
        </p:nvSpPr>
        <p:spPr>
          <a:xfrm>
            <a:off x="8366760" y="6078131"/>
            <a:ext cx="5212080" cy="6990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1"/>
              </a:lnSpc>
              <a:spcBef>
                <a:spcPts val="0"/>
              </a:spcBef>
              <a:spcAft>
                <a:spcPts val="0"/>
              </a:spcAft>
            </a:pPr>
            <a:r>
              <a:rPr sz="2774" b="0" spc="-108">
                <a:solidFill>
                  <a:srgbClr val="183D32"/>
                </a:solidFill>
                <a:latin typeface="Georgia"/>
              </a:rPr>
              <a:t>More reasons to stay.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1" name="Editable text: DESTINATION AMBITION"/>
          <p:cNvSpPr txBox="1"/>
          <p:nvPr/>
        </p:nvSpPr>
        <p:spPr>
          <a:xfrm>
            <a:off x="12263104" y="309067"/>
            <a:ext cx="181865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itable text: DESTINATION AMBITION"/>
          <p:cNvSpPr txBox="1"/>
          <p:nvPr/>
        </p:nvSpPr>
        <p:spPr>
          <a:xfrm>
            <a:off x="731520" y="7882127"/>
            <a:ext cx="1515618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sp>
        <p:nvSpPr>
          <p:cNvPr id="24" name="Editable text: SUPPLIED CONCEPT IMAGERY · NOT VERIFIED AS BUILT / 04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Destination ambition"/>
          <p:cNvSpPr txBox="1"/>
          <p:nvPr/>
        </p:nvSpPr>
        <p:spPr>
          <a:xfrm>
            <a:off x="731520" y="911656"/>
            <a:ext cx="210740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Destination ambition</a:t>
            </a:r>
          </a:p>
        </p:txBody>
      </p:sp>
      <p:sp>
        <p:nvSpPr>
          <p:cNvPr id="3" name="Editable text: Everyday ease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Everyday ease.</a:t>
            </a:r>
          </a:p>
        </p:txBody>
      </p:sp>
      <p:sp>
        <p:nvSpPr>
          <p:cNvPr id="4" name="Editable text: A day worth spending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A day worth spending.</a:t>
            </a:r>
          </a:p>
        </p:txBody>
      </p:sp>
      <p:sp>
        <p:nvSpPr>
          <p:cNvPr id="5" name="Editable text: Take care of an everyday need. Enjoy the time around it."/>
          <p:cNvSpPr txBox="1"/>
          <p:nvPr/>
        </p:nvSpPr>
        <p:spPr>
          <a:xfrm>
            <a:off x="731520" y="2738799"/>
            <a:ext cx="5188791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Take care of an everyday need. Enjoy the time around it.</a:t>
            </a:r>
          </a:p>
        </p:txBody>
      </p:sp>
      <p:pic>
        <p:nvPicPr>
          <p:cNvPr id="6" name="Replaceable photo: slide-3-slide-3-lg.jpg" descr="slide-3-slide-3-lg.jpg"/>
          <p:cNvPicPr>
            <a:picLocks noChangeAspect="1"/>
          </p:cNvPicPr>
          <p:nvPr/>
        </p:nvPicPr>
        <p:blipFill>
          <a:blip r:embed="rId2"/>
          <a:srcRect l="5526" r="5526"/>
          <a:stretch>
            <a:fillRect/>
          </a:stretch>
        </p:blipFill>
        <p:spPr>
          <a:xfrm>
            <a:off x="731520" y="3380708"/>
            <a:ext cx="6286500" cy="397763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612379" y="4167092"/>
            <a:ext cx="6286501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676388" y="3563588"/>
            <a:ext cx="283464" cy="283464"/>
          </a:xfrm>
          <a:prstGeom prst="ellipse">
            <a:avLst/>
          </a:prstGeom>
          <a:noFill/>
          <a:ln w="12700">
            <a:solidFill>
              <a:srgbClr val="6D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text: Everyday convenience"/>
          <p:cNvSpPr txBox="1"/>
          <p:nvPr/>
        </p:nvSpPr>
        <p:spPr>
          <a:xfrm>
            <a:off x="8225027" y="3496837"/>
            <a:ext cx="2191416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7"/>
              </a:lnSpc>
              <a:spcBef>
                <a:spcPts val="0"/>
              </a:spcBef>
              <a:spcAft>
                <a:spcPts val="0"/>
              </a:spcAft>
            </a:pPr>
            <a:r>
              <a:rPr sz="1622" b="0" spc="-36">
                <a:solidFill>
                  <a:srgbClr val="292D29"/>
                </a:solidFill>
                <a:latin typeface="Arial"/>
              </a:rPr>
              <a:t>Everyday convenience</a:t>
            </a:r>
          </a:p>
        </p:txBody>
      </p:sp>
      <p:sp>
        <p:nvSpPr>
          <p:cNvPr id="10" name="Editable text: Useful tenants that encourage repeat visits."/>
          <p:cNvSpPr txBox="1"/>
          <p:nvPr/>
        </p:nvSpPr>
        <p:spPr>
          <a:xfrm>
            <a:off x="8225027" y="3812305"/>
            <a:ext cx="3333702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92D29"/>
                </a:solidFill>
                <a:latin typeface="Arial"/>
              </a:rPr>
              <a:t>Useful tenants that encourage repeat visits.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2379" y="4953476"/>
            <a:ext cx="6286501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676388" y="4349972"/>
            <a:ext cx="283464" cy="283464"/>
          </a:xfrm>
          <a:prstGeom prst="ellipse">
            <a:avLst/>
          </a:prstGeom>
          <a:noFill/>
          <a:ln w="12700">
            <a:solidFill>
              <a:srgbClr val="6D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text: Culinary discovery"/>
          <p:cNvSpPr txBox="1"/>
          <p:nvPr/>
        </p:nvSpPr>
        <p:spPr>
          <a:xfrm>
            <a:off x="8225027" y="4283221"/>
            <a:ext cx="1821799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7"/>
              </a:lnSpc>
              <a:spcBef>
                <a:spcPts val="0"/>
              </a:spcBef>
              <a:spcAft>
                <a:spcPts val="0"/>
              </a:spcAft>
            </a:pPr>
            <a:r>
              <a:rPr sz="1622" b="0" spc="-36">
                <a:solidFill>
                  <a:srgbClr val="292D29"/>
                </a:solidFill>
                <a:latin typeface="Arial"/>
              </a:rPr>
              <a:t>Culinary discovery</a:t>
            </a:r>
          </a:p>
        </p:txBody>
      </p:sp>
      <p:sp>
        <p:nvSpPr>
          <p:cNvPr id="14" name="Editable text: Food experiences that reward curiosity."/>
          <p:cNvSpPr txBox="1"/>
          <p:nvPr/>
        </p:nvSpPr>
        <p:spPr>
          <a:xfrm>
            <a:off x="8225027" y="4598689"/>
            <a:ext cx="3030378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92D29"/>
                </a:solidFill>
                <a:latin typeface="Arial"/>
              </a:rPr>
              <a:t>Food experiences that reward curiosity.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79" y="5739860"/>
            <a:ext cx="6286501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76388" y="5136356"/>
            <a:ext cx="283464" cy="283464"/>
          </a:xfrm>
          <a:prstGeom prst="rect">
            <a:avLst/>
          </a:prstGeom>
          <a:noFill/>
          <a:ln w="12700">
            <a:solidFill>
              <a:srgbClr val="6D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Gardens and terraces"/>
          <p:cNvSpPr txBox="1"/>
          <p:nvPr/>
        </p:nvSpPr>
        <p:spPr>
          <a:xfrm>
            <a:off x="8225027" y="5069605"/>
            <a:ext cx="2120550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7"/>
              </a:lnSpc>
              <a:spcBef>
                <a:spcPts val="0"/>
              </a:spcBef>
              <a:spcAft>
                <a:spcPts val="0"/>
              </a:spcAft>
            </a:pPr>
            <a:r>
              <a:rPr sz="1622" b="0" spc="-36">
                <a:solidFill>
                  <a:srgbClr val="292D29"/>
                </a:solidFill>
                <a:latin typeface="Arial"/>
              </a:rPr>
              <a:t>Gardens and terraces</a:t>
            </a:r>
          </a:p>
        </p:txBody>
      </p:sp>
      <p:sp>
        <p:nvSpPr>
          <p:cNvPr id="18" name="Editable text: Places to pause, dine and linger."/>
          <p:cNvSpPr txBox="1"/>
          <p:nvPr/>
        </p:nvSpPr>
        <p:spPr>
          <a:xfrm>
            <a:off x="8225027" y="5385073"/>
            <a:ext cx="2549747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92D29"/>
                </a:solidFill>
                <a:latin typeface="Arial"/>
              </a:rPr>
              <a:t>Places to pause, dine and linger.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12379" y="6526244"/>
            <a:ext cx="6286501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676388" y="5922740"/>
            <a:ext cx="283464" cy="283464"/>
          </a:xfrm>
          <a:prstGeom prst="ellipse">
            <a:avLst/>
          </a:prstGeom>
          <a:noFill/>
          <a:ln w="12700">
            <a:solidFill>
              <a:srgbClr val="6D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text: A central gathering place"/>
          <p:cNvSpPr txBox="1"/>
          <p:nvPr/>
        </p:nvSpPr>
        <p:spPr>
          <a:xfrm>
            <a:off x="8225027" y="5855989"/>
            <a:ext cx="2389870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7"/>
              </a:lnSpc>
              <a:spcBef>
                <a:spcPts val="0"/>
              </a:spcBef>
              <a:spcAft>
                <a:spcPts val="0"/>
              </a:spcAft>
            </a:pPr>
            <a:r>
              <a:rPr sz="1622" b="0" spc="-36">
                <a:solidFill>
                  <a:srgbClr val="292D29"/>
                </a:solidFill>
                <a:latin typeface="Arial"/>
              </a:rPr>
              <a:t>A central gathering place</a:t>
            </a:r>
          </a:p>
        </p:txBody>
      </p:sp>
      <p:sp>
        <p:nvSpPr>
          <p:cNvPr id="22" name="Editable text: Shared space with a changing calendar."/>
          <p:cNvSpPr txBox="1"/>
          <p:nvPr/>
        </p:nvSpPr>
        <p:spPr>
          <a:xfrm>
            <a:off x="8225027" y="6171457"/>
            <a:ext cx="3097101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92D29"/>
                </a:solidFill>
                <a:latin typeface="Arial"/>
              </a:rPr>
              <a:t>Shared space with a changing calendar.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2379" y="7312628"/>
            <a:ext cx="6286501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76388" y="6709124"/>
            <a:ext cx="283464" cy="283464"/>
          </a:xfrm>
          <a:prstGeom prst="rect">
            <a:avLst/>
          </a:prstGeom>
          <a:noFill/>
          <a:ln w="12700">
            <a:solidFill>
              <a:srgbClr val="6D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text: Hospitality"/>
          <p:cNvSpPr txBox="1"/>
          <p:nvPr/>
        </p:nvSpPr>
        <p:spPr>
          <a:xfrm>
            <a:off x="8225027" y="6642373"/>
            <a:ext cx="1105566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7"/>
              </a:lnSpc>
              <a:spcBef>
                <a:spcPts val="0"/>
              </a:spcBef>
              <a:spcAft>
                <a:spcPts val="0"/>
              </a:spcAft>
            </a:pPr>
            <a:r>
              <a:rPr sz="1622" b="0" spc="-36">
                <a:solidFill>
                  <a:srgbClr val="292D29"/>
                </a:solidFill>
                <a:latin typeface="Arial"/>
              </a:rPr>
              <a:t>Hospitality</a:t>
            </a:r>
          </a:p>
        </p:txBody>
      </p:sp>
      <p:sp>
        <p:nvSpPr>
          <p:cNvPr id="26" name="Editable text: An invitation to extend a visit into a stay."/>
          <p:cNvSpPr txBox="1"/>
          <p:nvPr/>
        </p:nvSpPr>
        <p:spPr>
          <a:xfrm>
            <a:off x="8225027" y="6957841"/>
            <a:ext cx="3077384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292D29"/>
                </a:solidFill>
                <a:latin typeface="Arial"/>
              </a:rPr>
              <a:t>An invitation to extend a visit into a stay.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9" name="Editable text: DESTINATION AMBITION"/>
          <p:cNvSpPr txBox="1"/>
          <p:nvPr/>
        </p:nvSpPr>
        <p:spPr>
          <a:xfrm>
            <a:off x="12263104" y="309067"/>
            <a:ext cx="181865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itable text: DESTINATION AMBITION"/>
          <p:cNvSpPr txBox="1"/>
          <p:nvPr/>
        </p:nvSpPr>
        <p:spPr>
          <a:xfrm>
            <a:off x="731520" y="7882127"/>
            <a:ext cx="1515618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DESTINATION AMBITION</a:t>
            </a:r>
          </a:p>
        </p:txBody>
      </p:sp>
      <p:sp>
        <p:nvSpPr>
          <p:cNvPr id="32" name="Editable text: SUPPLIED CONCEPT IMAGERY · NOT VERIFIED AS BUILT / 05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platform"/>
          <p:cNvSpPr txBox="1"/>
          <p:nvPr/>
        </p:nvSpPr>
        <p:spPr>
          <a:xfrm>
            <a:off x="731520" y="911656"/>
            <a:ext cx="1646491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Brand platform</a:t>
            </a:r>
          </a:p>
        </p:txBody>
      </p:sp>
      <p:sp>
        <p:nvSpPr>
          <p:cNvPr id="3" name="Editable text: The life between."/>
          <p:cNvSpPr txBox="1"/>
          <p:nvPr/>
        </p:nvSpPr>
        <p:spPr>
          <a:xfrm>
            <a:off x="731520" y="1053388"/>
            <a:ext cx="67665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The life between.</a:t>
            </a:r>
          </a:p>
        </p:txBody>
      </p:sp>
      <p:sp>
        <p:nvSpPr>
          <p:cNvPr id="4" name="Editable text: Life is rarely about just one thing."/>
          <p:cNvSpPr txBox="1"/>
          <p:nvPr/>
        </p:nvSpPr>
        <p:spPr>
          <a:xfrm>
            <a:off x="731520" y="2104577"/>
            <a:ext cx="3120675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Life is rarely about just one thing.</a:t>
            </a:r>
          </a:p>
        </p:txBody>
      </p:sp>
      <p:sp>
        <p:nvSpPr>
          <p:cNvPr id="5" name="Editable text: We meet for coffee, but stay for lunch. We come to shop, but end "/>
          <p:cNvSpPr txBox="1"/>
          <p:nvPr/>
        </p:nvSpPr>
        <p:spPr>
          <a:xfrm>
            <a:off x="731520" y="2698937"/>
            <a:ext cx="6057614" cy="8951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We meet for coffee, but stay for lunch. We come to shop, but end up meeting friends. We bring our children to play, then sit down for dinner.</a:t>
            </a:r>
          </a:p>
        </p:txBody>
      </p:sp>
      <p:sp>
        <p:nvSpPr>
          <p:cNvPr id="6" name="Editable text: Batam is shaped by movement: between Indonesia and the region, wo"/>
          <p:cNvSpPr txBox="1"/>
          <p:nvPr/>
        </p:nvSpPr>
        <p:spPr>
          <a:xfrm>
            <a:off x="731520" y="3823649"/>
            <a:ext cx="6125908" cy="8951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Batam is shaped by movement: between Indonesia and the region, work and leisure, local life and new experiences. The district brings those different sides of life together.</a:t>
            </a:r>
          </a:p>
        </p:txBody>
      </p:sp>
      <p:sp>
        <p:nvSpPr>
          <p:cNvPr id="7" name="Editable text: One place. Many ways"/>
          <p:cNvSpPr txBox="1"/>
          <p:nvPr/>
        </p:nvSpPr>
        <p:spPr>
          <a:xfrm>
            <a:off x="731520" y="4842290"/>
            <a:ext cx="6766560" cy="8193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5"/>
              </a:lnSpc>
              <a:spcBef>
                <a:spcPts val="0"/>
              </a:spcBef>
              <a:spcAft>
                <a:spcPts val="0"/>
              </a:spcAft>
            </a:pPr>
            <a:r>
              <a:rPr sz="3248" b="0" spc="-108">
                <a:solidFill>
                  <a:srgbClr val="183D32"/>
                </a:solidFill>
                <a:latin typeface="Georgia"/>
              </a:rPr>
              <a:t>One place. Many ways</a:t>
            </a:r>
          </a:p>
        </p:txBody>
      </p:sp>
      <p:sp>
        <p:nvSpPr>
          <p:cNvPr id="8" name="Editable text: to spend the day."/>
          <p:cNvSpPr txBox="1"/>
          <p:nvPr/>
        </p:nvSpPr>
        <p:spPr>
          <a:xfrm>
            <a:off x="731520" y="5289918"/>
            <a:ext cx="6766560" cy="8193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5"/>
              </a:lnSpc>
              <a:spcBef>
                <a:spcPts val="0"/>
              </a:spcBef>
              <a:spcAft>
                <a:spcPts val="0"/>
              </a:spcAft>
            </a:pPr>
            <a:r>
              <a:rPr sz="3248" b="0" spc="-108">
                <a:solidFill>
                  <a:srgbClr val="183D32"/>
                </a:solidFill>
                <a:latin typeface="Georgia"/>
              </a:rPr>
              <a:t>to spend the day.</a:t>
            </a:r>
          </a:p>
        </p:txBody>
      </p:sp>
      <p:pic>
        <p:nvPicPr>
          <p:cNvPr id="9" name="Replaceable photo: slide-3-slide-3-1.jpg" descr="slide-3-slide-3-1.jpg"/>
          <p:cNvPicPr>
            <a:picLocks noChangeAspect="1"/>
          </p:cNvPicPr>
          <p:nvPr/>
        </p:nvPicPr>
        <p:blipFill>
          <a:blip r:embed="rId2"/>
          <a:srcRect l="542" r="542"/>
          <a:stretch>
            <a:fillRect/>
          </a:stretch>
        </p:blipFill>
        <p:spPr>
          <a:xfrm>
            <a:off x="8595360" y="914400"/>
            <a:ext cx="5303520" cy="3017520"/>
          </a:xfrm>
          <a:prstGeom prst="rect">
            <a:avLst/>
          </a:prstGeom>
        </p:spPr>
      </p:pic>
      <p:pic>
        <p:nvPicPr>
          <p:cNvPr id="10" name="Replaceable photo: slide-3-slide-3-lg-lg.jpg" descr="slide-3-slide-3-lg-lg.jpg"/>
          <p:cNvPicPr>
            <a:picLocks noChangeAspect="1"/>
          </p:cNvPicPr>
          <p:nvPr/>
        </p:nvPicPr>
        <p:blipFill>
          <a:blip r:embed="rId3"/>
          <a:srcRect l="22830" r="22830"/>
          <a:stretch>
            <a:fillRect/>
          </a:stretch>
        </p:blipFill>
        <p:spPr>
          <a:xfrm>
            <a:off x="8595360" y="4114800"/>
            <a:ext cx="2560320" cy="2651760"/>
          </a:xfrm>
          <a:prstGeom prst="rect">
            <a:avLst/>
          </a:prstGeom>
        </p:spPr>
      </p:pic>
      <p:pic>
        <p:nvPicPr>
          <p:cNvPr id="11" name="Replaceable photo: slide-3-family-slide-3.jpg" descr="slide-3-family-slide-3.jpg"/>
          <p:cNvPicPr>
            <a:picLocks noChangeAspect="1"/>
          </p:cNvPicPr>
          <p:nvPr/>
        </p:nvPicPr>
        <p:blipFill>
          <a:blip r:embed="rId4"/>
          <a:srcRect l="22830" r="22830"/>
          <a:stretch>
            <a:fillRect/>
          </a:stretch>
        </p:blipFill>
        <p:spPr>
          <a:xfrm>
            <a:off x="11338560" y="4114800"/>
            <a:ext cx="2560320" cy="265176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14" name="Editable text: BRAND PLATFORM"/>
          <p:cNvSpPr txBox="1"/>
          <p:nvPr/>
        </p:nvSpPr>
        <p:spPr>
          <a:xfrm>
            <a:off x="12646294" y="309067"/>
            <a:ext cx="143546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BRAND PLATFORM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able text: BRAND PLATFORM"/>
          <p:cNvSpPr txBox="1"/>
          <p:nvPr/>
        </p:nvSpPr>
        <p:spPr>
          <a:xfrm>
            <a:off x="731520" y="7882127"/>
            <a:ext cx="120529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BRAND PLATFORM</a:t>
            </a:r>
          </a:p>
        </p:txBody>
      </p:sp>
      <p:sp>
        <p:nvSpPr>
          <p:cNvPr id="17" name="Editable text: SUPPLIED CONCEPT IMAGERY · NOT VERIFIED AS BUILT / 06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platform"/>
          <p:cNvSpPr txBox="1"/>
          <p:nvPr/>
        </p:nvSpPr>
        <p:spPr>
          <a:xfrm>
            <a:off x="731520" y="911656"/>
            <a:ext cx="1646491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DCE4D5"/>
                </a:solidFill>
                <a:latin typeface="Arial"/>
              </a:rPr>
              <a:t>Brand platform</a:t>
            </a:r>
          </a:p>
        </p:txBody>
      </p:sp>
      <p:sp>
        <p:nvSpPr>
          <p:cNvPr id="3" name="Editable text: The brand in one frame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F4F1E8"/>
                </a:solidFill>
                <a:latin typeface="Georgia"/>
              </a:rPr>
              <a:t>The brand in one frame.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472166"/>
            <a:ext cx="4084224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ditable text: 01 / PURPOSE"/>
          <p:cNvSpPr txBox="1"/>
          <p:nvPr/>
        </p:nvSpPr>
        <p:spPr>
          <a:xfrm>
            <a:off x="731520" y="2689793"/>
            <a:ext cx="1145143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DCE4D5"/>
                </a:solidFill>
                <a:latin typeface="Arial"/>
              </a:rPr>
              <a:t>01 / PURPOSE</a:t>
            </a:r>
          </a:p>
        </p:txBody>
      </p:sp>
      <p:sp>
        <p:nvSpPr>
          <p:cNvPr id="6" name="Editable text: To enrich everyday life in Batam through places and experiences p"/>
          <p:cNvSpPr txBox="1"/>
          <p:nvPr/>
        </p:nvSpPr>
        <p:spPr>
          <a:xfrm>
            <a:off x="731520" y="2986973"/>
            <a:ext cx="4084224" cy="14352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43"/>
              </a:lnSpc>
              <a:spcBef>
                <a:spcPts val="0"/>
              </a:spcBef>
              <a:spcAft>
                <a:spcPts val="0"/>
              </a:spcAft>
            </a:pPr>
            <a:r>
              <a:rPr sz="2504" b="0" spc="-108">
                <a:solidFill>
                  <a:srgbClr val="F4F1E8"/>
                </a:solidFill>
                <a:latin typeface="Georgia"/>
              </a:rPr>
              <a:t>To enrich everyday life in Batam through places and experiences people share.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72944" y="2472166"/>
            <a:ext cx="4084368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ditable text: 02 / PROMISE"/>
          <p:cNvSpPr txBox="1"/>
          <p:nvPr/>
        </p:nvSpPr>
        <p:spPr>
          <a:xfrm>
            <a:off x="5272944" y="2689793"/>
            <a:ext cx="1116853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DCE4D5"/>
                </a:solidFill>
                <a:latin typeface="Arial"/>
              </a:rPr>
              <a:t>02 / PROMISE</a:t>
            </a:r>
          </a:p>
        </p:txBody>
      </p:sp>
      <p:sp>
        <p:nvSpPr>
          <p:cNvPr id="9" name="Editable text: More to discover. More reasons to stay."/>
          <p:cNvSpPr txBox="1"/>
          <p:nvPr/>
        </p:nvSpPr>
        <p:spPr>
          <a:xfrm>
            <a:off x="5272944" y="2986973"/>
            <a:ext cx="4084367" cy="103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43"/>
              </a:lnSpc>
              <a:spcBef>
                <a:spcPts val="0"/>
              </a:spcBef>
              <a:spcAft>
                <a:spcPts val="0"/>
              </a:spcAft>
            </a:pPr>
            <a:r>
              <a:rPr sz="2504" b="0" spc="-108">
                <a:solidFill>
                  <a:srgbClr val="F4F1E8"/>
                </a:solidFill>
                <a:latin typeface="Georgia"/>
              </a:rPr>
              <a:t>More to discover. More reasons to stay.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14512" y="2472166"/>
            <a:ext cx="4084225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itable text: 03 / PHILOSOPHY"/>
          <p:cNvSpPr txBox="1"/>
          <p:nvPr/>
        </p:nvSpPr>
        <p:spPr>
          <a:xfrm>
            <a:off x="9814512" y="2689793"/>
            <a:ext cx="1367742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DCE4D5"/>
                </a:solidFill>
                <a:latin typeface="Arial"/>
              </a:rPr>
              <a:t>03 / PHILOSOPHY</a:t>
            </a:r>
          </a:p>
        </p:txBody>
      </p:sp>
      <p:sp>
        <p:nvSpPr>
          <p:cNvPr id="12" name="Editable text: The Life Between"/>
          <p:cNvSpPr txBox="1"/>
          <p:nvPr/>
        </p:nvSpPr>
        <p:spPr>
          <a:xfrm>
            <a:off x="9814512" y="2986973"/>
            <a:ext cx="4084224" cy="6368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43"/>
              </a:lnSpc>
              <a:spcBef>
                <a:spcPts val="0"/>
              </a:spcBef>
              <a:spcAft>
                <a:spcPts val="0"/>
              </a:spcAft>
            </a:pPr>
            <a:r>
              <a:rPr sz="2504" b="0" spc="-108">
                <a:solidFill>
                  <a:srgbClr val="F4F1E8"/>
                </a:solidFill>
                <a:latin typeface="Georgia"/>
              </a:rPr>
              <a:t>The Life Between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675584"/>
            <a:ext cx="4084224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 text: 04 / EMOTIONAL BENEFIT"/>
          <p:cNvSpPr txBox="1"/>
          <p:nvPr/>
        </p:nvSpPr>
        <p:spPr>
          <a:xfrm>
            <a:off x="731520" y="4893211"/>
            <a:ext cx="1925526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DCE4D5"/>
                </a:solidFill>
                <a:latin typeface="Arial"/>
              </a:rPr>
              <a:t>04 / EMOTIONAL BENEFIT</a:t>
            </a:r>
          </a:p>
        </p:txBody>
      </p:sp>
      <p:sp>
        <p:nvSpPr>
          <p:cNvPr id="15" name="Editable text: The freedom to spend time your way, with the people who matter."/>
          <p:cNvSpPr txBox="1"/>
          <p:nvPr/>
        </p:nvSpPr>
        <p:spPr>
          <a:xfrm>
            <a:off x="731520" y="5190391"/>
            <a:ext cx="4084224" cy="14352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43"/>
              </a:lnSpc>
              <a:spcBef>
                <a:spcPts val="0"/>
              </a:spcBef>
              <a:spcAft>
                <a:spcPts val="0"/>
              </a:spcAft>
            </a:pPr>
            <a:r>
              <a:rPr sz="2504" b="0" spc="-108">
                <a:solidFill>
                  <a:srgbClr val="F4F1E8"/>
                </a:solidFill>
                <a:latin typeface="Georgia"/>
              </a:rPr>
              <a:t>The freedom to spend time your way, with the people who matter.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72944" y="4675584"/>
            <a:ext cx="4084368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itable text: 05 / PERSONALITY"/>
          <p:cNvSpPr txBox="1"/>
          <p:nvPr/>
        </p:nvSpPr>
        <p:spPr>
          <a:xfrm>
            <a:off x="5272944" y="4893211"/>
            <a:ext cx="145032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DCE4D5"/>
                </a:solidFill>
                <a:latin typeface="Arial"/>
              </a:rPr>
              <a:t>05 / PERSONALITY</a:t>
            </a:r>
          </a:p>
        </p:txBody>
      </p:sp>
      <p:sp>
        <p:nvSpPr>
          <p:cNvPr id="18" name="Editable text: Warm. Contemporary. Confident. Sociable. Curious."/>
          <p:cNvSpPr txBox="1"/>
          <p:nvPr/>
        </p:nvSpPr>
        <p:spPr>
          <a:xfrm>
            <a:off x="5272944" y="5190391"/>
            <a:ext cx="4102512" cy="103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43"/>
              </a:lnSpc>
              <a:spcBef>
                <a:spcPts val="0"/>
              </a:spcBef>
              <a:spcAft>
                <a:spcPts val="0"/>
              </a:spcAft>
            </a:pPr>
            <a:r>
              <a:rPr sz="2504" b="0" spc="-108">
                <a:solidFill>
                  <a:srgbClr val="F4F1E8"/>
                </a:solidFill>
                <a:latin typeface="Georgia"/>
              </a:rPr>
              <a:t>Warm. Contemporary. Confident. Sociable. Curious.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14512" y="4675584"/>
            <a:ext cx="4084225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itable text: 06 / EXPERIENCE LINE"/>
          <p:cNvSpPr txBox="1"/>
          <p:nvPr/>
        </p:nvSpPr>
        <p:spPr>
          <a:xfrm>
            <a:off x="9814512" y="4893211"/>
            <a:ext cx="173807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DCE4D5"/>
                </a:solidFill>
                <a:latin typeface="Arial"/>
              </a:rPr>
              <a:t>06 / EXPERIENCE LINE</a:t>
            </a:r>
          </a:p>
        </p:txBody>
      </p:sp>
      <p:sp>
        <p:nvSpPr>
          <p:cNvPr id="21" name="Editable text: One Place. Many Ways to Spend the Day."/>
          <p:cNvSpPr txBox="1"/>
          <p:nvPr/>
        </p:nvSpPr>
        <p:spPr>
          <a:xfrm>
            <a:off x="9814512" y="5190391"/>
            <a:ext cx="4084224" cy="103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43"/>
              </a:lnSpc>
              <a:spcBef>
                <a:spcPts val="0"/>
              </a:spcBef>
              <a:spcAft>
                <a:spcPts val="0"/>
              </a:spcAft>
            </a:pPr>
            <a:r>
              <a:rPr sz="2504" b="0" spc="-108">
                <a:solidFill>
                  <a:srgbClr val="F4F1E8"/>
                </a:solidFill>
                <a:latin typeface="Georgia"/>
              </a:rPr>
              <a:t>One Place. Many Ways to Spend the Day.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4" name="Editable text: BRAND PLATFORM"/>
          <p:cNvSpPr txBox="1"/>
          <p:nvPr/>
        </p:nvSpPr>
        <p:spPr>
          <a:xfrm>
            <a:off x="12646294" y="309067"/>
            <a:ext cx="143546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BRAND PLATFORM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itable text: BRAND PLATFORM"/>
          <p:cNvSpPr txBox="1"/>
          <p:nvPr/>
        </p:nvSpPr>
        <p:spPr>
          <a:xfrm>
            <a:off x="731520" y="7882127"/>
            <a:ext cx="120529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BRAND PLATFORM</a:t>
            </a:r>
          </a:p>
        </p:txBody>
      </p:sp>
      <p:sp>
        <p:nvSpPr>
          <p:cNvPr id="27" name="Editable text: STRATEGIC PROPOSAL / 07"/>
          <p:cNvSpPr txBox="1"/>
          <p:nvPr/>
        </p:nvSpPr>
        <p:spPr>
          <a:xfrm>
            <a:off x="12220098" y="7882127"/>
            <a:ext cx="186166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STRATEGIC PROPOSAL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platform"/>
          <p:cNvSpPr txBox="1"/>
          <p:nvPr/>
        </p:nvSpPr>
        <p:spPr>
          <a:xfrm>
            <a:off x="731520" y="911656"/>
            <a:ext cx="1646491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Brand platform</a:t>
            </a:r>
          </a:p>
        </p:txBody>
      </p:sp>
      <p:sp>
        <p:nvSpPr>
          <p:cNvPr id="3" name="Editable text: Four reasons to belong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Four reasons to belong.</a:t>
            </a:r>
          </a:p>
        </p:txBody>
      </p:sp>
      <p:pic>
        <p:nvPicPr>
          <p:cNvPr id="4" name="Replaceable photo: slide-4-tropica.jpg" descr="slide-4-tropica.jpg"/>
          <p:cNvPicPr>
            <a:picLocks noChangeAspect="1"/>
          </p:cNvPicPr>
          <p:nvPr/>
        </p:nvPicPr>
        <p:blipFill>
          <a:blip r:embed="rId2"/>
          <a:srcRect l="12342" r="12342"/>
          <a:stretch>
            <a:fillRect/>
          </a:stretch>
        </p:blipFill>
        <p:spPr>
          <a:xfrm>
            <a:off x="731520" y="2243566"/>
            <a:ext cx="3120390" cy="2331720"/>
          </a:xfrm>
          <a:prstGeom prst="rect">
            <a:avLst/>
          </a:prstGeom>
        </p:spPr>
      </p:pic>
      <p:sp>
        <p:nvSpPr>
          <p:cNvPr id="5" name="Editable text: 01"/>
          <p:cNvSpPr txBox="1"/>
          <p:nvPr/>
        </p:nvSpPr>
        <p:spPr>
          <a:xfrm>
            <a:off x="731520" y="475633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6" name="Editable text: Everyday Ease"/>
          <p:cNvSpPr txBox="1"/>
          <p:nvPr/>
        </p:nvSpPr>
        <p:spPr>
          <a:xfrm>
            <a:off x="731520" y="494927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Everyday Ease</a:t>
            </a:r>
          </a:p>
        </p:txBody>
      </p:sp>
      <p:sp>
        <p:nvSpPr>
          <p:cNvPr id="7" name="Editable text: A convenient place that fits real routines."/>
          <p:cNvSpPr txBox="1"/>
          <p:nvPr/>
        </p:nvSpPr>
        <p:spPr>
          <a:xfrm>
            <a:off x="731520" y="5508888"/>
            <a:ext cx="3298269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A convenient place that fits real routines.</a:t>
            </a:r>
          </a:p>
        </p:txBody>
      </p:sp>
      <p:sp>
        <p:nvSpPr>
          <p:cNvPr id="8" name="Editable text: Grocery · services · cafés · fitness · useful retail"/>
          <p:cNvSpPr txBox="1"/>
          <p:nvPr/>
        </p:nvSpPr>
        <p:spPr>
          <a:xfrm>
            <a:off x="731520" y="5927683"/>
            <a:ext cx="324912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Grocery · services · cafés · fitness · useful retail</a:t>
            </a:r>
          </a:p>
        </p:txBody>
      </p:sp>
      <p:pic>
        <p:nvPicPr>
          <p:cNvPr id="9" name="Replaceable photo: slide-19-event.jpg" descr="slide-19-event.jpg"/>
          <p:cNvPicPr>
            <a:picLocks noChangeAspect="1"/>
          </p:cNvPicPr>
          <p:nvPr/>
        </p:nvPicPr>
        <p:blipFill>
          <a:blip r:embed="rId3"/>
          <a:srcRect l="12342" r="12342"/>
          <a:stretch>
            <a:fillRect/>
          </a:stretch>
        </p:blipFill>
        <p:spPr>
          <a:xfrm>
            <a:off x="4080510" y="2243566"/>
            <a:ext cx="3120390" cy="2331720"/>
          </a:xfrm>
          <a:prstGeom prst="rect">
            <a:avLst/>
          </a:prstGeom>
        </p:spPr>
      </p:pic>
      <p:sp>
        <p:nvSpPr>
          <p:cNvPr id="10" name="Editable text: 02"/>
          <p:cNvSpPr txBox="1"/>
          <p:nvPr/>
        </p:nvSpPr>
        <p:spPr>
          <a:xfrm>
            <a:off x="4080510" y="475633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1" name="Editable text: Culinary Discovery"/>
          <p:cNvSpPr txBox="1"/>
          <p:nvPr/>
        </p:nvSpPr>
        <p:spPr>
          <a:xfrm>
            <a:off x="4080510" y="494927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Culinary Discovery</a:t>
            </a:r>
          </a:p>
        </p:txBody>
      </p:sp>
      <p:sp>
        <p:nvSpPr>
          <p:cNvPr id="12" name="Editable text: Something worth tasting and sharing."/>
          <p:cNvSpPr txBox="1"/>
          <p:nvPr/>
        </p:nvSpPr>
        <p:spPr>
          <a:xfrm>
            <a:off x="4080510" y="5508888"/>
            <a:ext cx="3045094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Something worth tasting and sharing.</a:t>
            </a:r>
          </a:p>
        </p:txBody>
      </p:sp>
      <p:sp>
        <p:nvSpPr>
          <p:cNvPr id="13" name="Editable text: Nusantara food · seafood · producers · chef collaborations"/>
          <p:cNvSpPr txBox="1"/>
          <p:nvPr/>
        </p:nvSpPr>
        <p:spPr>
          <a:xfrm>
            <a:off x="4080510" y="5927683"/>
            <a:ext cx="3120390" cy="4241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Nusantara food · seafood · producers · chef collaborations</a:t>
            </a:r>
          </a:p>
        </p:txBody>
      </p:sp>
      <p:pic>
        <p:nvPicPr>
          <p:cNvPr id="14" name="Replaceable photo: slide-14-event-pet.jpg" descr="slide-14-event-pet.jpg"/>
          <p:cNvPicPr>
            <a:picLocks noChangeAspect="1"/>
          </p:cNvPicPr>
          <p:nvPr/>
        </p:nvPicPr>
        <p:blipFill>
          <a:blip r:embed="rId4"/>
          <a:srcRect l="12342" r="12342"/>
          <a:stretch>
            <a:fillRect/>
          </a:stretch>
        </p:blipFill>
        <p:spPr>
          <a:xfrm>
            <a:off x="7429500" y="2243566"/>
            <a:ext cx="3120390" cy="2331720"/>
          </a:xfrm>
          <a:prstGeom prst="rect">
            <a:avLst/>
          </a:prstGeom>
        </p:spPr>
      </p:pic>
      <p:sp>
        <p:nvSpPr>
          <p:cNvPr id="15" name="Editable text: 03"/>
          <p:cNvSpPr txBox="1"/>
          <p:nvPr/>
        </p:nvSpPr>
        <p:spPr>
          <a:xfrm>
            <a:off x="7429500" y="475633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6" name="Editable text: Shared Experiences"/>
          <p:cNvSpPr txBox="1"/>
          <p:nvPr/>
        </p:nvSpPr>
        <p:spPr>
          <a:xfrm>
            <a:off x="7429500" y="494927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Shared Experiences</a:t>
            </a:r>
          </a:p>
        </p:txBody>
      </p:sp>
      <p:sp>
        <p:nvSpPr>
          <p:cNvPr id="17" name="Editable text: Time together with more possibilities."/>
          <p:cNvSpPr txBox="1"/>
          <p:nvPr/>
        </p:nvSpPr>
        <p:spPr>
          <a:xfrm>
            <a:off x="7429500" y="5508888"/>
            <a:ext cx="3028950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Time together with more possibilities.</a:t>
            </a:r>
          </a:p>
        </p:txBody>
      </p:sp>
      <p:sp>
        <p:nvSpPr>
          <p:cNvPr id="18" name="Editable text: The Veranda · families · markets · culture · events"/>
          <p:cNvSpPr txBox="1"/>
          <p:nvPr/>
        </p:nvSpPr>
        <p:spPr>
          <a:xfrm>
            <a:off x="7429500" y="5927683"/>
            <a:ext cx="3120390" cy="4241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The Veranda · families · markets · culture · events</a:t>
            </a:r>
          </a:p>
        </p:txBody>
      </p:sp>
      <p:pic>
        <p:nvPicPr>
          <p:cNvPr id="19" name="Replaceable photo: slide-15-njzjcnzx.jpg" descr="slide-15-njzjcnzx.jpg"/>
          <p:cNvPicPr>
            <a:picLocks noChangeAspect="1"/>
          </p:cNvPicPr>
          <p:nvPr/>
        </p:nvPicPr>
        <p:blipFill>
          <a:blip r:embed="rId5"/>
          <a:srcRect l="12342" r="12342"/>
          <a:stretch>
            <a:fillRect/>
          </a:stretch>
        </p:blipFill>
        <p:spPr>
          <a:xfrm>
            <a:off x="10778490" y="2243566"/>
            <a:ext cx="3120390" cy="2331720"/>
          </a:xfrm>
          <a:prstGeom prst="rect">
            <a:avLst/>
          </a:prstGeom>
        </p:spPr>
      </p:pic>
      <p:sp>
        <p:nvSpPr>
          <p:cNvPr id="20" name="Editable text: 04"/>
          <p:cNvSpPr txBox="1"/>
          <p:nvPr/>
        </p:nvSpPr>
        <p:spPr>
          <a:xfrm>
            <a:off x="10778490" y="475633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21" name="Editable text: Time to Stay"/>
          <p:cNvSpPr txBox="1"/>
          <p:nvPr/>
        </p:nvSpPr>
        <p:spPr>
          <a:xfrm>
            <a:off x="10778490" y="494927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Time to Stay</a:t>
            </a:r>
          </a:p>
        </p:txBody>
      </p:sp>
      <p:sp>
        <p:nvSpPr>
          <p:cNvPr id="22" name="Editable text: The comfort to extend a visit."/>
          <p:cNvSpPr txBox="1"/>
          <p:nvPr/>
        </p:nvSpPr>
        <p:spPr>
          <a:xfrm>
            <a:off x="10778490" y="5508888"/>
            <a:ext cx="2404729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The comfort to extend a visit.</a:t>
            </a:r>
          </a:p>
        </p:txBody>
      </p:sp>
      <p:sp>
        <p:nvSpPr>
          <p:cNvPr id="23" name="Editable text: Hotel · garden dining · leisure · spa · quieter spaces"/>
          <p:cNvSpPr txBox="1"/>
          <p:nvPr/>
        </p:nvSpPr>
        <p:spPr>
          <a:xfrm>
            <a:off x="10778490" y="5927683"/>
            <a:ext cx="3120390" cy="4241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Hotel · garden dining · leisure · spa · quieter spaces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6" name="Editable text: BRAND PLATFORM"/>
          <p:cNvSpPr txBox="1"/>
          <p:nvPr/>
        </p:nvSpPr>
        <p:spPr>
          <a:xfrm>
            <a:off x="12646294" y="309067"/>
            <a:ext cx="143546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BRAND PLATFORM</a:t>
            </a:r>
          </a:p>
        </p:txBody>
      </p:sp>
      <p:sp>
        <p:nvSpPr>
          <p:cNvPr id="27" name="Editable text: Brand pillars organise the experience story; zoning follows archi"/>
          <p:cNvSpPr txBox="1"/>
          <p:nvPr/>
        </p:nvSpPr>
        <p:spPr>
          <a:xfrm>
            <a:off x="731520" y="7338174"/>
            <a:ext cx="467072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Brand pillars organise the experience story; zoning follows architectural requirements.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itable text: BRAND PLATFORM"/>
          <p:cNvSpPr txBox="1"/>
          <p:nvPr/>
        </p:nvSpPr>
        <p:spPr>
          <a:xfrm>
            <a:off x="731520" y="7882127"/>
            <a:ext cx="120529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BRAND PLATFORM</a:t>
            </a:r>
          </a:p>
        </p:txBody>
      </p:sp>
      <p:sp>
        <p:nvSpPr>
          <p:cNvPr id="30" name="Editable text: SUPPLIED CONCEPT IMAGERY · NOT VERIFIED AS BUILT / 08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placeable photo: slide-9-promenide-2.jpg" descr="slide-9-promenide-2.jp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1737360"/>
            <a:ext cx="5120640" cy="5177075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text: THE PROMENIDE"/>
          <p:cNvSpPr txBox="1"/>
          <p:nvPr/>
        </p:nvSpPr>
        <p:spPr>
          <a:xfrm>
            <a:off x="1152144" y="2155240"/>
            <a:ext cx="152161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DCE4D5"/>
                </a:solidFill>
                <a:latin typeface="Arial"/>
              </a:rPr>
              <a:t>THE PROMENIDE</a:t>
            </a:r>
          </a:p>
        </p:txBody>
      </p:sp>
      <p:sp>
        <p:nvSpPr>
          <p:cNvPr id="5" name="Editable text: Where the"/>
          <p:cNvSpPr txBox="1"/>
          <p:nvPr/>
        </p:nvSpPr>
        <p:spPr>
          <a:xfrm>
            <a:off x="1152144" y="2295144"/>
            <a:ext cx="4279392" cy="11932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140"/>
              </a:lnSpc>
              <a:spcBef>
                <a:spcPts val="0"/>
              </a:spcBef>
              <a:spcAft>
                <a:spcPts val="0"/>
              </a:spcAft>
            </a:pPr>
            <a:r>
              <a:rPr sz="4737" b="0" spc="-108">
                <a:solidFill>
                  <a:srgbClr val="F4F1E8"/>
                </a:solidFill>
                <a:latin typeface="Georgia"/>
              </a:rPr>
              <a:t>Where the</a:t>
            </a:r>
          </a:p>
        </p:txBody>
      </p:sp>
      <p:sp>
        <p:nvSpPr>
          <p:cNvPr id="6" name="Editable text: district connects."/>
          <p:cNvSpPr txBox="1"/>
          <p:nvPr/>
        </p:nvSpPr>
        <p:spPr>
          <a:xfrm>
            <a:off x="1152144" y="2947939"/>
            <a:ext cx="4279392" cy="18460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140"/>
              </a:lnSpc>
              <a:spcBef>
                <a:spcPts val="0"/>
              </a:spcBef>
              <a:spcAft>
                <a:spcPts val="0"/>
              </a:spcAft>
            </a:pPr>
            <a:r>
              <a:rPr sz="4737" b="0" spc="-108">
                <a:solidFill>
                  <a:srgbClr val="F4F1E8"/>
                </a:solidFill>
                <a:latin typeface="Georgia"/>
              </a:rPr>
              <a:t>district connects.</a:t>
            </a:r>
          </a:p>
        </p:txBody>
      </p:sp>
      <p:sp>
        <p:nvSpPr>
          <p:cNvPr id="7" name="Editable text: Everyday interactions become shared experiences."/>
          <p:cNvSpPr txBox="1"/>
          <p:nvPr/>
        </p:nvSpPr>
        <p:spPr>
          <a:xfrm>
            <a:off x="1152144" y="4672326"/>
            <a:ext cx="4279392" cy="5934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F4F1E8"/>
                </a:solidFill>
                <a:latin typeface="Arial"/>
              </a:rPr>
              <a:t>Everyday interactions become shared experiences.</a:t>
            </a:r>
          </a:p>
        </p:txBody>
      </p:sp>
      <p:sp>
        <p:nvSpPr>
          <p:cNvPr id="8" name="Editable text: Community activities. Markets. Performances. Celebrations. A conn"/>
          <p:cNvSpPr txBox="1"/>
          <p:nvPr/>
        </p:nvSpPr>
        <p:spPr>
          <a:xfrm>
            <a:off x="1152144" y="5533691"/>
            <a:ext cx="4279392" cy="813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Community activities. Markets. Performances. Celebrations. A connected district gives each encounter room to grow.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"/>
            <a:ext cx="13167360" cy="347472"/>
          </a:xfrm>
          <a:prstGeom prst="rect">
            <a:avLst/>
          </a:prstGeom>
          <a:solidFill>
            <a:srgbClr val="183D3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KALINDO / DESTINATION IDENTITY"/>
          <p:cNvSpPr txBox="1"/>
          <p:nvPr/>
        </p:nvSpPr>
        <p:spPr>
          <a:xfrm>
            <a:off x="841248" y="418795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11" name="Editable text: DESTINATION EXPERIENCE"/>
          <p:cNvSpPr txBox="1"/>
          <p:nvPr/>
        </p:nvSpPr>
        <p:spPr>
          <a:xfrm>
            <a:off x="11941635" y="418795"/>
            <a:ext cx="2030396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DESTINATION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203757"/>
            <a:ext cx="3653313" cy="294322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text: “The Promenide” retained from the brief; spelling to be confirmed"/>
          <p:cNvSpPr txBox="1"/>
          <p:nvPr/>
        </p:nvSpPr>
        <p:spPr>
          <a:xfrm>
            <a:off x="841248" y="7274166"/>
            <a:ext cx="361673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FFFFFF"/>
                </a:solidFill>
                <a:latin typeface="Arial"/>
              </a:rPr>
              <a:t>“The Promenide” retained from the brief; spelling to be confirmed.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7653527"/>
            <a:ext cx="13167360" cy="338328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31520" y="7653527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able text: DESTINATION EXPERIENCE"/>
          <p:cNvSpPr txBox="1"/>
          <p:nvPr/>
        </p:nvSpPr>
        <p:spPr>
          <a:xfrm>
            <a:off x="841248" y="7772400"/>
            <a:ext cx="168892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DESTINATION EXPERIENCE</a:t>
            </a:r>
          </a:p>
        </p:txBody>
      </p:sp>
      <p:sp>
        <p:nvSpPr>
          <p:cNvPr id="17" name="Editable text: SUPPLIED CONCEPT IMAGERY · NOT VERIFIED AS BUILT / 09"/>
          <p:cNvSpPr txBox="1"/>
          <p:nvPr/>
        </p:nvSpPr>
        <p:spPr>
          <a:xfrm>
            <a:off x="10241994" y="7772400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SUPPLIED CONCEPT IMAGERY · NOT VERIFIED AS BUILT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HE VERANDA"/>
          <p:cNvSpPr txBox="1"/>
          <p:nvPr/>
        </p:nvSpPr>
        <p:spPr>
          <a:xfrm>
            <a:off x="731520" y="911656"/>
            <a:ext cx="132230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THE VERANDA</a:t>
            </a:r>
          </a:p>
        </p:txBody>
      </p:sp>
      <p:sp>
        <p:nvSpPr>
          <p:cNvPr id="3" name="Editable text: The heart of"/>
          <p:cNvSpPr txBox="1"/>
          <p:nvPr/>
        </p:nvSpPr>
        <p:spPr>
          <a:xfrm>
            <a:off x="731520" y="1068019"/>
            <a:ext cx="6126480" cy="1059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53"/>
              </a:lnSpc>
              <a:spcBef>
                <a:spcPts val="0"/>
              </a:spcBef>
              <a:spcAft>
                <a:spcPts val="0"/>
              </a:spcAft>
            </a:pPr>
            <a:r>
              <a:rPr sz="4196" b="0" spc="-108">
                <a:solidFill>
                  <a:srgbClr val="183D32"/>
                </a:solidFill>
                <a:latin typeface="Georgia"/>
              </a:rPr>
              <a:t>The heart of</a:t>
            </a:r>
          </a:p>
        </p:txBody>
      </p:sp>
      <p:sp>
        <p:nvSpPr>
          <p:cNvPr id="4" name="Editable text: the destination."/>
          <p:cNvSpPr txBox="1"/>
          <p:nvPr/>
        </p:nvSpPr>
        <p:spPr>
          <a:xfrm>
            <a:off x="731520" y="1646234"/>
            <a:ext cx="6126480" cy="1059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53"/>
              </a:lnSpc>
              <a:spcBef>
                <a:spcPts val="0"/>
              </a:spcBef>
              <a:spcAft>
                <a:spcPts val="0"/>
              </a:spcAft>
            </a:pPr>
            <a:r>
              <a:rPr sz="4196" b="0" spc="-108">
                <a:solidFill>
                  <a:srgbClr val="183D32"/>
                </a:solidFill>
                <a:latin typeface="Georgia"/>
              </a:rPr>
              <a:t>the destination.</a:t>
            </a:r>
          </a:p>
        </p:txBody>
      </p:sp>
      <p:sp>
        <p:nvSpPr>
          <p:cNvPr id="5" name="Editable text: One shared place. Four ways to come together."/>
          <p:cNvSpPr txBox="1"/>
          <p:nvPr/>
        </p:nvSpPr>
        <p:spPr>
          <a:xfrm>
            <a:off x="731520" y="2626785"/>
            <a:ext cx="4389977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One shared place. Four ways to come together.</a:t>
            </a:r>
          </a:p>
        </p:txBody>
      </p:sp>
      <p:sp>
        <p:nvSpPr>
          <p:cNvPr id="6" name="Editable text: The flexible social heart of the district, supporting everyday ga"/>
          <p:cNvSpPr txBox="1"/>
          <p:nvPr/>
        </p:nvSpPr>
        <p:spPr>
          <a:xfrm>
            <a:off x="7772400" y="1515017"/>
            <a:ext cx="3931920" cy="935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The flexible social heart of the district, supporting everyday gatherings and programmed occasions.</a:t>
            </a:r>
          </a:p>
        </p:txBody>
      </p:sp>
      <p:pic>
        <p:nvPicPr>
          <p:cNvPr id="7" name="Replaceable photo: slide-10-brunch.jpg" descr="slide-10-brunch.jpg"/>
          <p:cNvPicPr>
            <a:picLocks noChangeAspect="1"/>
          </p:cNvPicPr>
          <p:nvPr/>
        </p:nvPicPr>
        <p:blipFill>
          <a:blip r:embed="rId2"/>
          <a:srcRect l="7321" r="7321"/>
          <a:stretch>
            <a:fillRect/>
          </a:stretch>
        </p:blipFill>
        <p:spPr>
          <a:xfrm>
            <a:off x="731520" y="3177254"/>
            <a:ext cx="3120390" cy="2057400"/>
          </a:xfrm>
          <a:prstGeom prst="rect">
            <a:avLst/>
          </a:prstGeom>
        </p:spPr>
      </p:pic>
      <p:sp>
        <p:nvSpPr>
          <p:cNvPr id="8" name="Editable text: 01"/>
          <p:cNvSpPr txBox="1"/>
          <p:nvPr/>
        </p:nvSpPr>
        <p:spPr>
          <a:xfrm>
            <a:off x="731520" y="5415705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9" name="Editable text: Everyday Veranda"/>
          <p:cNvSpPr txBox="1"/>
          <p:nvPr/>
        </p:nvSpPr>
        <p:spPr>
          <a:xfrm>
            <a:off x="731520" y="561230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Everyday Veranda</a:t>
            </a:r>
          </a:p>
        </p:txBody>
      </p:sp>
      <p:sp>
        <p:nvSpPr>
          <p:cNvPr id="10" name="Editable text: Casual meetings, comfortable seating and cafés."/>
          <p:cNvSpPr txBox="1"/>
          <p:nvPr/>
        </p:nvSpPr>
        <p:spPr>
          <a:xfrm>
            <a:off x="731520" y="611522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Casual meetings, comfortable seating and cafés.</a:t>
            </a:r>
          </a:p>
        </p:txBody>
      </p:sp>
      <p:pic>
        <p:nvPicPr>
          <p:cNvPr id="11" name="Replaceable photo: slide-10-casual-couple.jpg" descr="slide-10-casual-couple.jpg"/>
          <p:cNvPicPr>
            <a:picLocks noChangeAspect="1"/>
          </p:cNvPicPr>
          <p:nvPr/>
        </p:nvPicPr>
        <p:blipFill>
          <a:blip r:embed="rId3"/>
          <a:srcRect l="7321" r="7321"/>
          <a:stretch>
            <a:fillRect/>
          </a:stretch>
        </p:blipFill>
        <p:spPr>
          <a:xfrm>
            <a:off x="4080510" y="3177254"/>
            <a:ext cx="3120390" cy="2057400"/>
          </a:xfrm>
          <a:prstGeom prst="rect">
            <a:avLst/>
          </a:prstGeom>
        </p:spPr>
      </p:pic>
      <p:sp>
        <p:nvSpPr>
          <p:cNvPr id="12" name="Editable text: 02"/>
          <p:cNvSpPr txBox="1"/>
          <p:nvPr/>
        </p:nvSpPr>
        <p:spPr>
          <a:xfrm>
            <a:off x="4080510" y="5415705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3" name="Editable text: Market Veranda"/>
          <p:cNvSpPr txBox="1"/>
          <p:nvPr/>
        </p:nvSpPr>
        <p:spPr>
          <a:xfrm>
            <a:off x="4080510" y="561230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Market Veranda</a:t>
            </a:r>
          </a:p>
        </p:txBody>
      </p:sp>
      <p:sp>
        <p:nvSpPr>
          <p:cNvPr id="14" name="Editable text: Curated food, local makers and lifestyle markets."/>
          <p:cNvSpPr txBox="1"/>
          <p:nvPr/>
        </p:nvSpPr>
        <p:spPr>
          <a:xfrm>
            <a:off x="4080510" y="611522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Curated food, local makers and lifestyle markets.</a:t>
            </a:r>
          </a:p>
        </p:txBody>
      </p:sp>
      <p:pic>
        <p:nvPicPr>
          <p:cNvPr id="15" name="Replaceable photo: slide-10-night.jpg" descr="slide-10-night.jpg"/>
          <p:cNvPicPr>
            <a:picLocks noChangeAspect="1"/>
          </p:cNvPicPr>
          <p:nvPr/>
        </p:nvPicPr>
        <p:blipFill>
          <a:blip r:embed="rId4"/>
          <a:srcRect l="7366" r="7366"/>
          <a:stretch>
            <a:fillRect/>
          </a:stretch>
        </p:blipFill>
        <p:spPr>
          <a:xfrm>
            <a:off x="7429500" y="3177254"/>
            <a:ext cx="3120390" cy="2057400"/>
          </a:xfrm>
          <a:prstGeom prst="rect">
            <a:avLst/>
          </a:prstGeom>
        </p:spPr>
      </p:pic>
      <p:sp>
        <p:nvSpPr>
          <p:cNvPr id="16" name="Editable text: 03"/>
          <p:cNvSpPr txBox="1"/>
          <p:nvPr/>
        </p:nvSpPr>
        <p:spPr>
          <a:xfrm>
            <a:off x="7429500" y="5415705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7" name="Editable text: Evening Veranda"/>
          <p:cNvSpPr txBox="1"/>
          <p:nvPr/>
        </p:nvSpPr>
        <p:spPr>
          <a:xfrm>
            <a:off x="7429500" y="561230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Evening Veranda</a:t>
            </a:r>
          </a:p>
        </p:txBody>
      </p:sp>
      <p:sp>
        <p:nvSpPr>
          <p:cNvPr id="18" name="Editable text: Dining, intimate performances and social gatherings."/>
          <p:cNvSpPr txBox="1"/>
          <p:nvPr/>
        </p:nvSpPr>
        <p:spPr>
          <a:xfrm>
            <a:off x="7429500" y="611522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Dining, intimate performances and social gatherings.</a:t>
            </a:r>
          </a:p>
        </p:txBody>
      </p:sp>
      <p:pic>
        <p:nvPicPr>
          <p:cNvPr id="19" name="Replaceable photo: slide-10-the-veranda.jpg" descr="slide-10-the-veranda.jpg"/>
          <p:cNvPicPr>
            <a:picLocks noChangeAspect="1"/>
          </p:cNvPicPr>
          <p:nvPr/>
        </p:nvPicPr>
        <p:blipFill>
          <a:blip r:embed="rId5"/>
          <a:srcRect l="7321" r="7321"/>
          <a:stretch>
            <a:fillRect/>
          </a:stretch>
        </p:blipFill>
        <p:spPr>
          <a:xfrm>
            <a:off x="10778490" y="3177254"/>
            <a:ext cx="3120390" cy="2057400"/>
          </a:xfrm>
          <a:prstGeom prst="rect">
            <a:avLst/>
          </a:prstGeom>
        </p:spPr>
      </p:pic>
      <p:sp>
        <p:nvSpPr>
          <p:cNvPr id="20" name="Editable text: 04"/>
          <p:cNvSpPr txBox="1"/>
          <p:nvPr/>
        </p:nvSpPr>
        <p:spPr>
          <a:xfrm>
            <a:off x="10778490" y="5415705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21" name="Editable text: Celebration Veranda"/>
          <p:cNvSpPr txBox="1"/>
          <p:nvPr/>
        </p:nvSpPr>
        <p:spPr>
          <a:xfrm>
            <a:off x="10778490" y="561230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Celebration Veranda</a:t>
            </a:r>
          </a:p>
        </p:txBody>
      </p:sp>
      <p:sp>
        <p:nvSpPr>
          <p:cNvPr id="22" name="Editable text: Cultural occasions, seasonal events and destination programming."/>
          <p:cNvSpPr txBox="1"/>
          <p:nvPr/>
        </p:nvSpPr>
        <p:spPr>
          <a:xfrm>
            <a:off x="10778490" y="6115221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Cultural occasions, seasonal events and destination programming.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5" name="Editable text: DESTINATION EXPERIENCE"/>
          <p:cNvSpPr txBox="1"/>
          <p:nvPr/>
        </p:nvSpPr>
        <p:spPr>
          <a:xfrm>
            <a:off x="12051363" y="309067"/>
            <a:ext cx="2030396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DESTINATION EXPERIENCE</a:t>
            </a:r>
          </a:p>
        </p:txBody>
      </p:sp>
      <p:sp>
        <p:nvSpPr>
          <p:cNvPr id="26" name="Editable text: Proposed modes of use. Keep circulation and surrounding tenants a"/>
          <p:cNvSpPr txBox="1"/>
          <p:nvPr/>
        </p:nvSpPr>
        <p:spPr>
          <a:xfrm>
            <a:off x="731520" y="7338174"/>
            <a:ext cx="649509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Proposed modes of use. Keep circulation and surrounding tenants accessible; the court is not a permanent event venue.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text: DESTINATION EXPERIENCE"/>
          <p:cNvSpPr txBox="1"/>
          <p:nvPr/>
        </p:nvSpPr>
        <p:spPr>
          <a:xfrm>
            <a:off x="731520" y="7882127"/>
            <a:ext cx="168892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DESTINATION EXPERIENCE</a:t>
            </a:r>
          </a:p>
        </p:txBody>
      </p:sp>
      <p:sp>
        <p:nvSpPr>
          <p:cNvPr id="29" name="Editable text: SUPPLIED CONCEPT IMAGERY · NOT VERIFIED AS BUILT / 10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Destination experience"/>
          <p:cNvSpPr txBox="1"/>
          <p:nvPr/>
        </p:nvSpPr>
        <p:spPr>
          <a:xfrm>
            <a:off x="731520" y="911656"/>
            <a:ext cx="235200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Destination experience</a:t>
            </a:r>
          </a:p>
        </p:txBody>
      </p:sp>
      <p:sp>
        <p:nvSpPr>
          <p:cNvPr id="3" name="Editable text: Connected places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Connected places.</a:t>
            </a:r>
          </a:p>
        </p:txBody>
      </p:sp>
      <p:sp>
        <p:nvSpPr>
          <p:cNvPr id="4" name="Editable text: Different rhythms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Different rhythms.</a:t>
            </a:r>
          </a:p>
        </p:txBody>
      </p:sp>
      <p:sp>
        <p:nvSpPr>
          <p:cNvPr id="5" name="Editable text: The spatial experience"/>
          <p:cNvSpPr txBox="1"/>
          <p:nvPr/>
        </p:nvSpPr>
        <p:spPr>
          <a:xfrm>
            <a:off x="731520" y="2738799"/>
            <a:ext cx="219798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The spatial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89268"/>
            <a:ext cx="7080599" cy="3886200"/>
          </a:xfrm>
          <a:prstGeom prst="rect">
            <a:avLst/>
          </a:prstGeom>
          <a:solidFill>
            <a:srgbClr val="E9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1520" y="3289268"/>
            <a:ext cx="7080599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7175468"/>
            <a:ext cx="7080599" cy="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3289268"/>
            <a:ext cx="0" cy="388620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12119" y="3289268"/>
            <a:ext cx="0" cy="3886200"/>
          </a:xfrm>
          <a:prstGeom prst="line">
            <a:avLst/>
          </a:prstGeom>
          <a:ln w="9144">
            <a:solidFill>
              <a:srgbClr val="D8D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3704" y="3527012"/>
            <a:ext cx="3566160" cy="822960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text: Hospitality &amp; Retreat Spaces"/>
          <p:cNvSpPr txBox="1"/>
          <p:nvPr/>
        </p:nvSpPr>
        <p:spPr>
          <a:xfrm>
            <a:off x="2292572" y="3596935"/>
            <a:ext cx="357116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292D29"/>
                </a:solidFill>
                <a:latin typeface="Georgia"/>
              </a:rPr>
              <a:t>Hospitality &amp; Retreat Spaces</a:t>
            </a:r>
          </a:p>
        </p:txBody>
      </p:sp>
      <p:sp>
        <p:nvSpPr>
          <p:cNvPr id="13" name="Editable text: THE QUIETER LAYER"/>
          <p:cNvSpPr txBox="1"/>
          <p:nvPr/>
        </p:nvSpPr>
        <p:spPr>
          <a:xfrm>
            <a:off x="3405711" y="4097940"/>
            <a:ext cx="1344882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THE QUIETER LAYER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6696" y="4578572"/>
            <a:ext cx="6550247" cy="0"/>
          </a:xfrm>
          <a:prstGeom prst="line">
            <a:avLst/>
          </a:prstGeom>
          <a:ln w="18288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itable text: PEDESTRIAN PROMENADES"/>
          <p:cNvSpPr txBox="1"/>
          <p:nvPr/>
        </p:nvSpPr>
        <p:spPr>
          <a:xfrm>
            <a:off x="3399996" y="4687385"/>
            <a:ext cx="1926526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292D29"/>
                </a:solidFill>
                <a:latin typeface="Arial"/>
              </a:rPr>
              <a:t>PEDESTRIAN PROMENADES</a:t>
            </a:r>
          </a:p>
        </p:txBody>
      </p:sp>
      <p:sp>
        <p:nvSpPr>
          <p:cNvPr id="16" name="Editable text: ↔"/>
          <p:cNvSpPr txBox="1"/>
          <p:nvPr/>
        </p:nvSpPr>
        <p:spPr>
          <a:xfrm>
            <a:off x="7162752" y="4406665"/>
            <a:ext cx="457342" cy="371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975" b="0" spc="144">
                <a:solidFill>
                  <a:srgbClr val="292D29"/>
                </a:solidFill>
                <a:latin typeface="Arial"/>
              </a:rPr>
              <a:t>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" y="5081492"/>
            <a:ext cx="1554480" cy="1280160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text: Arrival"/>
          <p:cNvSpPr txBox="1"/>
          <p:nvPr/>
        </p:nvSpPr>
        <p:spPr>
          <a:xfrm>
            <a:off x="1294590" y="5357726"/>
            <a:ext cx="155448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292D29"/>
                </a:solidFill>
                <a:latin typeface="Georgia"/>
              </a:rPr>
              <a:t>Arrival</a:t>
            </a:r>
          </a:p>
        </p:txBody>
      </p:sp>
      <p:sp>
        <p:nvSpPr>
          <p:cNvPr id="19" name="Editable text: Garden"/>
          <p:cNvSpPr txBox="1"/>
          <p:nvPr/>
        </p:nvSpPr>
        <p:spPr>
          <a:xfrm>
            <a:off x="1272016" y="5649334"/>
            <a:ext cx="155448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292D29"/>
                </a:solidFill>
                <a:latin typeface="Georgia"/>
              </a:rPr>
              <a:t>Garden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35224" y="5035772"/>
            <a:ext cx="2286000" cy="1325880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text: The Veranda"/>
          <p:cNvSpPr txBox="1"/>
          <p:nvPr/>
        </p:nvSpPr>
        <p:spPr>
          <a:xfrm>
            <a:off x="3326415" y="5357155"/>
            <a:ext cx="228600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F4F1E8"/>
                </a:solidFill>
                <a:latin typeface="Georgia"/>
              </a:rPr>
              <a:t>The Veranda</a:t>
            </a:r>
          </a:p>
        </p:txBody>
      </p:sp>
      <p:sp>
        <p:nvSpPr>
          <p:cNvPr id="22" name="Editable text: THE SHARED HEART"/>
          <p:cNvSpPr txBox="1"/>
          <p:nvPr/>
        </p:nvSpPr>
        <p:spPr>
          <a:xfrm>
            <a:off x="3508867" y="5858160"/>
            <a:ext cx="132159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THE SHARED HEART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615" y="5081492"/>
            <a:ext cx="1554480" cy="1280160"/>
          </a:xfrm>
          <a:prstGeom prst="rect">
            <a:avLst/>
          </a:prstGeom>
          <a:solidFill>
            <a:srgbClr val="C2C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text: Garden"/>
          <p:cNvSpPr txBox="1"/>
          <p:nvPr/>
        </p:nvSpPr>
        <p:spPr>
          <a:xfrm>
            <a:off x="6414087" y="5357726"/>
            <a:ext cx="155448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292D29"/>
                </a:solidFill>
                <a:latin typeface="Georgia"/>
              </a:rPr>
              <a:t>Garden</a:t>
            </a:r>
          </a:p>
        </p:txBody>
      </p:sp>
      <p:sp>
        <p:nvSpPr>
          <p:cNvPr id="25" name="Editable text: Terraces"/>
          <p:cNvSpPr txBox="1"/>
          <p:nvPr/>
        </p:nvSpPr>
        <p:spPr>
          <a:xfrm>
            <a:off x="6358937" y="5649334"/>
            <a:ext cx="155448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292D29"/>
                </a:solidFill>
                <a:latin typeface="Georgia"/>
              </a:rPr>
              <a:t>Terraces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6696" y="6635972"/>
            <a:ext cx="6550247" cy="0"/>
          </a:xfrm>
          <a:prstGeom prst="line">
            <a:avLst/>
          </a:prstGeom>
          <a:ln w="18288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itable text: CONNECTED EXPERIENCES · NOT A GEOGRAPHIC ROUTE"/>
          <p:cNvSpPr txBox="1"/>
          <p:nvPr/>
        </p:nvSpPr>
        <p:spPr>
          <a:xfrm>
            <a:off x="2693765" y="6746614"/>
            <a:ext cx="3338845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44">
                <a:solidFill>
                  <a:srgbClr val="292D29"/>
                </a:solidFill>
                <a:latin typeface="Arial"/>
              </a:rPr>
              <a:t>CONNECTED EXPERIENCES · NOT A GEOGRAPHIC ROUTE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52199" y="3289268"/>
            <a:ext cx="5446538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itable text: Arrival Garden"/>
          <p:cNvSpPr txBox="1"/>
          <p:nvPr/>
        </p:nvSpPr>
        <p:spPr>
          <a:xfrm>
            <a:off x="8452199" y="3389852"/>
            <a:ext cx="1293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Arrival Garden</a:t>
            </a:r>
          </a:p>
        </p:txBody>
      </p:sp>
      <p:sp>
        <p:nvSpPr>
          <p:cNvPr id="30" name="Editable text: A welcoming entrance with clear orientation."/>
          <p:cNvSpPr txBox="1"/>
          <p:nvPr/>
        </p:nvSpPr>
        <p:spPr>
          <a:xfrm>
            <a:off x="8452199" y="3676059"/>
            <a:ext cx="3217545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A welcoming entrance with clear orientation.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52199" y="3979640"/>
            <a:ext cx="5446538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 text: Pedestrian Promenades"/>
          <p:cNvSpPr txBox="1"/>
          <p:nvPr/>
        </p:nvSpPr>
        <p:spPr>
          <a:xfrm>
            <a:off x="8452199" y="4080224"/>
            <a:ext cx="203939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Pedestrian Promenades</a:t>
            </a:r>
          </a:p>
        </p:txBody>
      </p:sp>
      <p:sp>
        <p:nvSpPr>
          <p:cNvPr id="33" name="Editable text: Comfortable connections between tenants, activities and levels."/>
          <p:cNvSpPr txBox="1"/>
          <p:nvPr/>
        </p:nvSpPr>
        <p:spPr>
          <a:xfrm>
            <a:off x="8452199" y="4366431"/>
            <a:ext cx="4546568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Comfortable connections between tenants, activities and levels.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52199" y="4670012"/>
            <a:ext cx="5446538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ditable text: Garden Terraces"/>
          <p:cNvSpPr txBox="1"/>
          <p:nvPr/>
        </p:nvSpPr>
        <p:spPr>
          <a:xfrm>
            <a:off x="8452199" y="4770596"/>
            <a:ext cx="1477899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Garden Terraces</a:t>
            </a:r>
          </a:p>
        </p:txBody>
      </p:sp>
      <p:sp>
        <p:nvSpPr>
          <p:cNvPr id="36" name="Editable text: Places to pause, dine and observe district life."/>
          <p:cNvSpPr txBox="1"/>
          <p:nvPr/>
        </p:nvSpPr>
        <p:spPr>
          <a:xfrm>
            <a:off x="8452199" y="5056803"/>
            <a:ext cx="3332702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Places to pause, dine and observe district life.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52199" y="5360384"/>
            <a:ext cx="5446538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itable text: The Veranda"/>
          <p:cNvSpPr txBox="1"/>
          <p:nvPr/>
        </p:nvSpPr>
        <p:spPr>
          <a:xfrm>
            <a:off x="8452199" y="5460968"/>
            <a:ext cx="1178004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The Veranda</a:t>
            </a:r>
          </a:p>
        </p:txBody>
      </p:sp>
      <p:sp>
        <p:nvSpPr>
          <p:cNvPr id="39" name="Editable text: The shared gathering place and event setting."/>
          <p:cNvSpPr txBox="1"/>
          <p:nvPr/>
        </p:nvSpPr>
        <p:spPr>
          <a:xfrm>
            <a:off x="8452199" y="5747175"/>
            <a:ext cx="3332702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The shared gathering place and event setting.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52199" y="6050756"/>
            <a:ext cx="5446538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ditable text: Hospitality &amp; Retreat Spaces"/>
          <p:cNvSpPr txBox="1"/>
          <p:nvPr/>
        </p:nvSpPr>
        <p:spPr>
          <a:xfrm>
            <a:off x="8452199" y="6151340"/>
            <a:ext cx="237586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Hospitality &amp; Retreat Spaces</a:t>
            </a:r>
          </a:p>
        </p:txBody>
      </p:sp>
      <p:sp>
        <p:nvSpPr>
          <p:cNvPr id="42" name="Editable text: A quieter layer for guests to stay and unwind."/>
          <p:cNvSpPr txBox="1"/>
          <p:nvPr/>
        </p:nvSpPr>
        <p:spPr>
          <a:xfrm>
            <a:off x="8452199" y="6437547"/>
            <a:ext cx="3269265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A quieter layer for guests to stay and unwind.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45" name="Editable text: DESTINATION EXPERIENCE"/>
          <p:cNvSpPr txBox="1"/>
          <p:nvPr/>
        </p:nvSpPr>
        <p:spPr>
          <a:xfrm>
            <a:off x="12051363" y="309067"/>
            <a:ext cx="2030396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DESTINATION EXPERIENCE</a:t>
            </a:r>
          </a:p>
        </p:txBody>
      </p:sp>
      <p:sp>
        <p:nvSpPr>
          <p:cNvPr id="46" name="Editable text: Conceptual relationship diagram, not a site plan or to scale. Bas"/>
          <p:cNvSpPr txBox="1"/>
          <p:nvPr/>
        </p:nvSpPr>
        <p:spPr>
          <a:xfrm>
            <a:off x="731520" y="7338174"/>
            <a:ext cx="8999839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Conceptual relationship diagram, not a site plan or to scale. Based on the brief and supplied spatial overlay; routes and privacy buffers require architectural coordination.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ditable text: DESTINATION EXPERIENCE"/>
          <p:cNvSpPr txBox="1"/>
          <p:nvPr/>
        </p:nvSpPr>
        <p:spPr>
          <a:xfrm>
            <a:off x="731520" y="7882127"/>
            <a:ext cx="168892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DESTINATION EXPERIENCE</a:t>
            </a:r>
          </a:p>
        </p:txBody>
      </p:sp>
      <p:sp>
        <p:nvSpPr>
          <p:cNvPr id="49" name="Editable text: CONCEPTUAL DIAGRAM / 11"/>
          <p:cNvSpPr txBox="1"/>
          <p:nvPr/>
        </p:nvSpPr>
        <p:spPr>
          <a:xfrm>
            <a:off x="12182522" y="7882127"/>
            <a:ext cx="18992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CONCEPTUAL DIAGRAM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Destination experience"/>
          <p:cNvSpPr txBox="1"/>
          <p:nvPr/>
        </p:nvSpPr>
        <p:spPr>
          <a:xfrm>
            <a:off x="731520" y="911656"/>
            <a:ext cx="235200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Destination experience</a:t>
            </a:r>
          </a:p>
        </p:txBody>
      </p:sp>
      <p:sp>
        <p:nvSpPr>
          <p:cNvPr id="3" name="Editable text: Comfort makes the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Comfort makes the</a:t>
            </a:r>
          </a:p>
        </p:txBody>
      </p:sp>
      <p:sp>
        <p:nvSpPr>
          <p:cNvPr id="4" name="Editable text: experience possible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experience possible.</a:t>
            </a:r>
          </a:p>
        </p:txBody>
      </p:sp>
      <p:sp>
        <p:nvSpPr>
          <p:cNvPr id="5" name="Editable text: The tropical character comes from how a visit feels."/>
          <p:cNvSpPr txBox="1"/>
          <p:nvPr/>
        </p:nvSpPr>
        <p:spPr>
          <a:xfrm>
            <a:off x="731520" y="2738799"/>
            <a:ext cx="475430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The tropical character comes from how a visit feels.</a:t>
            </a:r>
          </a:p>
        </p:txBody>
      </p:sp>
      <p:pic>
        <p:nvPicPr>
          <p:cNvPr id="6" name="Replaceable photo: slide-3-slide-3-1.jpg" descr="slide-3-slide-3-1.jpg"/>
          <p:cNvPicPr>
            <a:picLocks noChangeAspect="1"/>
          </p:cNvPicPr>
          <p:nvPr/>
        </p:nvPicPr>
        <p:blipFill>
          <a:blip r:embed="rId2"/>
          <a:srcRect l="1710" r="1710"/>
          <a:stretch>
            <a:fillRect/>
          </a:stretch>
        </p:blipFill>
        <p:spPr>
          <a:xfrm>
            <a:off x="731520" y="3380708"/>
            <a:ext cx="6355080" cy="37033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543800" y="3380708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ditable text: 01"/>
          <p:cNvSpPr txBox="1"/>
          <p:nvPr/>
        </p:nvSpPr>
        <p:spPr>
          <a:xfrm>
            <a:off x="7543800" y="3506895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9" name="Editable text: Covered connections"/>
          <p:cNvSpPr txBox="1"/>
          <p:nvPr/>
        </p:nvSpPr>
        <p:spPr>
          <a:xfrm>
            <a:off x="7543800" y="3726351"/>
            <a:ext cx="197781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2" b="0" spc="-36">
                <a:solidFill>
                  <a:srgbClr val="292D29"/>
                </a:solidFill>
                <a:latin typeface="Arial"/>
              </a:rPr>
              <a:t>Covered connections</a:t>
            </a:r>
          </a:p>
        </p:txBody>
      </p:sp>
      <p:sp>
        <p:nvSpPr>
          <p:cNvPr id="10" name="Editable text: Protect essential journeys."/>
          <p:cNvSpPr txBox="1"/>
          <p:nvPr/>
        </p:nvSpPr>
        <p:spPr>
          <a:xfrm>
            <a:off x="7543800" y="4060107"/>
            <a:ext cx="1994677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Protect essential journeys.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881360" y="3380708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itable text: 02"/>
          <p:cNvSpPr txBox="1"/>
          <p:nvPr/>
        </p:nvSpPr>
        <p:spPr>
          <a:xfrm>
            <a:off x="10881360" y="3506895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3" name="Editable text: Shade &amp; air movement"/>
          <p:cNvSpPr txBox="1"/>
          <p:nvPr/>
        </p:nvSpPr>
        <p:spPr>
          <a:xfrm>
            <a:off x="10881360" y="3726351"/>
            <a:ext cx="2128980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2" b="0" spc="-36">
                <a:solidFill>
                  <a:srgbClr val="292D29"/>
                </a:solidFill>
                <a:latin typeface="Arial"/>
              </a:rPr>
              <a:t>Shade &amp; air movement</a:t>
            </a:r>
          </a:p>
        </p:txBody>
      </p:sp>
      <p:sp>
        <p:nvSpPr>
          <p:cNvPr id="14" name="Editable text: Support comfortable walking and seating."/>
          <p:cNvSpPr txBox="1"/>
          <p:nvPr/>
        </p:nvSpPr>
        <p:spPr>
          <a:xfrm>
            <a:off x="10881360" y="4060107"/>
            <a:ext cx="3034236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Support comfortable walking and seating.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43800" y="4651724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able text: 03"/>
          <p:cNvSpPr txBox="1"/>
          <p:nvPr/>
        </p:nvSpPr>
        <p:spPr>
          <a:xfrm>
            <a:off x="7543800" y="477791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7" name="Editable text: Vertical access"/>
          <p:cNvSpPr txBox="1"/>
          <p:nvPr/>
        </p:nvSpPr>
        <p:spPr>
          <a:xfrm>
            <a:off x="7543800" y="4997367"/>
            <a:ext cx="146546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2" b="0" spc="-36">
                <a:solidFill>
                  <a:srgbClr val="292D29"/>
                </a:solidFill>
                <a:latin typeface="Arial"/>
              </a:rPr>
              <a:t>Vertical access</a:t>
            </a:r>
          </a:p>
        </p:txBody>
      </p:sp>
      <p:sp>
        <p:nvSpPr>
          <p:cNvPr id="18" name="Editable text: Connect the different levels clearly."/>
          <p:cNvSpPr txBox="1"/>
          <p:nvPr/>
        </p:nvSpPr>
        <p:spPr>
          <a:xfrm>
            <a:off x="7543800" y="5331123"/>
            <a:ext cx="2581608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Connect the different levels clearly.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81360" y="4651724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itable text: 04"/>
          <p:cNvSpPr txBox="1"/>
          <p:nvPr/>
        </p:nvSpPr>
        <p:spPr>
          <a:xfrm>
            <a:off x="10881360" y="477791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21" name="Editable text: Family facilities"/>
          <p:cNvSpPr txBox="1"/>
          <p:nvPr/>
        </p:nvSpPr>
        <p:spPr>
          <a:xfrm>
            <a:off x="10881360" y="4997367"/>
            <a:ext cx="1457467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2" b="0" spc="-36">
                <a:solidFill>
                  <a:srgbClr val="292D29"/>
                </a:solidFill>
                <a:latin typeface="Arial"/>
              </a:rPr>
              <a:t>Family facilities</a:t>
            </a:r>
          </a:p>
        </p:txBody>
      </p:sp>
      <p:sp>
        <p:nvSpPr>
          <p:cNvPr id="22" name="Editable text: Make longer visits easier."/>
          <p:cNvSpPr txBox="1"/>
          <p:nvPr/>
        </p:nvSpPr>
        <p:spPr>
          <a:xfrm>
            <a:off x="10881360" y="5331123"/>
            <a:ext cx="1920525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Make longer visits easier.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43800" y="5922740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itable text: 05"/>
          <p:cNvSpPr txBox="1"/>
          <p:nvPr/>
        </p:nvSpPr>
        <p:spPr>
          <a:xfrm>
            <a:off x="7543800" y="6048927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05</a:t>
            </a:r>
          </a:p>
        </p:txBody>
      </p:sp>
      <p:sp>
        <p:nvSpPr>
          <p:cNvPr id="25" name="Editable text: Evening lighting"/>
          <p:cNvSpPr txBox="1"/>
          <p:nvPr/>
        </p:nvSpPr>
        <p:spPr>
          <a:xfrm>
            <a:off x="7543800" y="6268383"/>
            <a:ext cx="151761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2" b="0" spc="-36">
                <a:solidFill>
                  <a:srgbClr val="292D29"/>
                </a:solidFill>
                <a:latin typeface="Arial"/>
              </a:rPr>
              <a:t>Evening lighting</a:t>
            </a:r>
          </a:p>
        </p:txBody>
      </p:sp>
      <p:sp>
        <p:nvSpPr>
          <p:cNvPr id="26" name="Editable text: Create an inviting atmosphere."/>
          <p:cNvSpPr txBox="1"/>
          <p:nvPr/>
        </p:nvSpPr>
        <p:spPr>
          <a:xfrm>
            <a:off x="7543800" y="6602139"/>
            <a:ext cx="2282571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Create an inviting atmosphere.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881360" y="5922740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text: 06"/>
          <p:cNvSpPr txBox="1"/>
          <p:nvPr/>
        </p:nvSpPr>
        <p:spPr>
          <a:xfrm>
            <a:off x="10881360" y="6048927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06</a:t>
            </a:r>
          </a:p>
        </p:txBody>
      </p:sp>
      <p:sp>
        <p:nvSpPr>
          <p:cNvPr id="29" name="Editable text: Rain alternatives"/>
          <p:cNvSpPr txBox="1"/>
          <p:nvPr/>
        </p:nvSpPr>
        <p:spPr>
          <a:xfrm>
            <a:off x="10881360" y="6268383"/>
            <a:ext cx="1589627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2" b="0" spc="-36">
                <a:solidFill>
                  <a:srgbClr val="292D29"/>
                </a:solidFill>
                <a:latin typeface="Arial"/>
              </a:rPr>
              <a:t>Rain alternatives</a:t>
            </a:r>
          </a:p>
        </p:txBody>
      </p:sp>
      <p:sp>
        <p:nvSpPr>
          <p:cNvPr id="30" name="Editable text: Give events a workable wet-weather plan."/>
          <p:cNvSpPr txBox="1"/>
          <p:nvPr/>
        </p:nvSpPr>
        <p:spPr>
          <a:xfrm>
            <a:off x="10881360" y="6602139"/>
            <a:ext cx="3046809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Give events a workable wet-weather plan.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33" name="Editable text: DESTINATION EXPERIENCE"/>
          <p:cNvSpPr txBox="1"/>
          <p:nvPr/>
        </p:nvSpPr>
        <p:spPr>
          <a:xfrm>
            <a:off x="12051363" y="309067"/>
            <a:ext cx="2030396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DESTINATION EXPERIENCE</a:t>
            </a:r>
          </a:p>
        </p:txBody>
      </p:sp>
      <p:sp>
        <p:nvSpPr>
          <p:cNvPr id="34" name="Editable text: Design requirements for architectural validation. Building comfor"/>
          <p:cNvSpPr txBox="1"/>
          <p:nvPr/>
        </p:nvSpPr>
        <p:spPr>
          <a:xfrm>
            <a:off x="731520" y="7338174"/>
            <a:ext cx="535752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Design requirements for architectural validation. Building comfort and performance are not verified.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ditable text: DESTINATION EXPERIENCE"/>
          <p:cNvSpPr txBox="1"/>
          <p:nvPr/>
        </p:nvSpPr>
        <p:spPr>
          <a:xfrm>
            <a:off x="731520" y="7882127"/>
            <a:ext cx="168892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DESTINATION EXPERIENCE</a:t>
            </a:r>
          </a:p>
        </p:txBody>
      </p:sp>
      <p:sp>
        <p:nvSpPr>
          <p:cNvPr id="37" name="Editable text: SUPPLIED CONCEPT IMAGERY · NOT VERIFIED AS BUILT / 12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Audience &amp; visitor journeys"/>
          <p:cNvSpPr txBox="1"/>
          <p:nvPr/>
        </p:nvSpPr>
        <p:spPr>
          <a:xfrm>
            <a:off x="731520" y="911656"/>
            <a:ext cx="281835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" name="Editable text: Local life builds the foundation."/>
          <p:cNvSpPr txBox="1"/>
          <p:nvPr/>
        </p:nvSpPr>
        <p:spPr>
          <a:xfrm>
            <a:off x="731520" y="1092708"/>
            <a:ext cx="13167360" cy="9395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9"/>
              </a:lnSpc>
              <a:spcBef>
                <a:spcPts val="0"/>
              </a:spcBef>
              <a:spcAft>
                <a:spcPts val="0"/>
              </a:spcAft>
            </a:pPr>
            <a:r>
              <a:rPr sz="3722" b="0" spc="-108">
                <a:solidFill>
                  <a:srgbClr val="183D32"/>
                </a:solidFill>
                <a:latin typeface="Georgia"/>
              </a:rPr>
              <a:t>Local life builds the foundation.</a:t>
            </a:r>
          </a:p>
        </p:txBody>
      </p:sp>
      <p:sp>
        <p:nvSpPr>
          <p:cNvPr id="4" name="Editable text: Regional leisure extends the opportunity."/>
          <p:cNvSpPr txBox="1"/>
          <p:nvPr/>
        </p:nvSpPr>
        <p:spPr>
          <a:xfrm>
            <a:off x="731520" y="1605629"/>
            <a:ext cx="13167360" cy="9395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9"/>
              </a:lnSpc>
              <a:spcBef>
                <a:spcPts val="0"/>
              </a:spcBef>
              <a:spcAft>
                <a:spcPts val="0"/>
              </a:spcAft>
            </a:pPr>
            <a:r>
              <a:rPr sz="3722" b="0" spc="-108">
                <a:solidFill>
                  <a:srgbClr val="183D32"/>
                </a:solidFill>
                <a:latin typeface="Georgia"/>
              </a:rPr>
              <a:t>Regional leisure extends the opportunity.</a:t>
            </a:r>
          </a:p>
        </p:txBody>
      </p:sp>
      <p:pic>
        <p:nvPicPr>
          <p:cNvPr id="5" name="Replaceable photo: slide-3-family-slide-3.jpg" descr="slide-3-family-slide-3.jpg"/>
          <p:cNvPicPr>
            <a:picLocks noChangeAspect="1"/>
          </p:cNvPicPr>
          <p:nvPr/>
        </p:nvPicPr>
        <p:blipFill>
          <a:blip r:embed="rId2"/>
          <a:srcRect l="9989" r="9989"/>
          <a:stretch>
            <a:fillRect/>
          </a:stretch>
        </p:blipFill>
        <p:spPr>
          <a:xfrm>
            <a:off x="731520" y="2635186"/>
            <a:ext cx="3120390" cy="2194560"/>
          </a:xfrm>
          <a:prstGeom prst="rect">
            <a:avLst/>
          </a:prstGeom>
        </p:spPr>
      </p:pic>
      <p:sp>
        <p:nvSpPr>
          <p:cNvPr id="6" name="Editable text: 01"/>
          <p:cNvSpPr txBox="1"/>
          <p:nvPr/>
        </p:nvSpPr>
        <p:spPr>
          <a:xfrm>
            <a:off x="731520" y="50107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7" name="Editable text: Batam families"/>
          <p:cNvSpPr txBox="1"/>
          <p:nvPr/>
        </p:nvSpPr>
        <p:spPr>
          <a:xfrm>
            <a:off x="731520" y="5207393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Batam families</a:t>
            </a:r>
          </a:p>
        </p:txBody>
      </p:sp>
      <p:sp>
        <p:nvSpPr>
          <p:cNvPr id="8" name="Editable text: Easy, enjoyable time together."/>
          <p:cNvSpPr txBox="1"/>
          <p:nvPr/>
        </p:nvSpPr>
        <p:spPr>
          <a:xfrm>
            <a:off x="731520" y="5708484"/>
            <a:ext cx="2474880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Easy, enjoyable time together.</a:t>
            </a:r>
          </a:p>
        </p:txBody>
      </p:sp>
      <p:sp>
        <p:nvSpPr>
          <p:cNvPr id="9" name="Editable text: Family activities, dining, grocery and events."/>
          <p:cNvSpPr txBox="1"/>
          <p:nvPr/>
        </p:nvSpPr>
        <p:spPr>
          <a:xfrm>
            <a:off x="731520" y="6133680"/>
            <a:ext cx="3120390" cy="503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Family activities, dining, grocery and events.</a:t>
            </a:r>
          </a:p>
        </p:txBody>
      </p:sp>
      <p:pic>
        <p:nvPicPr>
          <p:cNvPr id="10" name="Replaceable photo: slide-3-slide-3-lg-lg.jpg" descr="slide-3-slide-3-lg-lg.jpg"/>
          <p:cNvPicPr>
            <a:picLocks noChangeAspect="1"/>
          </p:cNvPicPr>
          <p:nvPr/>
        </p:nvPicPr>
        <p:blipFill>
          <a:blip r:embed="rId3"/>
          <a:srcRect l="9989" r="9989"/>
          <a:stretch>
            <a:fillRect/>
          </a:stretch>
        </p:blipFill>
        <p:spPr>
          <a:xfrm>
            <a:off x="4080510" y="2635186"/>
            <a:ext cx="3120390" cy="2194560"/>
          </a:xfrm>
          <a:prstGeom prst="rect">
            <a:avLst/>
          </a:prstGeom>
        </p:spPr>
      </p:pic>
      <p:sp>
        <p:nvSpPr>
          <p:cNvPr id="11" name="Editable text: 02"/>
          <p:cNvSpPr txBox="1"/>
          <p:nvPr/>
        </p:nvSpPr>
        <p:spPr>
          <a:xfrm>
            <a:off x="4080510" y="50107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2" name="Editable text: Professionals &amp; social groups"/>
          <p:cNvSpPr txBox="1"/>
          <p:nvPr/>
        </p:nvSpPr>
        <p:spPr>
          <a:xfrm>
            <a:off x="4080510" y="5207393"/>
            <a:ext cx="3189255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Professionals &amp; social groups</a:t>
            </a:r>
          </a:p>
        </p:txBody>
      </p:sp>
      <p:sp>
        <p:nvSpPr>
          <p:cNvPr id="13" name="Editable text: Places to meet and unwind."/>
          <p:cNvSpPr txBox="1"/>
          <p:nvPr/>
        </p:nvSpPr>
        <p:spPr>
          <a:xfrm>
            <a:off x="4080510" y="5708484"/>
            <a:ext cx="2306859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Places to meet and unwind.</a:t>
            </a:r>
          </a:p>
        </p:txBody>
      </p:sp>
      <p:sp>
        <p:nvSpPr>
          <p:cNvPr id="14" name="Editable text: Cafés, lunch, fitness and evening dining."/>
          <p:cNvSpPr txBox="1"/>
          <p:nvPr/>
        </p:nvSpPr>
        <p:spPr>
          <a:xfrm>
            <a:off x="4080510" y="6133680"/>
            <a:ext cx="3284696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Cafés, lunch, fitness and evening dining.</a:t>
            </a:r>
          </a:p>
        </p:txBody>
      </p:sp>
      <p:pic>
        <p:nvPicPr>
          <p:cNvPr id="15" name="Replaceable photo: slide-14-event-pet.jpg" descr="slide-14-event-pet.jpg"/>
          <p:cNvPicPr>
            <a:picLocks noChangeAspect="1"/>
          </p:cNvPicPr>
          <p:nvPr/>
        </p:nvPicPr>
        <p:blipFill>
          <a:blip r:embed="rId4"/>
          <a:srcRect l="9989" r="9989"/>
          <a:stretch>
            <a:fillRect/>
          </a:stretch>
        </p:blipFill>
        <p:spPr>
          <a:xfrm>
            <a:off x="7429500" y="2635186"/>
            <a:ext cx="3120390" cy="2194560"/>
          </a:xfrm>
          <a:prstGeom prst="rect">
            <a:avLst/>
          </a:prstGeom>
        </p:spPr>
      </p:pic>
      <p:sp>
        <p:nvSpPr>
          <p:cNvPr id="16" name="Editable text: 03"/>
          <p:cNvSpPr txBox="1"/>
          <p:nvPr/>
        </p:nvSpPr>
        <p:spPr>
          <a:xfrm>
            <a:off x="7429500" y="50107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7" name="Editable text: Local communities"/>
          <p:cNvSpPr txBox="1"/>
          <p:nvPr/>
        </p:nvSpPr>
        <p:spPr>
          <a:xfrm>
            <a:off x="7429500" y="5207393"/>
            <a:ext cx="312039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Local communities</a:t>
            </a:r>
          </a:p>
        </p:txBody>
      </p:sp>
      <p:sp>
        <p:nvSpPr>
          <p:cNvPr id="18" name="Editable text: A welcoming place to return to."/>
          <p:cNvSpPr txBox="1"/>
          <p:nvPr/>
        </p:nvSpPr>
        <p:spPr>
          <a:xfrm>
            <a:off x="7429500" y="5708484"/>
            <a:ext cx="2555033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A welcoming place to return to.</a:t>
            </a:r>
          </a:p>
        </p:txBody>
      </p:sp>
      <p:sp>
        <p:nvSpPr>
          <p:cNvPr id="19" name="Editable text: Workshops, markets, gatherings and performances."/>
          <p:cNvSpPr txBox="1"/>
          <p:nvPr/>
        </p:nvSpPr>
        <p:spPr>
          <a:xfrm>
            <a:off x="7429500" y="6133680"/>
            <a:ext cx="3120390" cy="503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Workshops, markets, gatherings and performances.</a:t>
            </a:r>
          </a:p>
        </p:txBody>
      </p:sp>
      <p:pic>
        <p:nvPicPr>
          <p:cNvPr id="20" name="Replaceable photo: slide-15-kmkl.jpg" descr="slide-15-kmkl.jpg"/>
          <p:cNvPicPr>
            <a:picLocks noChangeAspect="1"/>
          </p:cNvPicPr>
          <p:nvPr/>
        </p:nvPicPr>
        <p:blipFill>
          <a:blip r:embed="rId5"/>
          <a:srcRect l="9989" r="9989"/>
          <a:stretch>
            <a:fillRect/>
          </a:stretch>
        </p:blipFill>
        <p:spPr>
          <a:xfrm>
            <a:off x="10778490" y="2635186"/>
            <a:ext cx="3120390" cy="2194560"/>
          </a:xfrm>
          <a:prstGeom prst="rect">
            <a:avLst/>
          </a:prstGeom>
        </p:spPr>
      </p:pic>
      <p:sp>
        <p:nvSpPr>
          <p:cNvPr id="21" name="Editable text: 04"/>
          <p:cNvSpPr txBox="1"/>
          <p:nvPr/>
        </p:nvSpPr>
        <p:spPr>
          <a:xfrm>
            <a:off x="10778490" y="501079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22" name="Editable text: Regional visitors &amp; hotel guests"/>
          <p:cNvSpPr txBox="1"/>
          <p:nvPr/>
        </p:nvSpPr>
        <p:spPr>
          <a:xfrm>
            <a:off x="10778490" y="5207393"/>
            <a:ext cx="3120390" cy="806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 spc="-36">
                <a:solidFill>
                  <a:srgbClr val="292D29"/>
                </a:solidFill>
                <a:latin typeface="Georgia"/>
              </a:rPr>
              <a:t>Regional visitors &amp; hotel guests</a:t>
            </a:r>
          </a:p>
        </p:txBody>
      </p:sp>
      <p:sp>
        <p:nvSpPr>
          <p:cNvPr id="23" name="Editable text: A worthwhile short stay."/>
          <p:cNvSpPr txBox="1"/>
          <p:nvPr/>
        </p:nvSpPr>
        <p:spPr>
          <a:xfrm>
            <a:off x="10778490" y="6055956"/>
            <a:ext cx="2005965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A worthwhile short stay.</a:t>
            </a:r>
          </a:p>
        </p:txBody>
      </p:sp>
      <p:sp>
        <p:nvSpPr>
          <p:cNvPr id="24" name="Editable text: Culinary discovery, hospitality and signature programmes."/>
          <p:cNvSpPr txBox="1"/>
          <p:nvPr/>
        </p:nvSpPr>
        <p:spPr>
          <a:xfrm>
            <a:off x="10778490" y="6481152"/>
            <a:ext cx="3120390" cy="503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Culinary discovery, hospitality and signature programmes.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7" name="Editable text: AUDIENCE &amp; VISITOR JOURNEYS"/>
          <p:cNvSpPr txBox="1"/>
          <p:nvPr/>
        </p:nvSpPr>
        <p:spPr>
          <a:xfrm>
            <a:off x="11656028" y="309067"/>
            <a:ext cx="242573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itable text: AUDIENCE &amp; VISITOR JOURNEYS"/>
          <p:cNvSpPr txBox="1"/>
          <p:nvPr/>
        </p:nvSpPr>
        <p:spPr>
          <a:xfrm>
            <a:off x="731520" y="7882127"/>
            <a:ext cx="201067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0" name="Editable text: SUPPLIED CONCEPT IMAGERY · NOT VERIFIED AS BUILT / 13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HE LOCAL FAMILY JOURNEY"/>
          <p:cNvSpPr txBox="1"/>
          <p:nvPr/>
        </p:nvSpPr>
        <p:spPr>
          <a:xfrm>
            <a:off x="731520" y="911656"/>
            <a:ext cx="253031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THE LOCAL FAMILY JOURNEY</a:t>
            </a:r>
          </a:p>
        </p:txBody>
      </p:sp>
      <p:sp>
        <p:nvSpPr>
          <p:cNvPr id="3" name="Editable text: A family afternoon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A family afternoon</a:t>
            </a:r>
          </a:p>
        </p:txBody>
      </p:sp>
      <p:sp>
        <p:nvSpPr>
          <p:cNvPr id="4" name="Editable text: that grows into an evening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that grows into an evening.</a:t>
            </a:r>
          </a:p>
        </p:txBody>
      </p:sp>
      <p:pic>
        <p:nvPicPr>
          <p:cNvPr id="5" name="Replaceable photo: slide-1-cover-cover.jpg" descr="slide-1-cover-cover.jpg"/>
          <p:cNvPicPr>
            <a:picLocks noChangeAspect="1"/>
          </p:cNvPicPr>
          <p:nvPr/>
        </p:nvPicPr>
        <p:blipFill>
          <a:blip r:embed="rId2"/>
          <a:srcRect l="18759" r="18759"/>
          <a:stretch>
            <a:fillRect/>
          </a:stretch>
        </p:blipFill>
        <p:spPr>
          <a:xfrm>
            <a:off x="731520" y="2923508"/>
            <a:ext cx="2487168" cy="2240280"/>
          </a:xfrm>
          <a:prstGeom prst="rect">
            <a:avLst/>
          </a:prstGeom>
        </p:spPr>
      </p:pic>
      <p:sp>
        <p:nvSpPr>
          <p:cNvPr id="6" name="Editable text: 01"/>
          <p:cNvSpPr txBox="1"/>
          <p:nvPr/>
        </p:nvSpPr>
        <p:spPr>
          <a:xfrm>
            <a:off x="731520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7" name="Editable text: Arrival"/>
          <p:cNvSpPr txBox="1"/>
          <p:nvPr/>
        </p:nvSpPr>
        <p:spPr>
          <a:xfrm>
            <a:off x="731520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Arrival</a:t>
            </a:r>
          </a:p>
        </p:txBody>
      </p:sp>
      <p:sp>
        <p:nvSpPr>
          <p:cNvPr id="8" name="Editable text: Clear parking access and an easy route in."/>
          <p:cNvSpPr txBox="1"/>
          <p:nvPr/>
        </p:nvSpPr>
        <p:spPr>
          <a:xfrm>
            <a:off x="731520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Clear parking access and an easy route in.</a:t>
            </a:r>
          </a:p>
        </p:txBody>
      </p:sp>
      <p:sp>
        <p:nvSpPr>
          <p:cNvPr id="9" name="Editable text: →"/>
          <p:cNvSpPr txBox="1"/>
          <p:nvPr/>
        </p:nvSpPr>
        <p:spPr>
          <a:xfrm>
            <a:off x="3182112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10" name="Replaceable photo: slide-14-kids.jpg" descr="slide-14-kids.jpg"/>
          <p:cNvPicPr>
            <a:picLocks noChangeAspect="1"/>
          </p:cNvPicPr>
          <p:nvPr/>
        </p:nvPicPr>
        <p:blipFill>
          <a:blip r:embed="rId3"/>
          <a:srcRect l="18759" r="18759"/>
          <a:stretch>
            <a:fillRect/>
          </a:stretch>
        </p:blipFill>
        <p:spPr>
          <a:xfrm>
            <a:off x="3401568" y="2923508"/>
            <a:ext cx="2487168" cy="2240280"/>
          </a:xfrm>
          <a:prstGeom prst="rect">
            <a:avLst/>
          </a:prstGeom>
        </p:spPr>
      </p:pic>
      <p:sp>
        <p:nvSpPr>
          <p:cNvPr id="11" name="Editable text: 02"/>
          <p:cNvSpPr txBox="1"/>
          <p:nvPr/>
        </p:nvSpPr>
        <p:spPr>
          <a:xfrm>
            <a:off x="3401568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2" name="Editable text: Activity"/>
          <p:cNvSpPr txBox="1"/>
          <p:nvPr/>
        </p:nvSpPr>
        <p:spPr>
          <a:xfrm>
            <a:off x="3401568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Activity</a:t>
            </a:r>
          </a:p>
        </p:txBody>
      </p:sp>
      <p:sp>
        <p:nvSpPr>
          <p:cNvPr id="13" name="Editable text: Appropriate play or learning experiences."/>
          <p:cNvSpPr txBox="1"/>
          <p:nvPr/>
        </p:nvSpPr>
        <p:spPr>
          <a:xfrm>
            <a:off x="3401568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Appropriate play or learning experiences.</a:t>
            </a:r>
          </a:p>
        </p:txBody>
      </p:sp>
      <p:sp>
        <p:nvSpPr>
          <p:cNvPr id="14" name="Editable text: →"/>
          <p:cNvSpPr txBox="1"/>
          <p:nvPr/>
        </p:nvSpPr>
        <p:spPr>
          <a:xfrm>
            <a:off x="5852160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15" name="Replaceable photo: slide-14-ortu.jpg" descr="slide-14-ortu.jpg"/>
          <p:cNvPicPr>
            <a:picLocks noChangeAspect="1"/>
          </p:cNvPicPr>
          <p:nvPr/>
        </p:nvPicPr>
        <p:blipFill>
          <a:blip r:embed="rId4"/>
          <a:srcRect l="18759" r="18759"/>
          <a:stretch>
            <a:fillRect/>
          </a:stretch>
        </p:blipFill>
        <p:spPr>
          <a:xfrm>
            <a:off x="6071616" y="2923508"/>
            <a:ext cx="2487168" cy="2240280"/>
          </a:xfrm>
          <a:prstGeom prst="rect">
            <a:avLst/>
          </a:prstGeom>
        </p:spPr>
      </p:pic>
      <p:sp>
        <p:nvSpPr>
          <p:cNvPr id="16" name="Editable text: 03"/>
          <p:cNvSpPr txBox="1"/>
          <p:nvPr/>
        </p:nvSpPr>
        <p:spPr>
          <a:xfrm>
            <a:off x="6071616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7" name="Editable text: Time Nearby"/>
          <p:cNvSpPr txBox="1"/>
          <p:nvPr/>
        </p:nvSpPr>
        <p:spPr>
          <a:xfrm>
            <a:off x="6071616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Time Nearby</a:t>
            </a:r>
          </a:p>
        </p:txBody>
      </p:sp>
      <p:sp>
        <p:nvSpPr>
          <p:cNvPr id="18" name="Editable text: Parents enjoy a café or browse nearby retail."/>
          <p:cNvSpPr txBox="1"/>
          <p:nvPr/>
        </p:nvSpPr>
        <p:spPr>
          <a:xfrm>
            <a:off x="6071616" y="6069958"/>
            <a:ext cx="2561034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Parents enjoy a café or browse nearby retail.</a:t>
            </a:r>
          </a:p>
        </p:txBody>
      </p:sp>
      <p:sp>
        <p:nvSpPr>
          <p:cNvPr id="19" name="Editable text: →"/>
          <p:cNvSpPr txBox="1"/>
          <p:nvPr/>
        </p:nvSpPr>
        <p:spPr>
          <a:xfrm>
            <a:off x="8522208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20" name="Replaceable photo: slide-3-family-slide-3.jpg" descr="slide-3-family-slide-3.jpg"/>
          <p:cNvPicPr>
            <a:picLocks noChangeAspect="1"/>
          </p:cNvPicPr>
          <p:nvPr/>
        </p:nvPicPr>
        <p:blipFill>
          <a:blip r:embed="rId5"/>
          <a:srcRect l="18759" r="18759"/>
          <a:stretch>
            <a:fillRect/>
          </a:stretch>
        </p:blipFill>
        <p:spPr>
          <a:xfrm>
            <a:off x="8741664" y="2923508"/>
            <a:ext cx="2487168" cy="2240280"/>
          </a:xfrm>
          <a:prstGeom prst="rect">
            <a:avLst/>
          </a:prstGeom>
        </p:spPr>
      </p:pic>
      <p:sp>
        <p:nvSpPr>
          <p:cNvPr id="21" name="Editable text: 04"/>
          <p:cNvSpPr txBox="1"/>
          <p:nvPr/>
        </p:nvSpPr>
        <p:spPr>
          <a:xfrm>
            <a:off x="8741664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22" name="Editable text: Reunion"/>
          <p:cNvSpPr txBox="1"/>
          <p:nvPr/>
        </p:nvSpPr>
        <p:spPr>
          <a:xfrm>
            <a:off x="8741664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Reunion</a:t>
            </a:r>
          </a:p>
        </p:txBody>
      </p:sp>
      <p:sp>
        <p:nvSpPr>
          <p:cNvPr id="23" name="Editable text: Meet again for a meal."/>
          <p:cNvSpPr txBox="1"/>
          <p:nvPr/>
        </p:nvSpPr>
        <p:spPr>
          <a:xfrm>
            <a:off x="8741664" y="6069958"/>
            <a:ext cx="1900809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Meet again for a meal.</a:t>
            </a:r>
          </a:p>
        </p:txBody>
      </p:sp>
      <p:sp>
        <p:nvSpPr>
          <p:cNvPr id="24" name="Editable text: →"/>
          <p:cNvSpPr txBox="1"/>
          <p:nvPr/>
        </p:nvSpPr>
        <p:spPr>
          <a:xfrm>
            <a:off x="11192256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25" name="Replaceable photo: slide-14-event-pet.jpg" descr="slide-14-event-pet.jpg"/>
          <p:cNvPicPr>
            <a:picLocks noChangeAspect="1"/>
          </p:cNvPicPr>
          <p:nvPr/>
        </p:nvPicPr>
        <p:blipFill>
          <a:blip r:embed="rId6"/>
          <a:srcRect l="18759" r="18759"/>
          <a:stretch>
            <a:fillRect/>
          </a:stretch>
        </p:blipFill>
        <p:spPr>
          <a:xfrm>
            <a:off x="11411712" y="2923508"/>
            <a:ext cx="2487168" cy="2240280"/>
          </a:xfrm>
          <a:prstGeom prst="rect">
            <a:avLst/>
          </a:prstGeom>
        </p:spPr>
      </p:pic>
      <p:sp>
        <p:nvSpPr>
          <p:cNvPr id="26" name="Editable text: 05"/>
          <p:cNvSpPr txBox="1"/>
          <p:nvPr/>
        </p:nvSpPr>
        <p:spPr>
          <a:xfrm>
            <a:off x="11411712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05</a:t>
            </a:r>
          </a:p>
        </p:txBody>
      </p:sp>
      <p:sp>
        <p:nvSpPr>
          <p:cNvPr id="27" name="Editable text: Shared Moment"/>
          <p:cNvSpPr txBox="1"/>
          <p:nvPr/>
        </p:nvSpPr>
        <p:spPr>
          <a:xfrm>
            <a:off x="11411712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Shared Moment</a:t>
            </a:r>
          </a:p>
        </p:txBody>
      </p:sp>
      <p:sp>
        <p:nvSpPr>
          <p:cNvPr id="28" name="Editable text: A programme at The Veranda extends the day."/>
          <p:cNvSpPr txBox="1"/>
          <p:nvPr/>
        </p:nvSpPr>
        <p:spPr>
          <a:xfrm>
            <a:off x="11411712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A programme at The Veranda extends the day.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31" name="Editable text: AUDIENCE &amp; VISITOR JOURNEYS"/>
          <p:cNvSpPr txBox="1"/>
          <p:nvPr/>
        </p:nvSpPr>
        <p:spPr>
          <a:xfrm>
            <a:off x="11656028" y="309067"/>
            <a:ext cx="242573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2" name="Editable text: Proposed journey. Distinguish shared family activities from child"/>
          <p:cNvSpPr txBox="1"/>
          <p:nvPr/>
        </p:nvSpPr>
        <p:spPr>
          <a:xfrm>
            <a:off x="731520" y="7338174"/>
            <a:ext cx="5954029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Proposed journey. Distinguish shared family activities from children’s activities requiring managed supervision.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ditable text: AUDIENCE &amp; VISITOR JOURNEYS"/>
          <p:cNvSpPr txBox="1"/>
          <p:nvPr/>
        </p:nvSpPr>
        <p:spPr>
          <a:xfrm>
            <a:off x="731520" y="7882127"/>
            <a:ext cx="201067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5" name="Editable text: SUPPLIED CONCEPT IMAGERY · NOT VERIFIED AS BUILT / 14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HE REGIONAL GUEST JOURNEY"/>
          <p:cNvSpPr txBox="1"/>
          <p:nvPr/>
        </p:nvSpPr>
        <p:spPr>
          <a:xfrm>
            <a:off x="731520" y="911656"/>
            <a:ext cx="281163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THE REGIONAL GUEST JOURNEY</a:t>
            </a:r>
          </a:p>
        </p:txBody>
      </p:sp>
      <p:sp>
        <p:nvSpPr>
          <p:cNvPr id="3" name="Editable text: A stay with more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A stay with more</a:t>
            </a:r>
          </a:p>
        </p:txBody>
      </p:sp>
      <p:sp>
        <p:nvSpPr>
          <p:cNvPr id="4" name="Editable text: of Batam in it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of Batam in it.</a:t>
            </a:r>
          </a:p>
        </p:txBody>
      </p:sp>
      <p:pic>
        <p:nvPicPr>
          <p:cNvPr id="5" name="Replaceable photo: slide-15-kmkl.jpg" descr="slide-15-kmkl.jpg"/>
          <p:cNvPicPr>
            <a:picLocks noChangeAspect="1"/>
          </p:cNvPicPr>
          <p:nvPr/>
        </p:nvPicPr>
        <p:blipFill>
          <a:blip r:embed="rId2"/>
          <a:srcRect l="18759" r="18759"/>
          <a:stretch>
            <a:fillRect/>
          </a:stretch>
        </p:blipFill>
        <p:spPr>
          <a:xfrm>
            <a:off x="731520" y="2923508"/>
            <a:ext cx="2487168" cy="2240280"/>
          </a:xfrm>
          <a:prstGeom prst="rect">
            <a:avLst/>
          </a:prstGeom>
        </p:spPr>
      </p:pic>
      <p:sp>
        <p:nvSpPr>
          <p:cNvPr id="6" name="Editable text: 01"/>
          <p:cNvSpPr txBox="1"/>
          <p:nvPr/>
        </p:nvSpPr>
        <p:spPr>
          <a:xfrm>
            <a:off x="731520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7" name="Editable text: Check In"/>
          <p:cNvSpPr txBox="1"/>
          <p:nvPr/>
        </p:nvSpPr>
        <p:spPr>
          <a:xfrm>
            <a:off x="731520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Check In</a:t>
            </a:r>
          </a:p>
        </p:txBody>
      </p:sp>
      <p:sp>
        <p:nvSpPr>
          <p:cNvPr id="8" name="Editable text: Settle in and discover the district programme."/>
          <p:cNvSpPr txBox="1"/>
          <p:nvPr/>
        </p:nvSpPr>
        <p:spPr>
          <a:xfrm>
            <a:off x="731520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Settle in and discover the district programme.</a:t>
            </a:r>
          </a:p>
        </p:txBody>
      </p:sp>
      <p:sp>
        <p:nvSpPr>
          <p:cNvPr id="9" name="Editable text: →"/>
          <p:cNvSpPr txBox="1"/>
          <p:nvPr/>
        </p:nvSpPr>
        <p:spPr>
          <a:xfrm>
            <a:off x="3182112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10" name="Replaceable photo: slide-19-event.jpg" descr="slide-19-event.jpg"/>
          <p:cNvPicPr>
            <a:picLocks noChangeAspect="1"/>
          </p:cNvPicPr>
          <p:nvPr/>
        </p:nvPicPr>
        <p:blipFill>
          <a:blip r:embed="rId3"/>
          <a:srcRect l="18759" r="18759"/>
          <a:stretch>
            <a:fillRect/>
          </a:stretch>
        </p:blipFill>
        <p:spPr>
          <a:xfrm>
            <a:off x="3401568" y="2923508"/>
            <a:ext cx="2487168" cy="2240280"/>
          </a:xfrm>
          <a:prstGeom prst="rect">
            <a:avLst/>
          </a:prstGeom>
        </p:spPr>
      </p:pic>
      <p:sp>
        <p:nvSpPr>
          <p:cNvPr id="11" name="Editable text: 02"/>
          <p:cNvSpPr txBox="1"/>
          <p:nvPr/>
        </p:nvSpPr>
        <p:spPr>
          <a:xfrm>
            <a:off x="3401568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2" name="Editable text: Taste"/>
          <p:cNvSpPr txBox="1"/>
          <p:nvPr/>
        </p:nvSpPr>
        <p:spPr>
          <a:xfrm>
            <a:off x="3401568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Taste</a:t>
            </a:r>
          </a:p>
        </p:txBody>
      </p:sp>
      <p:sp>
        <p:nvSpPr>
          <p:cNvPr id="13" name="Editable text: Explore Indonesian food and seafood."/>
          <p:cNvSpPr txBox="1"/>
          <p:nvPr/>
        </p:nvSpPr>
        <p:spPr>
          <a:xfrm>
            <a:off x="3401568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Explore Indonesian food and seafood.</a:t>
            </a:r>
          </a:p>
        </p:txBody>
      </p:sp>
      <p:sp>
        <p:nvSpPr>
          <p:cNvPr id="14" name="Editable text: →"/>
          <p:cNvSpPr txBox="1"/>
          <p:nvPr/>
        </p:nvSpPr>
        <p:spPr>
          <a:xfrm>
            <a:off x="5852160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15" name="Replaceable photo: slide-15-vranda.jpg" descr="slide-15-vranda.jpg"/>
          <p:cNvPicPr>
            <a:picLocks noChangeAspect="1"/>
          </p:cNvPicPr>
          <p:nvPr/>
        </p:nvPicPr>
        <p:blipFill>
          <a:blip r:embed="rId4"/>
          <a:srcRect l="18759" r="18759"/>
          <a:stretch>
            <a:fillRect/>
          </a:stretch>
        </p:blipFill>
        <p:spPr>
          <a:xfrm>
            <a:off x="6071616" y="2923508"/>
            <a:ext cx="2487168" cy="2240280"/>
          </a:xfrm>
          <a:prstGeom prst="rect">
            <a:avLst/>
          </a:prstGeom>
        </p:spPr>
      </p:pic>
      <p:sp>
        <p:nvSpPr>
          <p:cNvPr id="16" name="Editable text: 03"/>
          <p:cNvSpPr txBox="1"/>
          <p:nvPr/>
        </p:nvSpPr>
        <p:spPr>
          <a:xfrm>
            <a:off x="6071616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7" name="Editable text: Gather"/>
          <p:cNvSpPr txBox="1"/>
          <p:nvPr/>
        </p:nvSpPr>
        <p:spPr>
          <a:xfrm>
            <a:off x="6071616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Gather</a:t>
            </a:r>
          </a:p>
        </p:txBody>
      </p:sp>
      <p:sp>
        <p:nvSpPr>
          <p:cNvPr id="18" name="Editable text: Enjoy an evening at The Veranda."/>
          <p:cNvSpPr txBox="1"/>
          <p:nvPr/>
        </p:nvSpPr>
        <p:spPr>
          <a:xfrm>
            <a:off x="6071616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Enjoy an evening at The Veranda.</a:t>
            </a:r>
          </a:p>
        </p:txBody>
      </p:sp>
      <p:sp>
        <p:nvSpPr>
          <p:cNvPr id="19" name="Editable text: →"/>
          <p:cNvSpPr txBox="1"/>
          <p:nvPr/>
        </p:nvSpPr>
        <p:spPr>
          <a:xfrm>
            <a:off x="8522208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20" name="Replaceable photo: slide-15-njzjcnzx.jpg" descr="slide-15-njzjcnzx.jpg"/>
          <p:cNvPicPr>
            <a:picLocks noChangeAspect="1"/>
          </p:cNvPicPr>
          <p:nvPr/>
        </p:nvPicPr>
        <p:blipFill>
          <a:blip r:embed="rId5"/>
          <a:srcRect l="18759" r="18759"/>
          <a:stretch>
            <a:fillRect/>
          </a:stretch>
        </p:blipFill>
        <p:spPr>
          <a:xfrm>
            <a:off x="8741664" y="2923508"/>
            <a:ext cx="2487168" cy="2240280"/>
          </a:xfrm>
          <a:prstGeom prst="rect">
            <a:avLst/>
          </a:prstGeom>
        </p:spPr>
      </p:pic>
      <p:sp>
        <p:nvSpPr>
          <p:cNvPr id="21" name="Editable text: 04"/>
          <p:cNvSpPr txBox="1"/>
          <p:nvPr/>
        </p:nvSpPr>
        <p:spPr>
          <a:xfrm>
            <a:off x="8741664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22" name="Editable text: Unwind"/>
          <p:cNvSpPr txBox="1"/>
          <p:nvPr/>
        </p:nvSpPr>
        <p:spPr>
          <a:xfrm>
            <a:off x="8741664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Unwind</a:t>
            </a:r>
          </a:p>
        </p:txBody>
      </p:sp>
      <p:sp>
        <p:nvSpPr>
          <p:cNvPr id="23" name="Editable text: Choose quieter leisure or wellness."/>
          <p:cNvSpPr txBox="1"/>
          <p:nvPr/>
        </p:nvSpPr>
        <p:spPr>
          <a:xfrm>
            <a:off x="8741664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Choose quieter leisure or wellness.</a:t>
            </a:r>
          </a:p>
        </p:txBody>
      </p:sp>
      <p:sp>
        <p:nvSpPr>
          <p:cNvPr id="24" name="Editable text: →"/>
          <p:cNvSpPr txBox="1"/>
          <p:nvPr/>
        </p:nvSpPr>
        <p:spPr>
          <a:xfrm>
            <a:off x="11192256" y="5374100"/>
            <a:ext cx="5029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6D8767"/>
                </a:solidFill>
                <a:latin typeface="Arial"/>
              </a:rPr>
              <a:t>→</a:t>
            </a:r>
          </a:p>
        </p:txBody>
      </p:sp>
      <p:pic>
        <p:nvPicPr>
          <p:cNvPr id="25" name="Replaceable photo: slide-2-nagoya-hill.jpg" descr="slide-2-nagoya-hill.jpg"/>
          <p:cNvPicPr>
            <a:picLocks noChangeAspect="1"/>
          </p:cNvPicPr>
          <p:nvPr/>
        </p:nvPicPr>
        <p:blipFill>
          <a:blip r:embed="rId6"/>
          <a:srcRect t="19975" b="19975"/>
          <a:stretch>
            <a:fillRect/>
          </a:stretch>
        </p:blipFill>
        <p:spPr>
          <a:xfrm>
            <a:off x="11411712" y="2923508"/>
            <a:ext cx="2487168" cy="2240280"/>
          </a:xfrm>
          <a:prstGeom prst="rect">
            <a:avLst/>
          </a:prstGeom>
        </p:spPr>
      </p:pic>
      <p:sp>
        <p:nvSpPr>
          <p:cNvPr id="26" name="Editable text: 05"/>
          <p:cNvSpPr txBox="1"/>
          <p:nvPr/>
        </p:nvSpPr>
        <p:spPr>
          <a:xfrm>
            <a:off x="11411712" y="534483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05</a:t>
            </a:r>
          </a:p>
        </p:txBody>
      </p:sp>
      <p:sp>
        <p:nvSpPr>
          <p:cNvPr id="27" name="Editable text: Discover Further"/>
          <p:cNvSpPr txBox="1"/>
          <p:nvPr/>
        </p:nvSpPr>
        <p:spPr>
          <a:xfrm>
            <a:off x="11411712" y="553960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Discover Further</a:t>
            </a:r>
          </a:p>
        </p:txBody>
      </p:sp>
      <p:sp>
        <p:nvSpPr>
          <p:cNvPr id="28" name="Editable text: Explore a curated Batam itinerary."/>
          <p:cNvSpPr txBox="1"/>
          <p:nvPr/>
        </p:nvSpPr>
        <p:spPr>
          <a:xfrm>
            <a:off x="11411712" y="606995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Explore a curated Batam itinerary.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31" name="Editable text: AUDIENCE &amp; VISITOR JOURNEYS"/>
          <p:cNvSpPr txBox="1"/>
          <p:nvPr/>
        </p:nvSpPr>
        <p:spPr>
          <a:xfrm>
            <a:off x="11656028" y="309067"/>
            <a:ext cx="242573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2" name="Editable text: Proposed journey; tourism partner arrangements remain to be devel"/>
          <p:cNvSpPr txBox="1"/>
          <p:nvPr/>
        </p:nvSpPr>
        <p:spPr>
          <a:xfrm>
            <a:off x="731520" y="7338174"/>
            <a:ext cx="7395781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Proposed journey; tourism partner arrangements remain to be developed. Final image is a supplied city reference, not a KALINDO facility.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ditable text: AUDIENCE &amp; VISITOR JOURNEYS"/>
          <p:cNvSpPr txBox="1"/>
          <p:nvPr/>
        </p:nvSpPr>
        <p:spPr>
          <a:xfrm>
            <a:off x="731520" y="7882127"/>
            <a:ext cx="201067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5" name="Editable text: SUPPLIED CONCEPT IMAGERY · NOT VERIFIED AS BUILT / 15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Audience &amp; visitor journeys"/>
          <p:cNvSpPr txBox="1"/>
          <p:nvPr/>
        </p:nvSpPr>
        <p:spPr>
          <a:xfrm>
            <a:off x="731520" y="911656"/>
            <a:ext cx="281835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" name="Editable text: Different reasons to visit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Different reasons to visit</a:t>
            </a:r>
          </a:p>
        </p:txBody>
      </p:sp>
      <p:sp>
        <p:nvSpPr>
          <p:cNvPr id="4" name="Editable text: throughout the day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throughout the day.</a:t>
            </a:r>
          </a:p>
        </p:txBody>
      </p:sp>
      <p:pic>
        <p:nvPicPr>
          <p:cNvPr id="5" name="Replaceable photo: slide-3-slide-3-1.jpg" descr="slide-3-slide-3-1.jpg"/>
          <p:cNvPicPr>
            <a:picLocks noChangeAspect="1"/>
          </p:cNvPicPr>
          <p:nvPr/>
        </p:nvPicPr>
        <p:blipFill>
          <a:blip r:embed="rId2"/>
          <a:srcRect l="20561" r="20561"/>
          <a:stretch>
            <a:fillRect/>
          </a:stretch>
        </p:blipFill>
        <p:spPr>
          <a:xfrm>
            <a:off x="731520" y="2923508"/>
            <a:ext cx="2487168" cy="2377440"/>
          </a:xfrm>
          <a:prstGeom prst="rect">
            <a:avLst/>
          </a:prstGeom>
        </p:spPr>
      </p:pic>
      <p:sp>
        <p:nvSpPr>
          <p:cNvPr id="6" name="Editable text: 01"/>
          <p:cNvSpPr txBox="1"/>
          <p:nvPr/>
        </p:nvSpPr>
        <p:spPr>
          <a:xfrm>
            <a:off x="731520" y="548199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7" name="Editable text: Morning"/>
          <p:cNvSpPr txBox="1"/>
          <p:nvPr/>
        </p:nvSpPr>
        <p:spPr>
          <a:xfrm>
            <a:off x="731520" y="567676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Morning</a:t>
            </a:r>
          </a:p>
        </p:txBody>
      </p:sp>
      <p:sp>
        <p:nvSpPr>
          <p:cNvPr id="8" name="Editable text: Breakfast · coffee · fitness · everyday shopping"/>
          <p:cNvSpPr txBox="1"/>
          <p:nvPr/>
        </p:nvSpPr>
        <p:spPr>
          <a:xfrm>
            <a:off x="731520" y="620711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Breakfast · coffee · fitness · everyday shopping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6873716"/>
            <a:ext cx="2487168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ditable text: Build recurring routines."/>
          <p:cNvSpPr txBox="1"/>
          <p:nvPr/>
        </p:nvSpPr>
        <p:spPr>
          <a:xfrm>
            <a:off x="731520" y="7032821"/>
            <a:ext cx="172292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Build recurring routines.</a:t>
            </a:r>
          </a:p>
        </p:txBody>
      </p:sp>
      <p:pic>
        <p:nvPicPr>
          <p:cNvPr id="11" name="Replaceable photo: slide-4-tropica.jpg" descr="slide-4-tropica.jpg"/>
          <p:cNvPicPr>
            <a:picLocks noChangeAspect="1"/>
          </p:cNvPicPr>
          <p:nvPr/>
        </p:nvPicPr>
        <p:blipFill>
          <a:blip r:embed="rId3"/>
          <a:srcRect l="20561" r="20561"/>
          <a:stretch>
            <a:fillRect/>
          </a:stretch>
        </p:blipFill>
        <p:spPr>
          <a:xfrm>
            <a:off x="3401568" y="2923508"/>
            <a:ext cx="2487168" cy="2377440"/>
          </a:xfrm>
          <a:prstGeom prst="rect">
            <a:avLst/>
          </a:prstGeom>
        </p:spPr>
      </p:pic>
      <p:sp>
        <p:nvSpPr>
          <p:cNvPr id="12" name="Editable text: 02"/>
          <p:cNvSpPr txBox="1"/>
          <p:nvPr/>
        </p:nvSpPr>
        <p:spPr>
          <a:xfrm>
            <a:off x="3401568" y="548199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3" name="Editable text: Midday"/>
          <p:cNvSpPr txBox="1"/>
          <p:nvPr/>
        </p:nvSpPr>
        <p:spPr>
          <a:xfrm>
            <a:off x="3401568" y="567676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Midday</a:t>
            </a:r>
          </a:p>
        </p:txBody>
      </p:sp>
      <p:sp>
        <p:nvSpPr>
          <p:cNvPr id="14" name="Editable text: Lunch · retail · hotel guest activity"/>
          <p:cNvSpPr txBox="1"/>
          <p:nvPr/>
        </p:nvSpPr>
        <p:spPr>
          <a:xfrm>
            <a:off x="3401568" y="620711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Lunch · retail · hotel guest activity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01568" y="6873716"/>
            <a:ext cx="2487168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able text: Support daytime transactions."/>
          <p:cNvSpPr txBox="1"/>
          <p:nvPr/>
        </p:nvSpPr>
        <p:spPr>
          <a:xfrm>
            <a:off x="3401568" y="7032821"/>
            <a:ext cx="211440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Support daytime transactions.</a:t>
            </a:r>
          </a:p>
        </p:txBody>
      </p:sp>
      <p:pic>
        <p:nvPicPr>
          <p:cNvPr id="17" name="Replaceable photo: slide-14-kids.jpg" descr="slide-14-kids.jpg"/>
          <p:cNvPicPr>
            <a:picLocks noChangeAspect="1"/>
          </p:cNvPicPr>
          <p:nvPr/>
        </p:nvPicPr>
        <p:blipFill>
          <a:blip r:embed="rId4"/>
          <a:srcRect l="20561" r="20561"/>
          <a:stretch>
            <a:fillRect/>
          </a:stretch>
        </p:blipFill>
        <p:spPr>
          <a:xfrm>
            <a:off x="6071616" y="2923508"/>
            <a:ext cx="2487168" cy="2377440"/>
          </a:xfrm>
          <a:prstGeom prst="rect">
            <a:avLst/>
          </a:prstGeom>
        </p:spPr>
      </p:pic>
      <p:sp>
        <p:nvSpPr>
          <p:cNvPr id="18" name="Editable text: 03"/>
          <p:cNvSpPr txBox="1"/>
          <p:nvPr/>
        </p:nvSpPr>
        <p:spPr>
          <a:xfrm>
            <a:off x="6071616" y="548199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9" name="Editable text: Afternoon"/>
          <p:cNvSpPr txBox="1"/>
          <p:nvPr/>
        </p:nvSpPr>
        <p:spPr>
          <a:xfrm>
            <a:off x="6071616" y="567676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Afternoon</a:t>
            </a:r>
          </a:p>
        </p:txBody>
      </p:sp>
      <p:sp>
        <p:nvSpPr>
          <p:cNvPr id="20" name="Editable text: Families · cafés · workshops"/>
          <p:cNvSpPr txBox="1"/>
          <p:nvPr/>
        </p:nvSpPr>
        <p:spPr>
          <a:xfrm>
            <a:off x="6071616" y="6207118"/>
            <a:ext cx="2355723" cy="2519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Families · cafés · workshops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71616" y="6613112"/>
            <a:ext cx="2487168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 text: Encourage longer visits."/>
          <p:cNvSpPr txBox="1"/>
          <p:nvPr/>
        </p:nvSpPr>
        <p:spPr>
          <a:xfrm>
            <a:off x="6071616" y="6772217"/>
            <a:ext cx="174078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Encourage longer visits.</a:t>
            </a:r>
          </a:p>
        </p:txBody>
      </p:sp>
      <p:pic>
        <p:nvPicPr>
          <p:cNvPr id="23" name="Replaceable photo: slide-10-night.jpg" descr="slide-10-night.jpg"/>
          <p:cNvPicPr>
            <a:picLocks noChangeAspect="1"/>
          </p:cNvPicPr>
          <p:nvPr/>
        </p:nvPicPr>
        <p:blipFill>
          <a:blip r:embed="rId5"/>
          <a:srcRect l="20593" r="20593"/>
          <a:stretch>
            <a:fillRect/>
          </a:stretch>
        </p:blipFill>
        <p:spPr>
          <a:xfrm>
            <a:off x="8741664" y="2923508"/>
            <a:ext cx="2487168" cy="2377440"/>
          </a:xfrm>
          <a:prstGeom prst="rect">
            <a:avLst/>
          </a:prstGeom>
        </p:spPr>
      </p:pic>
      <p:sp>
        <p:nvSpPr>
          <p:cNvPr id="24" name="Editable text: 04"/>
          <p:cNvSpPr txBox="1"/>
          <p:nvPr/>
        </p:nvSpPr>
        <p:spPr>
          <a:xfrm>
            <a:off x="8741664" y="548199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25" name="Editable text: Evening"/>
          <p:cNvSpPr txBox="1"/>
          <p:nvPr/>
        </p:nvSpPr>
        <p:spPr>
          <a:xfrm>
            <a:off x="8741664" y="567676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Evening</a:t>
            </a:r>
          </a:p>
        </p:txBody>
      </p:sp>
      <p:sp>
        <p:nvSpPr>
          <p:cNvPr id="26" name="Editable text: Dinner · The Veranda programmes"/>
          <p:cNvSpPr txBox="1"/>
          <p:nvPr/>
        </p:nvSpPr>
        <p:spPr>
          <a:xfrm>
            <a:off x="8741664" y="6207118"/>
            <a:ext cx="24871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Dinner · The Veranda programmes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41664" y="6873716"/>
            <a:ext cx="2487168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text: Strengthen social and culinary appeal."/>
          <p:cNvSpPr txBox="1"/>
          <p:nvPr/>
        </p:nvSpPr>
        <p:spPr>
          <a:xfrm>
            <a:off x="8741664" y="7032821"/>
            <a:ext cx="265904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Strengthen social and culinary appeal.</a:t>
            </a:r>
          </a:p>
        </p:txBody>
      </p:sp>
      <p:pic>
        <p:nvPicPr>
          <p:cNvPr id="29" name="Replaceable photo: slide-10-casual-couple.jpg" descr="slide-10-casual-couple.jpg"/>
          <p:cNvPicPr>
            <a:picLocks noChangeAspect="1"/>
          </p:cNvPicPr>
          <p:nvPr/>
        </p:nvPicPr>
        <p:blipFill>
          <a:blip r:embed="rId6"/>
          <a:srcRect l="20561" r="20561"/>
          <a:stretch>
            <a:fillRect/>
          </a:stretch>
        </p:blipFill>
        <p:spPr>
          <a:xfrm>
            <a:off x="11411712" y="2923508"/>
            <a:ext cx="2487168" cy="2377440"/>
          </a:xfrm>
          <a:prstGeom prst="rect">
            <a:avLst/>
          </a:prstGeom>
        </p:spPr>
      </p:pic>
      <p:sp>
        <p:nvSpPr>
          <p:cNvPr id="30" name="Editable text: 05"/>
          <p:cNvSpPr txBox="1"/>
          <p:nvPr/>
        </p:nvSpPr>
        <p:spPr>
          <a:xfrm>
            <a:off x="11411712" y="5481999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05</a:t>
            </a:r>
          </a:p>
        </p:txBody>
      </p:sp>
      <p:sp>
        <p:nvSpPr>
          <p:cNvPr id="31" name="Editable text: Selected weekends"/>
          <p:cNvSpPr txBox="1"/>
          <p:nvPr/>
        </p:nvSpPr>
        <p:spPr>
          <a:xfrm>
            <a:off x="11411712" y="5676766"/>
            <a:ext cx="2487168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 spc="-36">
                <a:solidFill>
                  <a:srgbClr val="292D29"/>
                </a:solidFill>
                <a:latin typeface="Georgia"/>
              </a:rPr>
              <a:t>Selected weekends</a:t>
            </a:r>
          </a:p>
        </p:txBody>
      </p:sp>
      <p:sp>
        <p:nvSpPr>
          <p:cNvPr id="32" name="Editable text: Markets · collaborations · visitor packages"/>
          <p:cNvSpPr txBox="1"/>
          <p:nvPr/>
        </p:nvSpPr>
        <p:spPr>
          <a:xfrm>
            <a:off x="11411712" y="6207118"/>
            <a:ext cx="2607468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Markets · collaborations · visitor packages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411712" y="6873716"/>
            <a:ext cx="2487168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ditable text: Attract leisure visits."/>
          <p:cNvSpPr txBox="1"/>
          <p:nvPr/>
        </p:nvSpPr>
        <p:spPr>
          <a:xfrm>
            <a:off x="11411712" y="7032821"/>
            <a:ext cx="148147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292D29"/>
                </a:solidFill>
                <a:latin typeface="Arial"/>
              </a:rPr>
              <a:t>Attract leisure visits.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37" name="Editable text: AUDIENCE &amp; VISITOR JOURNEYS"/>
          <p:cNvSpPr txBox="1"/>
          <p:nvPr/>
        </p:nvSpPr>
        <p:spPr>
          <a:xfrm>
            <a:off x="11656028" y="309067"/>
            <a:ext cx="242573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38" name="Editable text: Strategic dayparts, not approved operating hours. Timing follows "/>
          <p:cNvSpPr txBox="1"/>
          <p:nvPr/>
        </p:nvSpPr>
        <p:spPr>
          <a:xfrm>
            <a:off x="731520" y="7338174"/>
            <a:ext cx="5203650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Strategic dayparts, not approved operating hours. Timing follows tenant and operator readiness.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ditable text: AUDIENCE &amp; VISITOR JOURNEYS"/>
          <p:cNvSpPr txBox="1"/>
          <p:nvPr/>
        </p:nvSpPr>
        <p:spPr>
          <a:xfrm>
            <a:off x="731520" y="7882127"/>
            <a:ext cx="201067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AUDIENCE &amp; VISITOR JOURNEYS</a:t>
            </a:r>
          </a:p>
        </p:txBody>
      </p:sp>
      <p:sp>
        <p:nvSpPr>
          <p:cNvPr id="41" name="Editable text: SUPPLIED CONCEPT IMAGERY · NOT VERIFIED AS BUILT / 16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enant strategy &amp; programming"/>
          <p:cNvSpPr txBox="1"/>
          <p:nvPr/>
        </p:nvSpPr>
        <p:spPr>
          <a:xfrm>
            <a:off x="731520" y="911656"/>
            <a:ext cx="316253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DCE4D5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3" name="Editable text: Anchors attract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F4F1E8"/>
                </a:solidFill>
                <a:latin typeface="Georgia"/>
              </a:rPr>
              <a:t>Anchors attract.</a:t>
            </a:r>
          </a:p>
        </p:txBody>
      </p:sp>
      <p:sp>
        <p:nvSpPr>
          <p:cNvPr id="4" name="Editable text: The district extends the visit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F4F1E8"/>
                </a:solidFill>
                <a:latin typeface="Georgia"/>
              </a:rPr>
              <a:t>The district extends the visit.</a:t>
            </a:r>
          </a:p>
        </p:txBody>
      </p:sp>
      <p:sp>
        <p:nvSpPr>
          <p:cNvPr id="5" name="Editable text: A considered mix, connected by shared experiences."/>
          <p:cNvSpPr txBox="1"/>
          <p:nvPr/>
        </p:nvSpPr>
        <p:spPr>
          <a:xfrm>
            <a:off x="731520" y="2738799"/>
            <a:ext cx="4884610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F4F1E8"/>
                </a:solidFill>
                <a:latin typeface="Arial"/>
              </a:rPr>
              <a:t>A considered mix, connected by shared experiences.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09308"/>
            <a:ext cx="6172200" cy="3383280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text: SHARED DESTINATION SPACE"/>
          <p:cNvSpPr txBox="1"/>
          <p:nvPr/>
        </p:nvSpPr>
        <p:spPr>
          <a:xfrm>
            <a:off x="2803779" y="4094968"/>
            <a:ext cx="2210562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183D32"/>
                </a:solidFill>
                <a:latin typeface="Arial"/>
              </a:rPr>
              <a:t>SHARED DESTINATION SPACE</a:t>
            </a:r>
          </a:p>
        </p:txBody>
      </p:sp>
      <p:sp>
        <p:nvSpPr>
          <p:cNvPr id="8" name="Editable text: The Veranda"/>
          <p:cNvSpPr txBox="1"/>
          <p:nvPr/>
        </p:nvSpPr>
        <p:spPr>
          <a:xfrm>
            <a:off x="2130266" y="4263218"/>
            <a:ext cx="617220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The Veranda</a:t>
            </a:r>
          </a:p>
        </p:txBody>
      </p:sp>
      <p:sp>
        <p:nvSpPr>
          <p:cNvPr id="9" name="Editable text: Gathering, discovery"/>
          <p:cNvSpPr txBox="1"/>
          <p:nvPr/>
        </p:nvSpPr>
        <p:spPr>
          <a:xfrm>
            <a:off x="2900076" y="5341839"/>
            <a:ext cx="2017966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183D32"/>
                </a:solidFill>
                <a:latin typeface="Arial"/>
              </a:rPr>
              <a:t>Gathering, discovery</a:t>
            </a:r>
          </a:p>
        </p:txBody>
      </p:sp>
      <p:sp>
        <p:nvSpPr>
          <p:cNvPr id="10" name="Editable text: and time together."/>
          <p:cNvSpPr txBox="1"/>
          <p:nvPr/>
        </p:nvSpPr>
        <p:spPr>
          <a:xfrm>
            <a:off x="3017662" y="5643591"/>
            <a:ext cx="1782794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183D32"/>
                </a:solidFill>
                <a:latin typeface="Arial"/>
              </a:rPr>
              <a:t>and time together.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6175771"/>
            <a:ext cx="534924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itable text: Eat / Shop / Play / Move / Stay"/>
          <p:cNvSpPr txBox="1"/>
          <p:nvPr/>
        </p:nvSpPr>
        <p:spPr>
          <a:xfrm>
            <a:off x="2675334" y="6345850"/>
            <a:ext cx="2467451" cy="1856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987" b="0" spc="144">
                <a:solidFill>
                  <a:srgbClr val="183D32"/>
                </a:solidFill>
                <a:latin typeface="Arial"/>
              </a:rPr>
              <a:t>Eat / Shop / Play / Move / Stay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3380708"/>
            <a:ext cx="6172201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 text: 01"/>
          <p:cNvSpPr txBox="1"/>
          <p:nvPr/>
        </p:nvSpPr>
        <p:spPr>
          <a:xfrm>
            <a:off x="7726679" y="3487693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01</a:t>
            </a:r>
          </a:p>
        </p:txBody>
      </p:sp>
      <p:sp>
        <p:nvSpPr>
          <p:cNvPr id="15" name="Editable text: Everyday anchors"/>
          <p:cNvSpPr txBox="1"/>
          <p:nvPr/>
        </p:nvSpPr>
        <p:spPr>
          <a:xfrm>
            <a:off x="8087582" y="3486778"/>
            <a:ext cx="1854946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93" b="0" spc="-36">
                <a:solidFill>
                  <a:srgbClr val="F4F1E8"/>
                </a:solidFill>
                <a:latin typeface="Arial"/>
              </a:rPr>
              <a:t>Everyday anchors</a:t>
            </a:r>
          </a:p>
        </p:txBody>
      </p:sp>
      <p:sp>
        <p:nvSpPr>
          <p:cNvPr id="16" name="Editable text: Establish dependable repeat visitation."/>
          <p:cNvSpPr txBox="1"/>
          <p:nvPr/>
        </p:nvSpPr>
        <p:spPr>
          <a:xfrm>
            <a:off x="8087582" y="3821449"/>
            <a:ext cx="2989945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Establish dependable repeat visitation.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26679" y="4148804"/>
            <a:ext cx="6172201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itable text: 02"/>
          <p:cNvSpPr txBox="1"/>
          <p:nvPr/>
        </p:nvSpPr>
        <p:spPr>
          <a:xfrm>
            <a:off x="7726679" y="4255789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02</a:t>
            </a:r>
          </a:p>
        </p:txBody>
      </p:sp>
      <p:sp>
        <p:nvSpPr>
          <p:cNvPr id="19" name="Editable text: Destination anchors"/>
          <p:cNvSpPr txBox="1"/>
          <p:nvPr/>
        </p:nvSpPr>
        <p:spPr>
          <a:xfrm>
            <a:off x="8087582" y="4254874"/>
            <a:ext cx="2029682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93" b="0" spc="-36">
                <a:solidFill>
                  <a:srgbClr val="F4F1E8"/>
                </a:solidFill>
                <a:latin typeface="Arial"/>
              </a:rPr>
              <a:t>Destination anchors</a:t>
            </a:r>
          </a:p>
        </p:txBody>
      </p:sp>
      <p:sp>
        <p:nvSpPr>
          <p:cNvPr id="20" name="Editable text: Give people a clear reason to choose the district."/>
          <p:cNvSpPr txBox="1"/>
          <p:nvPr/>
        </p:nvSpPr>
        <p:spPr>
          <a:xfrm>
            <a:off x="8087582" y="4589545"/>
            <a:ext cx="3738181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Give people a clear reason to choose the district.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26679" y="4916900"/>
            <a:ext cx="6172201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 text: 03"/>
          <p:cNvSpPr txBox="1"/>
          <p:nvPr/>
        </p:nvSpPr>
        <p:spPr>
          <a:xfrm>
            <a:off x="7726679" y="5023885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03</a:t>
            </a:r>
          </a:p>
        </p:txBody>
      </p:sp>
      <p:sp>
        <p:nvSpPr>
          <p:cNvPr id="23" name="Editable text: Experience tenants"/>
          <p:cNvSpPr txBox="1"/>
          <p:nvPr/>
        </p:nvSpPr>
        <p:spPr>
          <a:xfrm>
            <a:off x="8087582" y="5022970"/>
            <a:ext cx="1977675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93" b="0" spc="-36">
                <a:solidFill>
                  <a:srgbClr val="F4F1E8"/>
                </a:solidFill>
                <a:latin typeface="Arial"/>
              </a:rPr>
              <a:t>Experience tenants</a:t>
            </a:r>
          </a:p>
        </p:txBody>
      </p:sp>
      <p:sp>
        <p:nvSpPr>
          <p:cNvPr id="24" name="Editable text: Extend time through activities, dining and leisure."/>
          <p:cNvSpPr txBox="1"/>
          <p:nvPr/>
        </p:nvSpPr>
        <p:spPr>
          <a:xfrm>
            <a:off x="8087582" y="5357641"/>
            <a:ext cx="3745325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Extend time through activities, dining and leisure.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26679" y="5684996"/>
            <a:ext cx="6172201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itable text: 04"/>
          <p:cNvSpPr txBox="1"/>
          <p:nvPr/>
        </p:nvSpPr>
        <p:spPr>
          <a:xfrm>
            <a:off x="7726679" y="5791981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04</a:t>
            </a:r>
          </a:p>
        </p:txBody>
      </p:sp>
      <p:sp>
        <p:nvSpPr>
          <p:cNvPr id="27" name="Editable text: Discovery tenants"/>
          <p:cNvSpPr txBox="1"/>
          <p:nvPr/>
        </p:nvSpPr>
        <p:spPr>
          <a:xfrm>
            <a:off x="8087582" y="5791066"/>
            <a:ext cx="1844659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93" b="0" spc="-36">
                <a:solidFill>
                  <a:srgbClr val="F4F1E8"/>
                </a:solidFill>
                <a:latin typeface="Arial"/>
              </a:rPr>
              <a:t>Discovery tenants</a:t>
            </a:r>
          </a:p>
        </p:txBody>
      </p:sp>
      <p:sp>
        <p:nvSpPr>
          <p:cNvPr id="28" name="Editable text: Add distinctive products and changing content."/>
          <p:cNvSpPr txBox="1"/>
          <p:nvPr/>
        </p:nvSpPr>
        <p:spPr>
          <a:xfrm>
            <a:off x="8087582" y="6125737"/>
            <a:ext cx="3577590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Add distinctive products and changing content.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26679" y="6453092"/>
            <a:ext cx="6172201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itable text: 05"/>
          <p:cNvSpPr txBox="1"/>
          <p:nvPr/>
        </p:nvSpPr>
        <p:spPr>
          <a:xfrm>
            <a:off x="7726679" y="6560077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05</a:t>
            </a:r>
          </a:p>
        </p:txBody>
      </p:sp>
      <p:sp>
        <p:nvSpPr>
          <p:cNvPr id="31" name="Editable text: Hospitality partners"/>
          <p:cNvSpPr txBox="1"/>
          <p:nvPr/>
        </p:nvSpPr>
        <p:spPr>
          <a:xfrm>
            <a:off x="8087582" y="6559162"/>
            <a:ext cx="1978390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93" b="0" spc="-36">
                <a:solidFill>
                  <a:srgbClr val="F4F1E8"/>
                </a:solidFill>
                <a:latin typeface="Arial"/>
              </a:rPr>
              <a:t>Hospitality partners</a:t>
            </a:r>
          </a:p>
        </p:txBody>
      </p:sp>
      <p:sp>
        <p:nvSpPr>
          <p:cNvPr id="32" name="Editable text: Connect overnight guests with the wider district."/>
          <p:cNvSpPr txBox="1"/>
          <p:nvPr/>
        </p:nvSpPr>
        <p:spPr>
          <a:xfrm>
            <a:off x="8087582" y="6893833"/>
            <a:ext cx="3656028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Connect overnight guests with the wider district.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35" name="Editable text: TENANT STRATEGY &amp; PROGRAMMING"/>
          <p:cNvSpPr txBox="1"/>
          <p:nvPr/>
        </p:nvSpPr>
        <p:spPr>
          <a:xfrm>
            <a:off x="11352418" y="309067"/>
            <a:ext cx="272934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36" name="Editable text: Strategic tenant roles; no confirmed tenants. Selection considers"/>
          <p:cNvSpPr txBox="1"/>
          <p:nvPr/>
        </p:nvSpPr>
        <p:spPr>
          <a:xfrm>
            <a:off x="731520" y="7338174"/>
            <a:ext cx="738806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F4F1E8"/>
                </a:solidFill>
                <a:latin typeface="Arial"/>
              </a:rPr>
              <a:t>Strategic tenant roles; no confirmed tenants. Selection considers customer fit, price range, hours, frontage and neighbouring experiences.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itable text: TENANT STRATEGY &amp; PROGRAMMING"/>
          <p:cNvSpPr txBox="1"/>
          <p:nvPr/>
        </p:nvSpPr>
        <p:spPr>
          <a:xfrm>
            <a:off x="731520" y="7882127"/>
            <a:ext cx="226071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39" name="Editable text: STRATEGIC PROPOSAL / 17"/>
          <p:cNvSpPr txBox="1"/>
          <p:nvPr/>
        </p:nvSpPr>
        <p:spPr>
          <a:xfrm>
            <a:off x="12220098" y="7882127"/>
            <a:ext cx="186166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STRATEGIC PROPOSAL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enant strategy &amp; programming"/>
          <p:cNvSpPr txBox="1"/>
          <p:nvPr/>
        </p:nvSpPr>
        <p:spPr>
          <a:xfrm>
            <a:off x="731520" y="911656"/>
            <a:ext cx="316253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3" name="Editable text: The Veranda calendar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The Veranda calendar.</a:t>
            </a:r>
          </a:p>
        </p:txBody>
      </p:sp>
      <p:sp>
        <p:nvSpPr>
          <p:cNvPr id="4" name="Editable text: Proposed programming concepts"/>
          <p:cNvSpPr txBox="1"/>
          <p:nvPr/>
        </p:nvSpPr>
        <p:spPr>
          <a:xfrm>
            <a:off x="731520" y="2104577"/>
            <a:ext cx="314339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Proposed programming concepts</a:t>
            </a:r>
          </a:p>
        </p:txBody>
      </p:sp>
      <p:pic>
        <p:nvPicPr>
          <p:cNvPr id="5" name="Replaceable photo: slide-15-vranda.jpg" descr="slide-15-vranda.jpg"/>
          <p:cNvPicPr>
            <a:picLocks noChangeAspect="1"/>
          </p:cNvPicPr>
          <p:nvPr/>
        </p:nvPicPr>
        <p:blipFill>
          <a:blip r:embed="rId2"/>
          <a:srcRect l="12342" r="12342"/>
          <a:stretch>
            <a:fillRect/>
          </a:stretch>
        </p:blipFill>
        <p:spPr>
          <a:xfrm>
            <a:off x="731520" y="2746486"/>
            <a:ext cx="3120390" cy="2331720"/>
          </a:xfrm>
          <a:prstGeom prst="rect">
            <a:avLst/>
          </a:prstGeom>
        </p:spPr>
      </p:pic>
      <p:sp>
        <p:nvSpPr>
          <p:cNvPr id="6" name="Editable text: 01"/>
          <p:cNvSpPr txBox="1"/>
          <p:nvPr/>
        </p:nvSpPr>
        <p:spPr>
          <a:xfrm>
            <a:off x="731520" y="525925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7" name="Editable text: Veranda Sessions"/>
          <p:cNvSpPr txBox="1"/>
          <p:nvPr/>
        </p:nvSpPr>
        <p:spPr>
          <a:xfrm>
            <a:off x="731520" y="545219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Veranda Sessions</a:t>
            </a:r>
          </a:p>
        </p:txBody>
      </p:sp>
      <p:sp>
        <p:nvSpPr>
          <p:cNvPr id="8" name="Editable text: Selected music and performance, paired with dining."/>
          <p:cNvSpPr txBox="1"/>
          <p:nvPr/>
        </p:nvSpPr>
        <p:spPr>
          <a:xfrm>
            <a:off x="731520" y="6011808"/>
            <a:ext cx="3297555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Selected music and performance, paired with dining.</a:t>
            </a:r>
          </a:p>
        </p:txBody>
      </p:sp>
      <p:pic>
        <p:nvPicPr>
          <p:cNvPr id="9" name="Replaceable photo: slide-10-casual-couple.jpg" descr="slide-10-casual-couple.jpg"/>
          <p:cNvPicPr>
            <a:picLocks noChangeAspect="1"/>
          </p:cNvPicPr>
          <p:nvPr/>
        </p:nvPicPr>
        <p:blipFill>
          <a:blip r:embed="rId3"/>
          <a:srcRect l="12342" r="12342"/>
          <a:stretch>
            <a:fillRect/>
          </a:stretch>
        </p:blipFill>
        <p:spPr>
          <a:xfrm>
            <a:off x="4080510" y="2746486"/>
            <a:ext cx="3120390" cy="2331720"/>
          </a:xfrm>
          <a:prstGeom prst="rect">
            <a:avLst/>
          </a:prstGeom>
        </p:spPr>
      </p:pic>
      <p:sp>
        <p:nvSpPr>
          <p:cNvPr id="10" name="Editable text: 02"/>
          <p:cNvSpPr txBox="1"/>
          <p:nvPr/>
        </p:nvSpPr>
        <p:spPr>
          <a:xfrm>
            <a:off x="4080510" y="525925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1" name="Editable text: The Weekend Edit"/>
          <p:cNvSpPr txBox="1"/>
          <p:nvPr/>
        </p:nvSpPr>
        <p:spPr>
          <a:xfrm>
            <a:off x="4080510" y="545219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The Weekend Edit</a:t>
            </a:r>
          </a:p>
        </p:txBody>
      </p:sp>
      <p:sp>
        <p:nvSpPr>
          <p:cNvPr id="12" name="Editable text: A curated market of food, makers and rotating brands."/>
          <p:cNvSpPr txBox="1"/>
          <p:nvPr/>
        </p:nvSpPr>
        <p:spPr>
          <a:xfrm>
            <a:off x="4080510" y="6011808"/>
            <a:ext cx="3120390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A curated market of food, makers and rotating brands.</a:t>
            </a:r>
          </a:p>
        </p:txBody>
      </p:sp>
      <p:pic>
        <p:nvPicPr>
          <p:cNvPr id="13" name="Replaceable photo: slide-19-event.jpg" descr="slide-19-event.jpg"/>
          <p:cNvPicPr>
            <a:picLocks noChangeAspect="1"/>
          </p:cNvPicPr>
          <p:nvPr/>
        </p:nvPicPr>
        <p:blipFill>
          <a:blip r:embed="rId4"/>
          <a:srcRect l="12342" r="12342"/>
          <a:stretch>
            <a:fillRect/>
          </a:stretch>
        </p:blipFill>
        <p:spPr>
          <a:xfrm>
            <a:off x="7429500" y="2746486"/>
            <a:ext cx="3120390" cy="2331720"/>
          </a:xfrm>
          <a:prstGeom prst="rect">
            <a:avLst/>
          </a:prstGeom>
        </p:spPr>
      </p:pic>
      <p:sp>
        <p:nvSpPr>
          <p:cNvPr id="14" name="Editable text: 03"/>
          <p:cNvSpPr txBox="1"/>
          <p:nvPr/>
        </p:nvSpPr>
        <p:spPr>
          <a:xfrm>
            <a:off x="7429500" y="525925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5" name="Editable text: Batam Table"/>
          <p:cNvSpPr txBox="1"/>
          <p:nvPr/>
        </p:nvSpPr>
        <p:spPr>
          <a:xfrm>
            <a:off x="7429500" y="545219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Batam Table</a:t>
            </a:r>
          </a:p>
        </p:txBody>
      </p:sp>
      <p:sp>
        <p:nvSpPr>
          <p:cNvPr id="16" name="Editable text: Indonesian chefs and local producers, with opportunities for regi"/>
          <p:cNvSpPr txBox="1"/>
          <p:nvPr/>
        </p:nvSpPr>
        <p:spPr>
          <a:xfrm>
            <a:off x="7429500" y="6011808"/>
            <a:ext cx="3286267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Indonesian chefs and local producers, with opportunities for regional exchange.</a:t>
            </a:r>
          </a:p>
        </p:txBody>
      </p:sp>
      <p:pic>
        <p:nvPicPr>
          <p:cNvPr id="17" name="Replaceable photo: slide-14-kids.jpg" descr="slide-14-kids.jpg"/>
          <p:cNvPicPr>
            <a:picLocks noChangeAspect="1"/>
          </p:cNvPicPr>
          <p:nvPr/>
        </p:nvPicPr>
        <p:blipFill>
          <a:blip r:embed="rId5"/>
          <a:srcRect l="12342" r="12342"/>
          <a:stretch>
            <a:fillRect/>
          </a:stretch>
        </p:blipFill>
        <p:spPr>
          <a:xfrm>
            <a:off x="10778490" y="2746486"/>
            <a:ext cx="3120390" cy="2331720"/>
          </a:xfrm>
          <a:prstGeom prst="rect">
            <a:avLst/>
          </a:prstGeom>
        </p:spPr>
      </p:pic>
      <p:sp>
        <p:nvSpPr>
          <p:cNvPr id="18" name="Editable text: 04"/>
          <p:cNvSpPr txBox="1"/>
          <p:nvPr/>
        </p:nvSpPr>
        <p:spPr>
          <a:xfrm>
            <a:off x="10778490" y="5259257"/>
            <a:ext cx="34161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19" name="Editable text: The Family Social"/>
          <p:cNvSpPr txBox="1"/>
          <p:nvPr/>
        </p:nvSpPr>
        <p:spPr>
          <a:xfrm>
            <a:off x="10778490" y="5452195"/>
            <a:ext cx="3120390" cy="529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 spc="-36">
                <a:solidFill>
                  <a:srgbClr val="292D29"/>
                </a:solidFill>
                <a:latin typeface="Georgia"/>
              </a:rPr>
              <a:t>The Family Social</a:t>
            </a:r>
          </a:p>
        </p:txBody>
      </p:sp>
      <p:sp>
        <p:nvSpPr>
          <p:cNvPr id="20" name="Editable text: Creative activities and shared family experiences."/>
          <p:cNvSpPr txBox="1"/>
          <p:nvPr/>
        </p:nvSpPr>
        <p:spPr>
          <a:xfrm>
            <a:off x="10778490" y="6011808"/>
            <a:ext cx="3120390" cy="5125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292D29"/>
                </a:solidFill>
                <a:latin typeface="Arial"/>
              </a:rPr>
              <a:t>Creative activities and shared family experiences.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3" name="Editable text: TENANT STRATEGY &amp; PROGRAMMING"/>
          <p:cNvSpPr txBox="1"/>
          <p:nvPr/>
        </p:nvSpPr>
        <p:spPr>
          <a:xfrm>
            <a:off x="11352418" y="309067"/>
            <a:ext cx="272934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24" name="Editable text: Frequency, scale, capacity, cost and operational plans remain to "/>
          <p:cNvSpPr txBox="1"/>
          <p:nvPr/>
        </p:nvSpPr>
        <p:spPr>
          <a:xfrm>
            <a:off x="731520" y="7338174"/>
            <a:ext cx="5074205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Frequency, scale, capacity, cost and operational plans remain to be developed and approved.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itable text: TENANT STRATEGY &amp; PROGRAMMING"/>
          <p:cNvSpPr txBox="1"/>
          <p:nvPr/>
        </p:nvSpPr>
        <p:spPr>
          <a:xfrm>
            <a:off x="731520" y="7882127"/>
            <a:ext cx="226071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27" name="Editable text: SUPPLIED CONCEPT IMAGERY · NOT VERIFIED AS BUILT / 18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placeable photo: slide-19-event.jpg" descr="slide-19-event.jpg"/>
          <p:cNvPicPr>
            <a:picLocks noChangeAspect="1"/>
          </p:cNvPicPr>
          <p:nvPr/>
        </p:nvPicPr>
        <p:blipFill>
          <a:blip r:embed="rId2"/>
          <a:srcRect l="25299" r="25299"/>
          <a:stretch>
            <a:fillRect/>
          </a:stretch>
        </p:blipFill>
        <p:spPr>
          <a:xfrm>
            <a:off x="0" y="0"/>
            <a:ext cx="7223760" cy="8229600"/>
          </a:xfrm>
          <a:prstGeom prst="rect">
            <a:avLst/>
          </a:prstGeom>
        </p:spPr>
      </p:pic>
      <p:sp>
        <p:nvSpPr>
          <p:cNvPr id="3" name="Editable text: THE FLAGSHIP EXPERIENCE"/>
          <p:cNvSpPr txBox="1"/>
          <p:nvPr/>
        </p:nvSpPr>
        <p:spPr>
          <a:xfrm>
            <a:off x="7863840" y="1231696"/>
            <a:ext cx="2458735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THE FLAGSHIP EXPERIENCE</a:t>
            </a:r>
          </a:p>
        </p:txBody>
      </p:sp>
      <p:sp>
        <p:nvSpPr>
          <p:cNvPr id="4" name="Editable text: Batam Table"/>
          <p:cNvSpPr txBox="1"/>
          <p:nvPr/>
        </p:nvSpPr>
        <p:spPr>
          <a:xfrm>
            <a:off x="7863840" y="1316736"/>
            <a:ext cx="6035040" cy="1531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609"/>
              </a:lnSpc>
              <a:spcBef>
                <a:spcPts val="0"/>
              </a:spcBef>
              <a:spcAft>
                <a:spcPts val="0"/>
              </a:spcAft>
            </a:pPr>
            <a:r>
              <a:rPr sz="6091" b="0" spc="-108">
                <a:solidFill>
                  <a:srgbClr val="183D32"/>
                </a:solidFill>
                <a:latin typeface="Georgia"/>
              </a:rPr>
              <a:t>Batam Table</a:t>
            </a:r>
          </a:p>
        </p:txBody>
      </p:sp>
      <p:sp>
        <p:nvSpPr>
          <p:cNvPr id="5" name="Editable text: A shared table at The Veranda."/>
          <p:cNvSpPr txBox="1"/>
          <p:nvPr/>
        </p:nvSpPr>
        <p:spPr>
          <a:xfrm>
            <a:off x="7863840" y="2574921"/>
            <a:ext cx="6035040" cy="5431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5" b="0">
                <a:solidFill>
                  <a:srgbClr val="292D29"/>
                </a:solidFill>
                <a:latin typeface="Georgia"/>
              </a:rPr>
              <a:t>A shared table at The Veranda.</a:t>
            </a:r>
          </a:p>
        </p:txBody>
      </p:sp>
      <p:sp>
        <p:nvSpPr>
          <p:cNvPr id="6" name="Editable text: A changing edition can spotlight an Indonesian region, a local in"/>
          <p:cNvSpPr txBox="1"/>
          <p:nvPr/>
        </p:nvSpPr>
        <p:spPr>
          <a:xfrm>
            <a:off x="7863840" y="3362220"/>
            <a:ext cx="6035040" cy="8545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A changing edition can spotlight an Indonesian region, a local ingredient, a chef collaboration or a regional exchange. Bookable dining is complemented by activities neighbouring tenants can join.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63840" y="4528994"/>
            <a:ext cx="29032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ditable text: 01"/>
          <p:cNvSpPr txBox="1"/>
          <p:nvPr/>
        </p:nvSpPr>
        <p:spPr>
          <a:xfrm>
            <a:off x="7863840" y="4673469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9" name="Editable text: Shared dinner"/>
          <p:cNvSpPr txBox="1"/>
          <p:nvPr/>
        </p:nvSpPr>
        <p:spPr>
          <a:xfrm>
            <a:off x="7863840" y="4913042"/>
            <a:ext cx="1269444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Shared dinner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95660" y="4528994"/>
            <a:ext cx="29032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itable text: 02"/>
          <p:cNvSpPr txBox="1"/>
          <p:nvPr/>
        </p:nvSpPr>
        <p:spPr>
          <a:xfrm>
            <a:off x="10995660" y="4673469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12" name="Editable text: Tasting market"/>
          <p:cNvSpPr txBox="1"/>
          <p:nvPr/>
        </p:nvSpPr>
        <p:spPr>
          <a:xfrm>
            <a:off x="10995660" y="4913042"/>
            <a:ext cx="1304163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Tasting market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5470826"/>
            <a:ext cx="29032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 text: 03"/>
          <p:cNvSpPr txBox="1"/>
          <p:nvPr/>
        </p:nvSpPr>
        <p:spPr>
          <a:xfrm>
            <a:off x="7863840" y="561530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15" name="Editable text: Chef demonstration"/>
          <p:cNvSpPr txBox="1"/>
          <p:nvPr/>
        </p:nvSpPr>
        <p:spPr>
          <a:xfrm>
            <a:off x="7863840" y="5854874"/>
            <a:ext cx="168949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Chef demonstration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95660" y="5470826"/>
            <a:ext cx="29032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itable text: 04"/>
          <p:cNvSpPr txBox="1"/>
          <p:nvPr/>
        </p:nvSpPr>
        <p:spPr>
          <a:xfrm>
            <a:off x="10995660" y="561530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18" name="Editable text: Producer showcase"/>
          <p:cNvSpPr txBox="1"/>
          <p:nvPr/>
        </p:nvSpPr>
        <p:spPr>
          <a:xfrm>
            <a:off x="10995660" y="5854874"/>
            <a:ext cx="1708785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411" b="0" spc="-36">
                <a:solidFill>
                  <a:srgbClr val="292D29"/>
                </a:solidFill>
                <a:latin typeface="Arial"/>
              </a:rPr>
              <a:t>Producer showcase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594360"/>
            <a:ext cx="603504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itable text: KALINDO / DESTINATION IDENTITY"/>
          <p:cNvSpPr txBox="1"/>
          <p:nvPr/>
        </p:nvSpPr>
        <p:spPr>
          <a:xfrm>
            <a:off x="786384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1" name="Editable text: TENANT STRATEGY &amp; PROGRAMMING"/>
          <p:cNvSpPr txBox="1"/>
          <p:nvPr/>
        </p:nvSpPr>
        <p:spPr>
          <a:xfrm>
            <a:off x="11352418" y="309067"/>
            <a:ext cx="272934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22" name="Editable text: Proposed culinary concept. Potential collaborators and regional e"/>
          <p:cNvSpPr txBox="1"/>
          <p:nvPr/>
        </p:nvSpPr>
        <p:spPr>
          <a:xfrm>
            <a:off x="7863840" y="7351804"/>
            <a:ext cx="5353812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292D29"/>
                </a:solidFill>
                <a:latin typeface="Arial"/>
              </a:rPr>
              <a:t>Proposed culinary concept. Potential collaborators and regional exchanges are not confirmed partnerships.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0" y="7763256"/>
            <a:ext cx="603504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itable text: TENANT STRATEGY &amp; PROGRAMMING"/>
          <p:cNvSpPr txBox="1"/>
          <p:nvPr/>
        </p:nvSpPr>
        <p:spPr>
          <a:xfrm>
            <a:off x="7863840" y="7892186"/>
            <a:ext cx="2092690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292D29"/>
                </a:solidFill>
                <a:latin typeface="Arial"/>
              </a:rPr>
              <a:t>TENANT STRATEGY &amp; PROGRAMMING</a:t>
            </a:r>
          </a:p>
        </p:txBody>
      </p:sp>
      <p:sp>
        <p:nvSpPr>
          <p:cNvPr id="25" name="Editable text: SUPPLIED CONCEPT IMAGERY · NOT VERIFIED AS BUILT / 19"/>
          <p:cNvSpPr txBox="1"/>
          <p:nvPr/>
        </p:nvSpPr>
        <p:spPr>
          <a:xfrm>
            <a:off x="10628328" y="7892186"/>
            <a:ext cx="3453431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292D29"/>
                </a:solidFill>
                <a:latin typeface="Arial"/>
              </a:rPr>
              <a:t>SUPPLIED CONCEPT IMAGERY · NOT VERIFIED AS BUILT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identity"/>
          <p:cNvSpPr txBox="1"/>
          <p:nvPr/>
        </p:nvSpPr>
        <p:spPr>
          <a:xfrm>
            <a:off x="731520" y="911656"/>
            <a:ext cx="155333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Brand identity</a:t>
            </a:r>
          </a:p>
        </p:txBody>
      </p:sp>
      <p:sp>
        <p:nvSpPr>
          <p:cNvPr id="3" name="Editable text: Contemporary tropical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Contemporary tropical.</a:t>
            </a:r>
          </a:p>
        </p:txBody>
      </p:sp>
      <p:sp>
        <p:nvSpPr>
          <p:cNvPr id="4" name="Editable text: Warm and confident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Warm and confident.</a:t>
            </a:r>
          </a:p>
        </p:txBody>
      </p:sp>
      <p:pic>
        <p:nvPicPr>
          <p:cNvPr id="5" name="Replaceable photo: slide-4-tropica.jpg" descr="slide-4-tropica.jpg"/>
          <p:cNvPicPr>
            <a:picLocks noChangeAspect="1"/>
          </p:cNvPicPr>
          <p:nvPr/>
        </p:nvPicPr>
        <p:blipFill>
          <a:blip r:embed="rId2"/>
          <a:srcRect t="25326" b="25326"/>
          <a:stretch>
            <a:fillRect/>
          </a:stretch>
        </p:blipFill>
        <p:spPr>
          <a:xfrm>
            <a:off x="731520" y="2877788"/>
            <a:ext cx="6749415" cy="1874519"/>
          </a:xfrm>
          <a:prstGeom prst="rect">
            <a:avLst/>
          </a:prstGeom>
        </p:spPr>
      </p:pic>
      <p:pic>
        <p:nvPicPr>
          <p:cNvPr id="6" name="Replaceable photo: slide-3-slide-3-lg-lg.jpg" descr="slide-3-slide-3-lg-lg.jpg"/>
          <p:cNvPicPr>
            <a:picLocks noChangeAspect="1"/>
          </p:cNvPicPr>
          <p:nvPr/>
        </p:nvPicPr>
        <p:blipFill>
          <a:blip r:embed="rId3"/>
          <a:srcRect t="8228" b="8228"/>
          <a:stretch>
            <a:fillRect/>
          </a:stretch>
        </p:blipFill>
        <p:spPr>
          <a:xfrm>
            <a:off x="731520" y="4889468"/>
            <a:ext cx="3306127" cy="1554480"/>
          </a:xfrm>
          <a:prstGeom prst="rect">
            <a:avLst/>
          </a:prstGeom>
        </p:spPr>
      </p:pic>
      <p:pic>
        <p:nvPicPr>
          <p:cNvPr id="7" name="Replaceable photo: slide-15-vranda.jpg" descr="slide-15-vranda.jpg"/>
          <p:cNvPicPr>
            <a:picLocks noChangeAspect="1"/>
          </p:cNvPicPr>
          <p:nvPr/>
        </p:nvPicPr>
        <p:blipFill>
          <a:blip r:embed="rId4"/>
          <a:srcRect t="8228" b="8228"/>
          <a:stretch>
            <a:fillRect/>
          </a:stretch>
        </p:blipFill>
        <p:spPr>
          <a:xfrm>
            <a:off x="4174807" y="4889468"/>
            <a:ext cx="3306127" cy="1554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581108"/>
            <a:ext cx="1291304" cy="320040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31520" y="6581108"/>
            <a:ext cx="1291304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6901148"/>
            <a:ext cx="1291304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22824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itable text: Forest"/>
          <p:cNvSpPr txBox="1"/>
          <p:nvPr/>
        </p:nvSpPr>
        <p:spPr>
          <a:xfrm>
            <a:off x="731520" y="6972471"/>
            <a:ext cx="4897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292D29"/>
                </a:solidFill>
                <a:latin typeface="Arial"/>
              </a:rPr>
              <a:t>Forest</a:t>
            </a:r>
          </a:p>
        </p:txBody>
      </p:sp>
      <p:sp>
        <p:nvSpPr>
          <p:cNvPr id="14" name="Editable text: #183D32"/>
          <p:cNvSpPr txBox="1"/>
          <p:nvPr/>
        </p:nvSpPr>
        <p:spPr>
          <a:xfrm>
            <a:off x="731520" y="7130662"/>
            <a:ext cx="516921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292D29"/>
                </a:solidFill>
                <a:latin typeface="Arial"/>
              </a:rPr>
              <a:t>#183D32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95976" y="6581108"/>
            <a:ext cx="1291304" cy="320040"/>
          </a:xfrm>
          <a:prstGeom prst="rect">
            <a:avLst/>
          </a:prstGeom>
          <a:solidFill>
            <a:srgbClr val="6D8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095976" y="6581108"/>
            <a:ext cx="1291304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95976" y="6901148"/>
            <a:ext cx="1291304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95976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87280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itable text: Garden"/>
          <p:cNvSpPr txBox="1"/>
          <p:nvPr/>
        </p:nvSpPr>
        <p:spPr>
          <a:xfrm>
            <a:off x="2095976" y="6972471"/>
            <a:ext cx="54806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292D29"/>
                </a:solidFill>
                <a:latin typeface="Arial"/>
              </a:rPr>
              <a:t>Garden</a:t>
            </a:r>
          </a:p>
        </p:txBody>
      </p:sp>
      <p:sp>
        <p:nvSpPr>
          <p:cNvPr id="21" name="Editable text: #6D8767"/>
          <p:cNvSpPr txBox="1"/>
          <p:nvPr/>
        </p:nvSpPr>
        <p:spPr>
          <a:xfrm>
            <a:off x="2095976" y="7130662"/>
            <a:ext cx="516921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292D29"/>
                </a:solidFill>
                <a:latin typeface="Arial"/>
              </a:rPr>
              <a:t>#6D8767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0432" y="6581108"/>
            <a:ext cx="1291447" cy="320040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460432" y="6581108"/>
            <a:ext cx="1291447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60432" y="6901148"/>
            <a:ext cx="1291447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60432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1879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itable text: Sage"/>
          <p:cNvSpPr txBox="1"/>
          <p:nvPr/>
        </p:nvSpPr>
        <p:spPr>
          <a:xfrm>
            <a:off x="3460432" y="6972471"/>
            <a:ext cx="43705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292D29"/>
                </a:solidFill>
                <a:latin typeface="Arial"/>
              </a:rPr>
              <a:t>Sage</a:t>
            </a:r>
          </a:p>
        </p:txBody>
      </p:sp>
      <p:sp>
        <p:nvSpPr>
          <p:cNvPr id="28" name="Editable text: #DCE4D5"/>
          <p:cNvSpPr txBox="1"/>
          <p:nvPr/>
        </p:nvSpPr>
        <p:spPr>
          <a:xfrm>
            <a:off x="3460432" y="7130662"/>
            <a:ext cx="553354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292D29"/>
                </a:solidFill>
                <a:latin typeface="Arial"/>
              </a:rPr>
              <a:t>#DCE4D5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25031" y="6581108"/>
            <a:ext cx="1291304" cy="32004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825031" y="6581108"/>
            <a:ext cx="1291304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25031" y="6901148"/>
            <a:ext cx="1291304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25031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16335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ditable text: Ivory"/>
          <p:cNvSpPr txBox="1"/>
          <p:nvPr/>
        </p:nvSpPr>
        <p:spPr>
          <a:xfrm>
            <a:off x="4825031" y="6972471"/>
            <a:ext cx="4213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292D29"/>
                </a:solidFill>
                <a:latin typeface="Arial"/>
              </a:rPr>
              <a:t>Ivory</a:t>
            </a:r>
          </a:p>
        </p:txBody>
      </p:sp>
      <p:sp>
        <p:nvSpPr>
          <p:cNvPr id="35" name="Editable text: #F4F1E8"/>
          <p:cNvSpPr txBox="1"/>
          <p:nvPr/>
        </p:nvSpPr>
        <p:spPr>
          <a:xfrm>
            <a:off x="4825031" y="7130662"/>
            <a:ext cx="521493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292D29"/>
                </a:solidFill>
                <a:latin typeface="Arial"/>
              </a:rPr>
              <a:t>#F4F1E8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9487" y="6581108"/>
            <a:ext cx="1291447" cy="320040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189487" y="6581108"/>
            <a:ext cx="1291448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89487" y="6901148"/>
            <a:ext cx="1291448" cy="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89487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80935" y="6581108"/>
            <a:ext cx="0" cy="320040"/>
          </a:xfrm>
          <a:prstGeom prst="line">
            <a:avLst/>
          </a:prstGeom>
          <a:ln w="9144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ditable text: Stone"/>
          <p:cNvSpPr txBox="1"/>
          <p:nvPr/>
        </p:nvSpPr>
        <p:spPr>
          <a:xfrm>
            <a:off x="6189487" y="6972471"/>
            <a:ext cx="46791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292D29"/>
                </a:solidFill>
                <a:latin typeface="Arial"/>
              </a:rPr>
              <a:t>Stone</a:t>
            </a:r>
          </a:p>
        </p:txBody>
      </p:sp>
      <p:sp>
        <p:nvSpPr>
          <p:cNvPr id="42" name="Editable text: #D8D1C4"/>
          <p:cNvSpPr txBox="1"/>
          <p:nvPr/>
        </p:nvSpPr>
        <p:spPr>
          <a:xfrm>
            <a:off x="6189487" y="7130662"/>
            <a:ext cx="544210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292D29"/>
                </a:solidFill>
                <a:latin typeface="Arial"/>
              </a:rPr>
              <a:t>#D8D1C4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029575" y="2877788"/>
            <a:ext cx="5869162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ditable text: Visual identity"/>
          <p:cNvSpPr txBox="1"/>
          <p:nvPr/>
        </p:nvSpPr>
        <p:spPr>
          <a:xfrm>
            <a:off x="8029575" y="2998489"/>
            <a:ext cx="1130712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270" b="0" spc="-36">
                <a:solidFill>
                  <a:srgbClr val="292D29"/>
                </a:solidFill>
                <a:latin typeface="Arial"/>
              </a:rPr>
              <a:t>Visual identity</a:t>
            </a:r>
          </a:p>
        </p:txBody>
      </p:sp>
      <p:sp>
        <p:nvSpPr>
          <p:cNvPr id="45" name="Editable text: Architectural proportions, generous spacing, a recognisable graph"/>
          <p:cNvSpPr txBox="1"/>
          <p:nvPr/>
        </p:nvSpPr>
        <p:spPr>
          <a:xfrm>
            <a:off x="9538335" y="3017691"/>
            <a:ext cx="4360402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Architectural proportions, generous spacing, a recognisable graphic system.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29575" y="3572732"/>
            <a:ext cx="5869162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Editable text: Photography"/>
          <p:cNvSpPr txBox="1"/>
          <p:nvPr/>
        </p:nvSpPr>
        <p:spPr>
          <a:xfrm>
            <a:off x="8029575" y="3693433"/>
            <a:ext cx="1053846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270" b="0" spc="-36">
                <a:solidFill>
                  <a:srgbClr val="292D29"/>
                </a:solidFill>
                <a:latin typeface="Arial"/>
              </a:rPr>
              <a:t>Photography</a:t>
            </a:r>
          </a:p>
        </p:txBody>
      </p:sp>
      <p:sp>
        <p:nvSpPr>
          <p:cNvPr id="48" name="Editable text: Real interactions, food, discovery and the changing atmosphere of"/>
          <p:cNvSpPr txBox="1"/>
          <p:nvPr/>
        </p:nvSpPr>
        <p:spPr>
          <a:xfrm>
            <a:off x="9538335" y="3712635"/>
            <a:ext cx="4360402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Real interactions, food, discovery and the changing atmosphere of the district.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29575" y="4267676"/>
            <a:ext cx="5869162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ditable text: Tone of voice"/>
          <p:cNvSpPr txBox="1"/>
          <p:nvPr/>
        </p:nvSpPr>
        <p:spPr>
          <a:xfrm>
            <a:off x="8029575" y="4388377"/>
            <a:ext cx="1094708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270" b="0" spc="-36">
                <a:solidFill>
                  <a:srgbClr val="292D29"/>
                </a:solidFill>
                <a:latin typeface="Arial"/>
              </a:rPr>
              <a:t>Tone of voice</a:t>
            </a:r>
          </a:p>
        </p:txBody>
      </p:sp>
      <p:sp>
        <p:nvSpPr>
          <p:cNvPr id="51" name="Editable text: Inviting and clear, with specific reasons to visit."/>
          <p:cNvSpPr txBox="1"/>
          <p:nvPr/>
        </p:nvSpPr>
        <p:spPr>
          <a:xfrm>
            <a:off x="9538335" y="4407579"/>
            <a:ext cx="3382851" cy="225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Inviting and clear, with specific reasons to visit.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29575" y="4807172"/>
            <a:ext cx="5869162" cy="0"/>
          </a:xfrm>
          <a:prstGeom prst="line">
            <a:avLst/>
          </a:prstGeom>
          <a:ln w="9144">
            <a:solidFill>
              <a:srgbClr val="B8C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ditable text: Service character"/>
          <p:cNvSpPr txBox="1"/>
          <p:nvPr/>
        </p:nvSpPr>
        <p:spPr>
          <a:xfrm>
            <a:off x="8029575" y="4927873"/>
            <a:ext cx="1389173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270" b="0" spc="-36">
                <a:solidFill>
                  <a:srgbClr val="292D29"/>
                </a:solidFill>
                <a:latin typeface="Arial"/>
              </a:rPr>
              <a:t>Service character</a:t>
            </a:r>
          </a:p>
        </p:txBody>
      </p:sp>
      <p:sp>
        <p:nvSpPr>
          <p:cNvPr id="54" name="Editable text: Approachable hospitality at arrival, information, family support "/>
          <p:cNvSpPr txBox="1"/>
          <p:nvPr/>
        </p:nvSpPr>
        <p:spPr>
          <a:xfrm>
            <a:off x="9538335" y="4947075"/>
            <a:ext cx="4417123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199" b="0">
                <a:solidFill>
                  <a:srgbClr val="292D29"/>
                </a:solidFill>
                <a:latin typeface="Arial"/>
              </a:rPr>
              <a:t>Approachable hospitality at arrival, information, family support and events.</a:t>
            </a:r>
          </a:p>
        </p:txBody>
      </p:sp>
      <p:sp>
        <p:nvSpPr>
          <p:cNvPr id="55" name="Editable text: EDITORIAL SERIF × CONTEMPORARY SANS"/>
          <p:cNvSpPr txBox="1"/>
          <p:nvPr/>
        </p:nvSpPr>
        <p:spPr>
          <a:xfrm>
            <a:off x="8029575" y="5712428"/>
            <a:ext cx="2421588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72">
                <a:solidFill>
                  <a:srgbClr val="292D29"/>
                </a:solidFill>
                <a:latin typeface="Arial"/>
              </a:rPr>
              <a:t>EDITORIAL SERIF × CONTEMPORARY SANS</a:t>
            </a:r>
          </a:p>
        </p:txBody>
      </p:sp>
      <p:sp>
        <p:nvSpPr>
          <p:cNvPr id="56" name="Editable text: Life comes together."/>
          <p:cNvSpPr txBox="1"/>
          <p:nvPr/>
        </p:nvSpPr>
        <p:spPr>
          <a:xfrm>
            <a:off x="8029575" y="5831300"/>
            <a:ext cx="586916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37"/>
              </a:lnSpc>
              <a:spcBef>
                <a:spcPts val="0"/>
              </a:spcBef>
              <a:spcAft>
                <a:spcPts val="0"/>
              </a:spcAft>
            </a:pPr>
            <a:r>
              <a:rPr sz="2707" b="0" spc="-108">
                <a:solidFill>
                  <a:srgbClr val="183D32"/>
                </a:solidFill>
                <a:latin typeface="Georgia"/>
              </a:rPr>
              <a:t>Life comes together.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59" name="Editable text: BRAND IDENTITY"/>
          <p:cNvSpPr txBox="1"/>
          <p:nvPr/>
        </p:nvSpPr>
        <p:spPr>
          <a:xfrm>
            <a:off x="12732305" y="309067"/>
            <a:ext cx="134945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BRAND IDENTITY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Editable text: BRAND IDENTITY"/>
          <p:cNvSpPr txBox="1"/>
          <p:nvPr/>
        </p:nvSpPr>
        <p:spPr>
          <a:xfrm>
            <a:off x="731520" y="7882127"/>
            <a:ext cx="113371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BRAND IDENTITY</a:t>
            </a:r>
          </a:p>
        </p:txBody>
      </p:sp>
      <p:sp>
        <p:nvSpPr>
          <p:cNvPr id="62" name="Editable text: SUPPLIED CONCEPT IMAGERY · NOT VERIFIED AS BUILT / 20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SUPPLIED CONCEPT IMAGERY · NOT VERIFIED AS BUILT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identity"/>
          <p:cNvSpPr txBox="1"/>
          <p:nvPr/>
        </p:nvSpPr>
        <p:spPr>
          <a:xfrm>
            <a:off x="731520" y="911656"/>
            <a:ext cx="155333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6D8767"/>
                </a:solidFill>
                <a:latin typeface="Arial"/>
              </a:rPr>
              <a:t>Brand identity</a:t>
            </a:r>
          </a:p>
        </p:txBody>
      </p:sp>
      <p:sp>
        <p:nvSpPr>
          <p:cNvPr id="3" name="Editable text: One destination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One destination.</a:t>
            </a:r>
          </a:p>
        </p:txBody>
      </p:sp>
      <p:sp>
        <p:nvSpPr>
          <p:cNvPr id="4" name="Editable text: A recognisable heart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183D32"/>
                </a:solidFill>
                <a:latin typeface="Georgia"/>
              </a:rPr>
              <a:t>A recognisable heart.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86348"/>
            <a:ext cx="8046720" cy="1315164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text: MASTER DESTINATION"/>
          <p:cNvSpPr txBox="1"/>
          <p:nvPr/>
        </p:nvSpPr>
        <p:spPr>
          <a:xfrm>
            <a:off x="4043648" y="2950025"/>
            <a:ext cx="160534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DCE4D5"/>
                </a:solidFill>
                <a:latin typeface="Arial"/>
              </a:rPr>
              <a:t>MASTER DESTINATION</a:t>
            </a:r>
          </a:p>
        </p:txBody>
      </p:sp>
      <p:sp>
        <p:nvSpPr>
          <p:cNvPr id="7" name="Editable text: [Selected Masterbrand]"/>
          <p:cNvSpPr txBox="1"/>
          <p:nvPr/>
        </p:nvSpPr>
        <p:spPr>
          <a:xfrm>
            <a:off x="2977800" y="3077127"/>
            <a:ext cx="7790688" cy="7123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4"/>
              </a:lnSpc>
              <a:spcBef>
                <a:spcPts val="0"/>
              </a:spcBef>
              <a:spcAft>
                <a:spcPts val="0"/>
              </a:spcAft>
            </a:pPr>
            <a:r>
              <a:rPr sz="2842" b="0" spc="-108">
                <a:solidFill>
                  <a:srgbClr val="F4F1E8"/>
                </a:solidFill>
                <a:latin typeface="Georgia"/>
              </a:rPr>
              <a:t>[Selected Masterbrand]</a:t>
            </a:r>
          </a:p>
        </p:txBody>
      </p:sp>
      <p:sp>
        <p:nvSpPr>
          <p:cNvPr id="8" name="Editable text: Batam’s Tropical Lifestyle District"/>
          <p:cNvSpPr txBox="1"/>
          <p:nvPr/>
        </p:nvSpPr>
        <p:spPr>
          <a:xfrm>
            <a:off x="3420856" y="3726608"/>
            <a:ext cx="2850784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Batam’s Tropical Lifestyle District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84392"/>
            <a:ext cx="8046720" cy="1040844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SIGNATURE GATHERING &amp; EVENT EXPERIENCE"/>
          <p:cNvSpPr txBox="1"/>
          <p:nvPr/>
        </p:nvSpPr>
        <p:spPr>
          <a:xfrm>
            <a:off x="3251835" y="4448070"/>
            <a:ext cx="318897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6D8767"/>
                </a:solidFill>
                <a:latin typeface="Arial"/>
              </a:rPr>
              <a:t>SIGNATURE GATHERING &amp; EVENT EXPERIENCE</a:t>
            </a:r>
          </a:p>
        </p:txBody>
      </p:sp>
      <p:sp>
        <p:nvSpPr>
          <p:cNvPr id="11" name="Editable text: The Veranda"/>
          <p:cNvSpPr txBox="1"/>
          <p:nvPr/>
        </p:nvSpPr>
        <p:spPr>
          <a:xfrm>
            <a:off x="3741467" y="4575171"/>
            <a:ext cx="7790688" cy="7123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4"/>
              </a:lnSpc>
              <a:spcBef>
                <a:spcPts val="0"/>
              </a:spcBef>
              <a:spcAft>
                <a:spcPts val="0"/>
              </a:spcAft>
            </a:pPr>
            <a:r>
              <a:rPr sz="2842" b="0" spc="-108">
                <a:solidFill>
                  <a:srgbClr val="292D29"/>
                </a:solidFill>
                <a:latin typeface="Georgia"/>
              </a:rPr>
              <a:t>The Veranda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508117"/>
            <a:ext cx="8046720" cy="795528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text: PROGRAMMING"/>
          <p:cNvSpPr txBox="1"/>
          <p:nvPr/>
        </p:nvSpPr>
        <p:spPr>
          <a:xfrm>
            <a:off x="4265104" y="5671794"/>
            <a:ext cx="1162288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6D8767"/>
                </a:solidFill>
                <a:latin typeface="Arial"/>
              </a:rPr>
              <a:t>PROGRAMMING</a:t>
            </a:r>
          </a:p>
        </p:txBody>
      </p:sp>
      <p:sp>
        <p:nvSpPr>
          <p:cNvPr id="14" name="Editable text: Veranda Sessions · Batam Table · The Weekend Edit · The Family So"/>
          <p:cNvSpPr txBox="1"/>
          <p:nvPr/>
        </p:nvSpPr>
        <p:spPr>
          <a:xfrm>
            <a:off x="1813941" y="5928741"/>
            <a:ext cx="6064615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292D29"/>
                </a:solidFill>
                <a:latin typeface="Arial"/>
              </a:rPr>
              <a:t>Veranda Sessions · Batam Table · The Weekend Edit · The Family Social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6486525"/>
            <a:ext cx="80467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able text: EXPERIENCE CATEGORIES"/>
          <p:cNvSpPr txBox="1"/>
          <p:nvPr/>
        </p:nvSpPr>
        <p:spPr>
          <a:xfrm>
            <a:off x="3907345" y="6659346"/>
            <a:ext cx="1877806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6D8767"/>
                </a:solidFill>
                <a:latin typeface="Arial"/>
              </a:rPr>
              <a:t>EXPERIENCE CATEGORIES</a:t>
            </a:r>
          </a:p>
        </p:txBody>
      </p:sp>
      <p:sp>
        <p:nvSpPr>
          <p:cNvPr id="17" name="Editable text: Eat · Shop · Play · Move · Stay · Explore · Unwind"/>
          <p:cNvSpPr txBox="1"/>
          <p:nvPr/>
        </p:nvSpPr>
        <p:spPr>
          <a:xfrm>
            <a:off x="2762773" y="6916293"/>
            <a:ext cx="4166949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292D29"/>
                </a:solidFill>
                <a:latin typeface="Arial"/>
              </a:rPr>
              <a:t>Eat · Shop · Play · Move · Stay · Explore · Unwind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09760" y="3474720"/>
            <a:ext cx="438912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itable text: APPLICATION EXAMPLES"/>
          <p:cNvSpPr txBox="1"/>
          <p:nvPr/>
        </p:nvSpPr>
        <p:spPr>
          <a:xfrm>
            <a:off x="9509760" y="3748125"/>
            <a:ext cx="1758219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6D8767"/>
                </a:solidFill>
                <a:latin typeface="Arial"/>
              </a:rPr>
              <a:t>APPLICATION EXAMPLES</a:t>
            </a:r>
          </a:p>
        </p:txBody>
      </p:sp>
      <p:sp>
        <p:nvSpPr>
          <p:cNvPr id="20" name="Editable text: The Veranda at [Masterbrand]"/>
          <p:cNvSpPr txBox="1"/>
          <p:nvPr/>
        </p:nvSpPr>
        <p:spPr>
          <a:xfrm>
            <a:off x="9509760" y="4115714"/>
            <a:ext cx="438912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183D32"/>
                </a:solidFill>
                <a:latin typeface="Georgia"/>
              </a:rPr>
              <a:t>The Veranda at [Masterbrand]</a:t>
            </a:r>
          </a:p>
        </p:txBody>
      </p:sp>
      <p:sp>
        <p:nvSpPr>
          <p:cNvPr id="21" name="Editable text: Batam Table at The Veranda"/>
          <p:cNvSpPr txBox="1"/>
          <p:nvPr/>
        </p:nvSpPr>
        <p:spPr>
          <a:xfrm>
            <a:off x="9509760" y="4746650"/>
            <a:ext cx="4389120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183D32"/>
                </a:solidFill>
                <a:latin typeface="Georgia"/>
              </a:rPr>
              <a:t>Batam Table at The Veranda</a:t>
            </a:r>
          </a:p>
        </p:txBody>
      </p:sp>
      <p:sp>
        <p:nvSpPr>
          <p:cNvPr id="22" name="Editable text: Discover what’s on at [Masterbrand]"/>
          <p:cNvSpPr txBox="1"/>
          <p:nvPr/>
        </p:nvSpPr>
        <p:spPr>
          <a:xfrm>
            <a:off x="9509760" y="5377586"/>
            <a:ext cx="4414123" cy="4942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5"/>
              </a:lnSpc>
              <a:spcBef>
                <a:spcPts val="0"/>
              </a:spcBef>
              <a:spcAft>
                <a:spcPts val="0"/>
              </a:spcAft>
            </a:pPr>
            <a:r>
              <a:rPr sz="1962" b="0">
                <a:solidFill>
                  <a:srgbClr val="183D32"/>
                </a:solidFill>
                <a:latin typeface="Georgia"/>
              </a:rPr>
              <a:t>Discover what’s on at [Masterbrand]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5" name="Editable text: BRAND IDENTITY"/>
          <p:cNvSpPr txBox="1"/>
          <p:nvPr/>
        </p:nvSpPr>
        <p:spPr>
          <a:xfrm>
            <a:off x="12732305" y="309067"/>
            <a:ext cx="134945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292D29"/>
                </a:solidFill>
                <a:latin typeface="Arial"/>
              </a:rPr>
              <a:t>BRAND IDENTITY</a:t>
            </a:r>
          </a:p>
        </p:txBody>
      </p:sp>
      <p:sp>
        <p:nvSpPr>
          <p:cNvPr id="26" name="Editable text: Masterbrand remains unselected. The Veranda names the central gat"/>
          <p:cNvSpPr txBox="1"/>
          <p:nvPr/>
        </p:nvSpPr>
        <p:spPr>
          <a:xfrm>
            <a:off x="731520" y="7338174"/>
            <a:ext cx="672469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292D29"/>
                </a:solidFill>
                <a:latin typeface="Arial"/>
              </a:rPr>
              <a:t>Masterbrand remains unselected. The Veranda names the central gathering and event experience, not the whole destination.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292D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text: BRAND IDENTITY"/>
          <p:cNvSpPr txBox="1"/>
          <p:nvPr/>
        </p:nvSpPr>
        <p:spPr>
          <a:xfrm>
            <a:off x="731520" y="7882127"/>
            <a:ext cx="113371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BRAND IDENTITY</a:t>
            </a:r>
          </a:p>
        </p:txBody>
      </p:sp>
      <p:sp>
        <p:nvSpPr>
          <p:cNvPr id="29" name="Editable text: STRATEGIC PROPOSAL / 21"/>
          <p:cNvSpPr txBox="1"/>
          <p:nvPr/>
        </p:nvSpPr>
        <p:spPr>
          <a:xfrm>
            <a:off x="12220098" y="7882127"/>
            <a:ext cx="186166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292D29"/>
                </a:solidFill>
                <a:latin typeface="Arial"/>
              </a:rPr>
              <a:t>STRATEGIC PROPOSAL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identity"/>
          <p:cNvSpPr txBox="1"/>
          <p:nvPr/>
        </p:nvSpPr>
        <p:spPr>
          <a:xfrm>
            <a:off x="731520" y="911656"/>
            <a:ext cx="155333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DCE4D5"/>
                </a:solidFill>
                <a:latin typeface="Arial"/>
              </a:rPr>
              <a:t>Brand identity</a:t>
            </a:r>
          </a:p>
        </p:txBody>
      </p:sp>
      <p:sp>
        <p:nvSpPr>
          <p:cNvPr id="3" name="Editable text: A name with the"/>
          <p:cNvSpPr txBox="1"/>
          <p:nvPr/>
        </p:nvSpPr>
        <p:spPr>
          <a:xfrm>
            <a:off x="731520" y="1053388"/>
            <a:ext cx="6309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F4F1E8"/>
                </a:solidFill>
                <a:latin typeface="Georgia"/>
              </a:rPr>
              <a:t>A name with the</a:t>
            </a:r>
          </a:p>
        </p:txBody>
      </p:sp>
      <p:sp>
        <p:nvSpPr>
          <p:cNvPr id="4" name="Editable text: presence of a destination."/>
          <p:cNvSpPr txBox="1"/>
          <p:nvPr/>
        </p:nvSpPr>
        <p:spPr>
          <a:xfrm>
            <a:off x="731520" y="1687610"/>
            <a:ext cx="6309360" cy="1800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F4F1E8"/>
                </a:solidFill>
                <a:latin typeface="Georgia"/>
              </a:rPr>
              <a:t>presence of a destination.</a:t>
            </a:r>
          </a:p>
        </p:txBody>
      </p:sp>
      <p:sp>
        <p:nvSpPr>
          <p:cNvPr id="5" name="Editable text: Established enough for hospitality and regional appeal. Welcoming"/>
          <p:cNvSpPr txBox="1"/>
          <p:nvPr/>
        </p:nvSpPr>
        <p:spPr>
          <a:xfrm>
            <a:off x="731520" y="3380336"/>
            <a:ext cx="5502259" cy="6473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Established enough for hospitality and regional appeal. Welcoming enough for everyday life.</a:t>
            </a:r>
          </a:p>
        </p:txBody>
      </p:sp>
      <p:sp>
        <p:nvSpPr>
          <p:cNvPr id="6" name="Editable text: A place."/>
          <p:cNvSpPr txBox="1"/>
          <p:nvPr/>
        </p:nvSpPr>
        <p:spPr>
          <a:xfrm>
            <a:off x="731520" y="4258160"/>
            <a:ext cx="6309360" cy="10954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8"/>
              </a:lnSpc>
              <a:spcBef>
                <a:spcPts val="0"/>
              </a:spcBef>
              <a:spcAft>
                <a:spcPts val="0"/>
              </a:spcAft>
            </a:pPr>
            <a:r>
              <a:rPr sz="4331" b="0">
                <a:solidFill>
                  <a:srgbClr val="DCE4D5"/>
                </a:solidFill>
                <a:latin typeface="Georgia"/>
              </a:rPr>
              <a:t>A place.</a:t>
            </a:r>
          </a:p>
        </p:txBody>
      </p:sp>
      <p:sp>
        <p:nvSpPr>
          <p:cNvPr id="7" name="Editable text: A presence."/>
          <p:cNvSpPr txBox="1"/>
          <p:nvPr/>
        </p:nvSpPr>
        <p:spPr>
          <a:xfrm>
            <a:off x="731520" y="4901812"/>
            <a:ext cx="6309360" cy="10954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8"/>
              </a:lnSpc>
              <a:spcBef>
                <a:spcPts val="0"/>
              </a:spcBef>
              <a:spcAft>
                <a:spcPts val="0"/>
              </a:spcAft>
            </a:pPr>
            <a:r>
              <a:rPr sz="4331" b="0">
                <a:solidFill>
                  <a:srgbClr val="DCE4D5"/>
                </a:solidFill>
                <a:latin typeface="Georgia"/>
              </a:rPr>
              <a:t>A presence.</a:t>
            </a:r>
          </a:p>
        </p:txBody>
      </p:sp>
      <p:sp>
        <p:nvSpPr>
          <p:cNvPr id="8" name="Editable text: A belonging."/>
          <p:cNvSpPr txBox="1"/>
          <p:nvPr/>
        </p:nvSpPr>
        <p:spPr>
          <a:xfrm>
            <a:off x="731520" y="5545464"/>
            <a:ext cx="6309360" cy="10954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8"/>
              </a:lnSpc>
              <a:spcBef>
                <a:spcPts val="0"/>
              </a:spcBef>
              <a:spcAft>
                <a:spcPts val="0"/>
              </a:spcAft>
            </a:pPr>
            <a:r>
              <a:rPr sz="4331" b="0">
                <a:solidFill>
                  <a:srgbClr val="DCE4D5"/>
                </a:solidFill>
                <a:latin typeface="Georgia"/>
              </a:rPr>
              <a:t>A belonging.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1280160"/>
            <a:ext cx="548640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ditable text: 01"/>
          <p:cNvSpPr txBox="1"/>
          <p:nvPr/>
        </p:nvSpPr>
        <p:spPr>
          <a:xfrm>
            <a:off x="8412480" y="1496872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01</a:t>
            </a:r>
          </a:p>
        </p:txBody>
      </p:sp>
      <p:sp>
        <p:nvSpPr>
          <p:cNvPr id="11" name="Editable text: Broad enough"/>
          <p:cNvSpPr txBox="1"/>
          <p:nvPr/>
        </p:nvSpPr>
        <p:spPr>
          <a:xfrm>
            <a:off x="8800814" y="1494129"/>
            <a:ext cx="1618488" cy="344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834" b="0" spc="-36">
                <a:solidFill>
                  <a:srgbClr val="F4F1E8"/>
                </a:solidFill>
                <a:latin typeface="Arial"/>
              </a:rPr>
              <a:t>Broad enough</a:t>
            </a:r>
          </a:p>
        </p:txBody>
      </p:sp>
      <p:sp>
        <p:nvSpPr>
          <p:cNvPr id="12" name="Editable text: Represent the entire district."/>
          <p:cNvSpPr txBox="1"/>
          <p:nvPr/>
        </p:nvSpPr>
        <p:spPr>
          <a:xfrm>
            <a:off x="8800814" y="1920240"/>
            <a:ext cx="245887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Represent the entire district.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2377440"/>
            <a:ext cx="548640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 text: 02"/>
          <p:cNvSpPr txBox="1"/>
          <p:nvPr/>
        </p:nvSpPr>
        <p:spPr>
          <a:xfrm>
            <a:off x="8412480" y="2594152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02</a:t>
            </a:r>
          </a:p>
        </p:txBody>
      </p:sp>
      <p:sp>
        <p:nvSpPr>
          <p:cNvPr id="15" name="Editable text: Memorable"/>
          <p:cNvSpPr txBox="1"/>
          <p:nvPr/>
        </p:nvSpPr>
        <p:spPr>
          <a:xfrm>
            <a:off x="8800814" y="2591409"/>
            <a:ext cx="1329880" cy="344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834" b="0" spc="-36">
                <a:solidFill>
                  <a:srgbClr val="F4F1E8"/>
                </a:solidFill>
                <a:latin typeface="Arial"/>
              </a:rPr>
              <a:t>Memorable</a:t>
            </a:r>
          </a:p>
        </p:txBody>
      </p:sp>
      <p:sp>
        <p:nvSpPr>
          <p:cNvPr id="16" name="Editable text: Easy to speak and write."/>
          <p:cNvSpPr txBox="1"/>
          <p:nvPr/>
        </p:nvSpPr>
        <p:spPr>
          <a:xfrm>
            <a:off x="8800814" y="3017520"/>
            <a:ext cx="2159555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Easy to speak and write.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3474720"/>
            <a:ext cx="548640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itable text: 03"/>
          <p:cNvSpPr txBox="1"/>
          <p:nvPr/>
        </p:nvSpPr>
        <p:spPr>
          <a:xfrm>
            <a:off x="8412480" y="3691432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03</a:t>
            </a:r>
          </a:p>
        </p:txBody>
      </p:sp>
      <p:sp>
        <p:nvSpPr>
          <p:cNvPr id="19" name="Editable text: Locally &amp; regionally relevant"/>
          <p:cNvSpPr txBox="1"/>
          <p:nvPr/>
        </p:nvSpPr>
        <p:spPr>
          <a:xfrm>
            <a:off x="8800814" y="3688689"/>
            <a:ext cx="2993802" cy="344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834" b="0" spc="-36">
                <a:solidFill>
                  <a:srgbClr val="F4F1E8"/>
                </a:solidFill>
                <a:latin typeface="Arial"/>
              </a:rPr>
              <a:t>Locally &amp; regionally relevant</a:t>
            </a:r>
          </a:p>
        </p:txBody>
      </p:sp>
      <p:sp>
        <p:nvSpPr>
          <p:cNvPr id="20" name="Editable text: Work across local and regional communication."/>
          <p:cNvSpPr txBox="1"/>
          <p:nvPr/>
        </p:nvSpPr>
        <p:spPr>
          <a:xfrm>
            <a:off x="8800814" y="4114800"/>
            <a:ext cx="4009215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Work across local and regional communication.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4572000"/>
            <a:ext cx="548640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 text: 04"/>
          <p:cNvSpPr txBox="1"/>
          <p:nvPr/>
        </p:nvSpPr>
        <p:spPr>
          <a:xfrm>
            <a:off x="8412480" y="4788712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04</a:t>
            </a:r>
          </a:p>
        </p:txBody>
      </p:sp>
      <p:sp>
        <p:nvSpPr>
          <p:cNvPr id="23" name="Editable text: Flexible"/>
          <p:cNvSpPr txBox="1"/>
          <p:nvPr/>
        </p:nvSpPr>
        <p:spPr>
          <a:xfrm>
            <a:off x="8800814" y="4785969"/>
            <a:ext cx="955833" cy="344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834" b="0" spc="-36">
                <a:solidFill>
                  <a:srgbClr val="F4F1E8"/>
                </a:solidFill>
                <a:latin typeface="Arial"/>
              </a:rPr>
              <a:t>Flexible</a:t>
            </a:r>
          </a:p>
        </p:txBody>
      </p:sp>
      <p:sp>
        <p:nvSpPr>
          <p:cNvPr id="24" name="Editable text: Span retail, dining, events and hospitality."/>
          <p:cNvSpPr txBox="1"/>
          <p:nvPr/>
        </p:nvSpPr>
        <p:spPr>
          <a:xfrm>
            <a:off x="8800814" y="5212080"/>
            <a:ext cx="3530584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Span retail, dining, events and hospitality.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0" y="5669280"/>
            <a:ext cx="548640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itable text: 05"/>
          <p:cNvSpPr txBox="1"/>
          <p:nvPr/>
        </p:nvSpPr>
        <p:spPr>
          <a:xfrm>
            <a:off x="8412480" y="5885992"/>
            <a:ext cx="31518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DCE4D5"/>
                </a:solidFill>
                <a:latin typeface="Arial"/>
              </a:rPr>
              <a:t>05</a:t>
            </a:r>
          </a:p>
        </p:txBody>
      </p:sp>
      <p:sp>
        <p:nvSpPr>
          <p:cNvPr id="27" name="Editable text: Distinctive"/>
          <p:cNvSpPr txBox="1"/>
          <p:nvPr/>
        </p:nvSpPr>
        <p:spPr>
          <a:xfrm>
            <a:off x="8800814" y="5883249"/>
            <a:ext cx="1209579" cy="344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834" b="0" spc="-36">
                <a:solidFill>
                  <a:srgbClr val="F4F1E8"/>
                </a:solidFill>
                <a:latin typeface="Arial"/>
              </a:rPr>
              <a:t>Distinctive</a:t>
            </a:r>
          </a:p>
        </p:txBody>
      </p:sp>
      <p:sp>
        <p:nvSpPr>
          <p:cNvPr id="28" name="Editable text: Support a recognisable identity."/>
          <p:cNvSpPr txBox="1"/>
          <p:nvPr/>
        </p:nvSpPr>
        <p:spPr>
          <a:xfrm>
            <a:off x="8800814" y="6309360"/>
            <a:ext cx="2737913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Support a recognisable identity.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31" name="Editable text: BRAND IDENTITY"/>
          <p:cNvSpPr txBox="1"/>
          <p:nvPr/>
        </p:nvSpPr>
        <p:spPr>
          <a:xfrm>
            <a:off x="12732305" y="309067"/>
            <a:ext cx="134945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BRAND IDENTITY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ditable text: BRAND IDENTITY"/>
          <p:cNvSpPr txBox="1"/>
          <p:nvPr/>
        </p:nvSpPr>
        <p:spPr>
          <a:xfrm>
            <a:off x="731520" y="7882127"/>
            <a:ext cx="113371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BRAND IDENTITY</a:t>
            </a:r>
          </a:p>
        </p:txBody>
      </p:sp>
      <p:sp>
        <p:nvSpPr>
          <p:cNvPr id="34" name="Editable text: STRATEGIC PROPOSAL / 22"/>
          <p:cNvSpPr txBox="1"/>
          <p:nvPr/>
        </p:nvSpPr>
        <p:spPr>
          <a:xfrm>
            <a:off x="12220098" y="7882127"/>
            <a:ext cx="186166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STRATEGIC PROPOSAL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identity"/>
          <p:cNvSpPr txBox="1"/>
          <p:nvPr/>
        </p:nvSpPr>
        <p:spPr>
          <a:xfrm>
            <a:off x="731520" y="911656"/>
            <a:ext cx="155333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DCE4D5"/>
                </a:solidFill>
                <a:latin typeface="Arial"/>
              </a:rPr>
              <a:t>Brand identity</a:t>
            </a:r>
          </a:p>
        </p:txBody>
      </p:sp>
      <p:sp>
        <p:nvSpPr>
          <p:cNvPr id="3" name="Editable text: Four routes."/>
          <p:cNvSpPr txBox="1"/>
          <p:nvPr/>
        </p:nvSpPr>
        <p:spPr>
          <a:xfrm>
            <a:off x="731520" y="1053388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F4F1E8"/>
                </a:solidFill>
                <a:latin typeface="Georgia"/>
              </a:rPr>
              <a:t>Four routes.</a:t>
            </a:r>
          </a:p>
        </p:txBody>
      </p:sp>
      <p:sp>
        <p:nvSpPr>
          <p:cNvPr id="4" name="Editable text: One shared ambition."/>
          <p:cNvSpPr txBox="1"/>
          <p:nvPr/>
        </p:nvSpPr>
        <p:spPr>
          <a:xfrm>
            <a:off x="731520" y="1687610"/>
            <a:ext cx="13167360" cy="11667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3"/>
              </a:lnSpc>
              <a:spcBef>
                <a:spcPts val="0"/>
              </a:spcBef>
              <a:spcAft>
                <a:spcPts val="0"/>
              </a:spcAft>
            </a:pPr>
            <a:r>
              <a:rPr sz="4602" b="0" spc="-108">
                <a:solidFill>
                  <a:srgbClr val="F4F1E8"/>
                </a:solidFill>
                <a:latin typeface="Georgia"/>
              </a:rPr>
              <a:t>One shared ambition.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877788"/>
            <a:ext cx="637794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ditable text: ROUTE 01"/>
          <p:cNvSpPr txBox="1"/>
          <p:nvPr/>
        </p:nvSpPr>
        <p:spPr>
          <a:xfrm>
            <a:off x="731520" y="3151193"/>
            <a:ext cx="816959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DCE4D5"/>
                </a:solidFill>
                <a:latin typeface="Arial"/>
              </a:rPr>
              <a:t>ROUTE 01</a:t>
            </a:r>
          </a:p>
        </p:txBody>
      </p:sp>
      <p:sp>
        <p:nvSpPr>
          <p:cNvPr id="7" name="Editable text: Canopy Quarter"/>
          <p:cNvSpPr txBox="1"/>
          <p:nvPr/>
        </p:nvSpPr>
        <p:spPr>
          <a:xfrm>
            <a:off x="731520" y="3353276"/>
            <a:ext cx="6377940" cy="8549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383" b="0" spc="-108">
                <a:solidFill>
                  <a:srgbClr val="F4F1E8"/>
                </a:solidFill>
                <a:latin typeface="Georgia"/>
              </a:rPr>
              <a:t>Canopy Quarter</a:t>
            </a:r>
          </a:p>
        </p:txBody>
      </p:sp>
      <p:sp>
        <p:nvSpPr>
          <p:cNvPr id="8" name="Editable text: Tropical architecture and destination presence."/>
          <p:cNvSpPr txBox="1"/>
          <p:nvPr/>
        </p:nvSpPr>
        <p:spPr>
          <a:xfrm>
            <a:off x="731520" y="4130516"/>
            <a:ext cx="395263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Tropical architecture and destination presence.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20940" y="2877788"/>
            <a:ext cx="637794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ditable text: ROUTE 02"/>
          <p:cNvSpPr txBox="1"/>
          <p:nvPr/>
        </p:nvSpPr>
        <p:spPr>
          <a:xfrm>
            <a:off x="7520940" y="3151193"/>
            <a:ext cx="816959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DCE4D5"/>
                </a:solidFill>
                <a:latin typeface="Arial"/>
              </a:rPr>
              <a:t>ROUTE 02</a:t>
            </a:r>
          </a:p>
        </p:txBody>
      </p:sp>
      <p:sp>
        <p:nvSpPr>
          <p:cNvPr id="11" name="Editable text: Garden Quarter"/>
          <p:cNvSpPr txBox="1"/>
          <p:nvPr/>
        </p:nvSpPr>
        <p:spPr>
          <a:xfrm>
            <a:off x="7520940" y="3353276"/>
            <a:ext cx="6377940" cy="8549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383" b="0" spc="-108">
                <a:solidFill>
                  <a:srgbClr val="F4F1E8"/>
                </a:solidFill>
                <a:latin typeface="Georgia"/>
              </a:rPr>
              <a:t>Garden Quarter</a:t>
            </a:r>
          </a:p>
        </p:txBody>
      </p:sp>
      <p:sp>
        <p:nvSpPr>
          <p:cNvPr id="12" name="Editable text: Landscape, hospitality and relaxed lifestyle."/>
          <p:cNvSpPr txBox="1"/>
          <p:nvPr/>
        </p:nvSpPr>
        <p:spPr>
          <a:xfrm>
            <a:off x="7520940" y="4130516"/>
            <a:ext cx="3700891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Landscape, hospitality and relaxed lifestyle.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999196"/>
            <a:ext cx="637794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 text: ROUTE 03"/>
          <p:cNvSpPr txBox="1"/>
          <p:nvPr/>
        </p:nvSpPr>
        <p:spPr>
          <a:xfrm>
            <a:off x="731520" y="5272601"/>
            <a:ext cx="816959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DCE4D5"/>
                </a:solidFill>
                <a:latin typeface="Arial"/>
              </a:rPr>
              <a:t>ROUTE 03</a:t>
            </a:r>
          </a:p>
        </p:txBody>
      </p:sp>
      <p:sp>
        <p:nvSpPr>
          <p:cNvPr id="15" name="Editable text: The Courtyard"/>
          <p:cNvSpPr txBox="1"/>
          <p:nvPr/>
        </p:nvSpPr>
        <p:spPr>
          <a:xfrm>
            <a:off x="731520" y="5474684"/>
            <a:ext cx="6377940" cy="8549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383" b="0" spc="-108">
                <a:solidFill>
                  <a:srgbClr val="F4F1E8"/>
                </a:solidFill>
                <a:latin typeface="Georgia"/>
              </a:rPr>
              <a:t>The Courtyard</a:t>
            </a:r>
          </a:p>
        </p:txBody>
      </p:sp>
      <p:sp>
        <p:nvSpPr>
          <p:cNvPr id="16" name="Editable text: A central place for dining, community and social interaction."/>
          <p:cNvSpPr txBox="1"/>
          <p:nvPr/>
        </p:nvSpPr>
        <p:spPr>
          <a:xfrm>
            <a:off x="731520" y="6251924"/>
            <a:ext cx="4997624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F4F1E8"/>
                </a:solidFill>
                <a:latin typeface="Arial"/>
              </a:rPr>
              <a:t>A central place for dining, community and social interaction.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0940" y="4999196"/>
            <a:ext cx="6377940" cy="2185416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text: ROUTE 04 / CREATIVE RECOMMENDATION"/>
          <p:cNvSpPr txBox="1"/>
          <p:nvPr/>
        </p:nvSpPr>
        <p:spPr>
          <a:xfrm>
            <a:off x="7795260" y="5263457"/>
            <a:ext cx="284792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44">
                <a:solidFill>
                  <a:srgbClr val="183D32"/>
                </a:solidFill>
                <a:latin typeface="Arial"/>
              </a:rPr>
              <a:t>ROUTE 04 / CREATIVE RECOMMENDATION</a:t>
            </a:r>
          </a:p>
        </p:txBody>
      </p:sp>
      <p:sp>
        <p:nvSpPr>
          <p:cNvPr id="19" name="Editable text: Batam Commons"/>
          <p:cNvSpPr txBox="1"/>
          <p:nvPr/>
        </p:nvSpPr>
        <p:spPr>
          <a:xfrm>
            <a:off x="7795260" y="5465540"/>
            <a:ext cx="5829300" cy="8549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383" b="0" spc="-108">
                <a:solidFill>
                  <a:srgbClr val="183D32"/>
                </a:solidFill>
                <a:latin typeface="Georgia"/>
              </a:rPr>
              <a:t>Batam Commons</a:t>
            </a:r>
          </a:p>
        </p:txBody>
      </p:sp>
      <p:sp>
        <p:nvSpPr>
          <p:cNvPr id="20" name="Editable text: City belonging and shared experiences."/>
          <p:cNvSpPr txBox="1"/>
          <p:nvPr/>
        </p:nvSpPr>
        <p:spPr>
          <a:xfrm>
            <a:off x="7795260" y="6242780"/>
            <a:ext cx="338885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11" b="0">
                <a:solidFill>
                  <a:srgbClr val="183D32"/>
                </a:solidFill>
                <a:latin typeface="Arial"/>
              </a:rPr>
              <a:t>City belonging and shared experiences.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95260" y="6654260"/>
            <a:ext cx="5829300" cy="0"/>
          </a:xfrm>
          <a:prstGeom prst="line">
            <a:avLst/>
          </a:prstGeom>
          <a:ln w="9144">
            <a:solidFill>
              <a:srgbClr val="6D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 text: Belonging to Batam. Open to everyone."/>
          <p:cNvSpPr txBox="1"/>
          <p:nvPr/>
        </p:nvSpPr>
        <p:spPr>
          <a:xfrm>
            <a:off x="7795260" y="6776789"/>
            <a:ext cx="273034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Belonging to Batam. Open to everyone.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25" name="Editable text: BRAND IDENTITY"/>
          <p:cNvSpPr txBox="1"/>
          <p:nvPr/>
        </p:nvSpPr>
        <p:spPr>
          <a:xfrm>
            <a:off x="12732305" y="309067"/>
            <a:ext cx="134945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BRAND IDENTITY</a:t>
            </a:r>
          </a:p>
        </p:txBody>
      </p:sp>
      <p:sp>
        <p:nvSpPr>
          <p:cNvPr id="26" name="Editable text: Creative recommendation from the brief, not an approved final nam"/>
          <p:cNvSpPr txBox="1"/>
          <p:nvPr/>
        </p:nvSpPr>
        <p:spPr>
          <a:xfrm>
            <a:off x="731520" y="7338174"/>
            <a:ext cx="6706409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17" b="0">
                <a:solidFill>
                  <a:srgbClr val="F4F1E8"/>
                </a:solidFill>
                <a:latin typeface="Arial"/>
              </a:rPr>
              <a:t>Creative recommendation from the brief, not an approved final name. Availability, legal and linguistic checks remain required.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text: BRAND IDENTITY"/>
          <p:cNvSpPr txBox="1"/>
          <p:nvPr/>
        </p:nvSpPr>
        <p:spPr>
          <a:xfrm>
            <a:off x="731520" y="7882127"/>
            <a:ext cx="113371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BRAND IDENTITY</a:t>
            </a:r>
          </a:p>
        </p:txBody>
      </p:sp>
      <p:sp>
        <p:nvSpPr>
          <p:cNvPr id="29" name="Editable text: STRATEGIC PROPOSAL / 23"/>
          <p:cNvSpPr txBox="1"/>
          <p:nvPr/>
        </p:nvSpPr>
        <p:spPr>
          <a:xfrm>
            <a:off x="12220098" y="7882127"/>
            <a:ext cx="186166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STRATEGIC PROPOSAL /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placeable photo: slide-10-night.jpg" descr="slide-10-night.jpg"/>
          <p:cNvPicPr>
            <a:picLocks noChangeAspect="1"/>
          </p:cNvPicPr>
          <p:nvPr/>
        </p:nvPicPr>
        <p:blipFill>
          <a:blip r:embed="rId2"/>
          <a:srcRect l="27" r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  <a:gradFill>
            <a:gsLst>
              <a:gs pos="0">
                <a:srgbClr val="0A2019">
                  <a:alpha val="90000"/>
                </a:srgbClr>
              </a:gs>
              <a:gs pos="100000">
                <a:srgbClr val="0A2019">
                  <a:alpha val="1200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text: KALINDO PROJECT"/>
          <p:cNvSpPr txBox="1"/>
          <p:nvPr/>
        </p:nvSpPr>
        <p:spPr>
          <a:xfrm>
            <a:off x="822960" y="2328976"/>
            <a:ext cx="169406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216">
                <a:solidFill>
                  <a:srgbClr val="DCE4D5"/>
                </a:solidFill>
                <a:latin typeface="Arial"/>
              </a:rPr>
              <a:t>KALINDO PROJECT</a:t>
            </a:r>
          </a:p>
        </p:txBody>
      </p:sp>
      <p:sp>
        <p:nvSpPr>
          <p:cNvPr id="5" name="Editable text: Life comes together."/>
          <p:cNvSpPr txBox="1"/>
          <p:nvPr/>
        </p:nvSpPr>
        <p:spPr>
          <a:xfrm>
            <a:off x="822960" y="2374696"/>
            <a:ext cx="8221170" cy="1758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64"/>
              </a:lnSpc>
              <a:spcBef>
                <a:spcPts val="0"/>
              </a:spcBef>
              <a:spcAft>
                <a:spcPts val="0"/>
              </a:spcAft>
            </a:pPr>
            <a:r>
              <a:rPr sz="6971" b="0" spc="-108">
                <a:solidFill>
                  <a:srgbClr val="F4F1E8"/>
                </a:solidFill>
                <a:latin typeface="Georgia"/>
              </a:rPr>
              <a:t>Life comes together.</a:t>
            </a:r>
          </a:p>
        </p:txBody>
      </p:sp>
      <p:sp>
        <p:nvSpPr>
          <p:cNvPr id="6" name="Editable text: Across the district."/>
          <p:cNvSpPr txBox="1"/>
          <p:nvPr/>
        </p:nvSpPr>
        <p:spPr>
          <a:xfrm>
            <a:off x="822960" y="3335245"/>
            <a:ext cx="8038290" cy="1758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64"/>
              </a:lnSpc>
              <a:spcBef>
                <a:spcPts val="0"/>
              </a:spcBef>
              <a:spcAft>
                <a:spcPts val="0"/>
              </a:spcAft>
            </a:pPr>
            <a:r>
              <a:rPr sz="6971" b="0" spc="-108">
                <a:solidFill>
                  <a:srgbClr val="F4F1E8"/>
                </a:solidFill>
                <a:latin typeface="Georgia"/>
              </a:rPr>
              <a:t>Across the district.</a:t>
            </a:r>
          </a:p>
        </p:txBody>
      </p:sp>
      <p:sp>
        <p:nvSpPr>
          <p:cNvPr id="7" name="Editable text: One Place. Many Ways to Spend the Day."/>
          <p:cNvSpPr txBox="1"/>
          <p:nvPr/>
        </p:nvSpPr>
        <p:spPr>
          <a:xfrm>
            <a:off x="822960" y="4933130"/>
            <a:ext cx="4573428" cy="344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sz="1834" b="0">
                <a:solidFill>
                  <a:srgbClr val="F4F1E8"/>
                </a:solidFill>
                <a:latin typeface="Arial"/>
              </a:rPr>
              <a:t>One Place. Many Ways to Spend the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594360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itable text: KALINDO / DESTINATION IDENTITY"/>
          <p:cNvSpPr txBox="1"/>
          <p:nvPr/>
        </p:nvSpPr>
        <p:spPr>
          <a:xfrm>
            <a:off x="731520" y="309067"/>
            <a:ext cx="254617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KALINDO / DESTINATION IDENTITY</a:t>
            </a:r>
          </a:p>
        </p:txBody>
      </p:sp>
      <p:sp>
        <p:nvSpPr>
          <p:cNvPr id="10" name="Editable text: BRAND IDENTITY"/>
          <p:cNvSpPr txBox="1"/>
          <p:nvPr/>
        </p:nvSpPr>
        <p:spPr>
          <a:xfrm>
            <a:off x="12732305" y="309067"/>
            <a:ext cx="1349454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F4F1E8"/>
                </a:solidFill>
                <a:latin typeface="Arial"/>
              </a:rPr>
              <a:t>BRAND IDENTITY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itable text: CONCEPT, BRAND POSITIONING &amp; DESTINATION NAMING"/>
          <p:cNvSpPr txBox="1"/>
          <p:nvPr/>
        </p:nvSpPr>
        <p:spPr>
          <a:xfrm>
            <a:off x="731520" y="7882127"/>
            <a:ext cx="335056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CONCEPT, BRAND POSITIONING &amp; DESTINATION NAMING</a:t>
            </a:r>
          </a:p>
        </p:txBody>
      </p:sp>
      <p:sp>
        <p:nvSpPr>
          <p:cNvPr id="13" name="Editable text: SUPPLIED CONCEPT IMAGERY · NOT VERIFIED AS BUILT / 24"/>
          <p:cNvSpPr txBox="1"/>
          <p:nvPr/>
        </p:nvSpPr>
        <p:spPr>
          <a:xfrm>
            <a:off x="10351722" y="7882127"/>
            <a:ext cx="373003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108">
                <a:solidFill>
                  <a:srgbClr val="F4F1E8"/>
                </a:solidFill>
                <a:latin typeface="Arial"/>
              </a:rPr>
              <a:t>SUPPLIED CONCEPT IMAGERY · NOT VERIFIED AS BUILT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KALINDO — Editable Destination Concept &amp; Identity</dc:title>
  <dc:subject/>
  <dc:creator>KALINDO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